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94" r:id="rId16"/>
    <p:sldId id="296" r:id="rId17"/>
    <p:sldId id="297" r:id="rId18"/>
    <p:sldId id="298" r:id="rId19"/>
    <p:sldId id="295" r:id="rId20"/>
    <p:sldId id="299" r:id="rId21"/>
    <p:sldId id="300" r:id="rId22"/>
    <p:sldId id="301" r:id="rId23"/>
    <p:sldId id="302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93" r:id="rId41"/>
    <p:sldId id="286" r:id="rId42"/>
    <p:sldId id="287" r:id="rId43"/>
    <p:sldId id="288" r:id="rId44"/>
    <p:sldId id="289" r:id="rId45"/>
    <p:sldId id="290" r:id="rId46"/>
    <p:sldId id="291" r:id="rId47"/>
    <p:sldId id="292" r:id="rId48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1056" y="6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D15B04-83D8-4714-968A-8F22E7B8B090}" type="datetimeFigureOut">
              <a:rPr lang="es-CO" smtClean="0"/>
              <a:t>4/10/2025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B79959-887F-45B2-97AA-364E12A5B0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9938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438" y="237529"/>
            <a:ext cx="6318884" cy="697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29" y="0"/>
            <a:ext cx="9135540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9834" y="605011"/>
            <a:ext cx="8544330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17365D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1367" y="1488721"/>
            <a:ext cx="8201265" cy="2416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esearchgate.net/figure/Calculation-of-Precision-Recall-and-Accuracy-in-the-confusion-matrix_fig3_336402347" TargetMode="External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3.jpg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7" Type="http://schemas.openxmlformats.org/officeDocument/2006/relationships/image" Target="../media/image56.jpg"/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jpg"/><Relationship Id="rId5" Type="http://schemas.openxmlformats.org/officeDocument/2006/relationships/image" Target="../media/image54.jpg"/><Relationship Id="rId4" Type="http://schemas.openxmlformats.org/officeDocument/2006/relationships/image" Target="../media/image53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jpg"/><Relationship Id="rId3" Type="http://schemas.openxmlformats.org/officeDocument/2006/relationships/image" Target="../media/image59.jpg"/><Relationship Id="rId7" Type="http://schemas.openxmlformats.org/officeDocument/2006/relationships/image" Target="../media/image63.png"/><Relationship Id="rId12" Type="http://schemas.openxmlformats.org/officeDocument/2006/relationships/image" Target="../media/image68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jpg"/><Relationship Id="rId11" Type="http://schemas.openxmlformats.org/officeDocument/2006/relationships/image" Target="../media/image67.jpg"/><Relationship Id="rId5" Type="http://schemas.openxmlformats.org/officeDocument/2006/relationships/image" Target="../media/image61.jpg"/><Relationship Id="rId15" Type="http://schemas.openxmlformats.org/officeDocument/2006/relationships/image" Target="../media/image71.jpg"/><Relationship Id="rId10" Type="http://schemas.openxmlformats.org/officeDocument/2006/relationships/image" Target="../media/image66.jpg"/><Relationship Id="rId4" Type="http://schemas.openxmlformats.org/officeDocument/2006/relationships/image" Target="../media/image60.jpg"/><Relationship Id="rId9" Type="http://schemas.openxmlformats.org/officeDocument/2006/relationships/image" Target="../media/image65.jpg"/><Relationship Id="rId14" Type="http://schemas.openxmlformats.org/officeDocument/2006/relationships/image" Target="../media/image70.jp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jpg"/><Relationship Id="rId7" Type="http://schemas.openxmlformats.org/officeDocument/2006/relationships/image" Target="../media/image77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jpg"/><Relationship Id="rId11" Type="http://schemas.openxmlformats.org/officeDocument/2006/relationships/image" Target="../media/image81.jpg"/><Relationship Id="rId5" Type="http://schemas.openxmlformats.org/officeDocument/2006/relationships/image" Target="../media/image75.jpg"/><Relationship Id="rId10" Type="http://schemas.openxmlformats.org/officeDocument/2006/relationships/image" Target="../media/image80.jpg"/><Relationship Id="rId4" Type="http://schemas.openxmlformats.org/officeDocument/2006/relationships/image" Target="../media/image74.jpg"/><Relationship Id="rId9" Type="http://schemas.openxmlformats.org/officeDocument/2006/relationships/image" Target="../media/image79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6.jpg"/><Relationship Id="rId5" Type="http://schemas.openxmlformats.org/officeDocument/2006/relationships/image" Target="../media/image85.jpg"/><Relationship Id="rId4" Type="http://schemas.openxmlformats.org/officeDocument/2006/relationships/image" Target="../media/image84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nsbecker/model-validation?utm_medium=email&amp;utm_source=gamma&amp;utm_campaign=thirty-days-of-ml&amp;utm_content=day-9" TargetMode="External"/><Relationship Id="rId2" Type="http://schemas.openxmlformats.org/officeDocument/2006/relationships/hyperlink" Target="https://www.kaggle.com/dansbecker/your-first-machine-learning-model?utm_medium=email&amp;utm_source=gamma&amp;utm_campaign=thirty-days-of-ml&amp;utm_content=day-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nsbecker/underfitting-and-overfitting?utm_medium=email&amp;utm_source=gamma&amp;utm_campaign=thirty-days-of-ml&amp;utm_content=day-1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9" y="4663"/>
            <a:ext cx="9135540" cy="51341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676400" y="2288805"/>
            <a:ext cx="5802904" cy="18774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30" dirty="0">
                <a:solidFill>
                  <a:srgbClr val="395364"/>
                </a:solidFill>
                <a:latin typeface="Arial MT"/>
                <a:cs typeface="Arial MT"/>
              </a:rPr>
              <a:t>GENERALIZATION</a:t>
            </a:r>
            <a:r>
              <a:rPr lang="en-US" sz="4000" spc="-185" dirty="0">
                <a:solidFill>
                  <a:srgbClr val="395364"/>
                </a:solidFill>
                <a:latin typeface="Arial MT"/>
                <a:cs typeface="Arial MT"/>
              </a:rPr>
              <a:t> </a:t>
            </a:r>
            <a:r>
              <a:rPr lang="en-US" sz="4000" spc="-60" dirty="0">
                <a:solidFill>
                  <a:srgbClr val="395364"/>
                </a:solidFill>
                <a:latin typeface="Arial MT"/>
                <a:cs typeface="Arial MT"/>
              </a:rPr>
              <a:t>AND</a:t>
            </a:r>
            <a:endParaRPr lang="en-US" sz="4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lang="en-US" sz="4000" dirty="0">
                <a:solidFill>
                  <a:srgbClr val="395364"/>
                </a:solidFill>
                <a:latin typeface="Arial MT"/>
                <a:cs typeface="Arial MT"/>
              </a:rPr>
              <a:t>THE</a:t>
            </a:r>
            <a:r>
              <a:rPr lang="en-US" sz="4000" spc="-114" dirty="0">
                <a:solidFill>
                  <a:srgbClr val="395364"/>
                </a:solidFill>
                <a:latin typeface="Arial MT"/>
                <a:cs typeface="Arial MT"/>
              </a:rPr>
              <a:t> </a:t>
            </a:r>
            <a:r>
              <a:rPr lang="en-US" sz="4000" spc="-340" dirty="0">
                <a:solidFill>
                  <a:srgbClr val="395364"/>
                </a:solidFill>
                <a:latin typeface="Arial MT"/>
                <a:cs typeface="Arial MT"/>
              </a:rPr>
              <a:t>KNN</a:t>
            </a:r>
            <a:r>
              <a:rPr lang="en-US" sz="4000" spc="-110" dirty="0">
                <a:solidFill>
                  <a:srgbClr val="395364"/>
                </a:solidFill>
                <a:latin typeface="Arial MT"/>
                <a:cs typeface="Arial MT"/>
              </a:rPr>
              <a:t> </a:t>
            </a:r>
            <a:r>
              <a:rPr lang="en-US" sz="4000" spc="145" dirty="0">
                <a:solidFill>
                  <a:srgbClr val="395364"/>
                </a:solidFill>
                <a:latin typeface="Arial MT"/>
                <a:cs typeface="Arial MT"/>
              </a:rPr>
              <a:t>ALGORITHM</a:t>
            </a:r>
            <a:endParaRPr lang="en-US" sz="4000" dirty="0">
              <a:latin typeface="Arial MT"/>
              <a:cs typeface="Arial MT"/>
            </a:endParaRPr>
          </a:p>
          <a:p>
            <a:pPr marL="181610" algn="ctr">
              <a:lnSpc>
                <a:spcPct val="100000"/>
              </a:lnSpc>
              <a:spcBef>
                <a:spcPts val="1060"/>
              </a:spcBef>
            </a:pPr>
            <a:r>
              <a:rPr lang="en-US" sz="3200" dirty="0">
                <a:solidFill>
                  <a:srgbClr val="262626"/>
                </a:solidFill>
                <a:latin typeface="Calibri"/>
                <a:cs typeface="Calibri"/>
              </a:rPr>
              <a:t>CARLOS FERRO</a:t>
            </a:r>
            <a:endParaRPr lang="en-US"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3230" y="479866"/>
            <a:ext cx="53511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Classification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1152752"/>
            <a:ext cx="3824604" cy="3653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Classification</a:t>
            </a:r>
            <a:endParaRPr sz="2400">
              <a:latin typeface="Calibri"/>
              <a:cs typeface="Calibri"/>
            </a:endParaRPr>
          </a:p>
          <a:p>
            <a:pPr marL="469265" indent="-326390">
              <a:lnSpc>
                <a:spcPct val="100000"/>
              </a:lnSpc>
              <a:spcBef>
                <a:spcPts val="50"/>
              </a:spcBef>
              <a:buFont typeface="Arial MT"/>
              <a:buChar char="•"/>
              <a:tabLst>
                <a:tab pos="469265" algn="l"/>
              </a:tabLst>
            </a:pPr>
            <a:r>
              <a:rPr sz="2200" dirty="0">
                <a:latin typeface="Calibri"/>
                <a:cs typeface="Calibri"/>
              </a:rPr>
              <a:t>Goal: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label</a:t>
            </a:r>
            <a:endParaRPr sz="2200">
              <a:latin typeface="Calibri"/>
              <a:cs typeface="Calibri"/>
            </a:endParaRPr>
          </a:p>
          <a:p>
            <a:pPr marL="927100" marR="90805" indent="-370205">
              <a:lnSpc>
                <a:spcPct val="100000"/>
              </a:lnSpc>
              <a:spcBef>
                <a:spcPts val="40"/>
              </a:spcBef>
              <a:tabLst>
                <a:tab pos="92646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Calibri"/>
                <a:cs typeface="Calibri"/>
              </a:rPr>
              <a:t>Class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label: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choice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</a:t>
            </a:r>
            <a:r>
              <a:rPr sz="2000" spc="-10" dirty="0">
                <a:latin typeface="Calibri"/>
                <a:cs typeface="Calibri"/>
              </a:rPr>
              <a:t>predefined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list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 </a:t>
            </a:r>
            <a:r>
              <a:rPr sz="2000" spc="-10" dirty="0">
                <a:latin typeface="Calibri"/>
                <a:cs typeface="Calibri"/>
              </a:rPr>
              <a:t>possibilities</a:t>
            </a:r>
            <a:endParaRPr sz="2000">
              <a:latin typeface="Calibri"/>
              <a:cs typeface="Calibri"/>
            </a:endParaRPr>
          </a:p>
          <a:p>
            <a:pPr marL="469900" marR="5080" indent="-327025">
              <a:lnSpc>
                <a:spcPts val="2630"/>
              </a:lnSpc>
              <a:spcBef>
                <a:spcPts val="90"/>
              </a:spcBef>
              <a:buFont typeface="Arial MT"/>
              <a:buChar char="•"/>
              <a:tabLst>
                <a:tab pos="469900" algn="l"/>
              </a:tabLst>
            </a:pPr>
            <a:r>
              <a:rPr sz="2200" i="1" dirty="0">
                <a:latin typeface="Calibri"/>
                <a:cs typeface="Calibri"/>
              </a:rPr>
              <a:t>Binary</a:t>
            </a:r>
            <a:r>
              <a:rPr sz="2200" i="1" spc="-35" dirty="0">
                <a:latin typeface="Calibri"/>
                <a:cs typeface="Calibri"/>
              </a:rPr>
              <a:t> </a:t>
            </a:r>
            <a:r>
              <a:rPr sz="2200" i="1" dirty="0">
                <a:latin typeface="Calibri"/>
                <a:cs typeface="Calibri"/>
              </a:rPr>
              <a:t>Classification</a:t>
            </a:r>
            <a:r>
              <a:rPr sz="2200" dirty="0">
                <a:latin typeface="Calibri"/>
                <a:cs typeface="Calibri"/>
              </a:rPr>
              <a:t>: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Exactly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(yes/no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question)</a:t>
            </a:r>
            <a:endParaRPr sz="2200">
              <a:latin typeface="Calibri"/>
              <a:cs typeface="Calibri"/>
            </a:endParaRPr>
          </a:p>
          <a:p>
            <a:pPr marL="469265" indent="-326390">
              <a:lnSpc>
                <a:spcPts val="2525"/>
              </a:lnSpc>
              <a:buFont typeface="Arial MT"/>
              <a:buChar char="•"/>
              <a:tabLst>
                <a:tab pos="469265" algn="l"/>
              </a:tabLst>
            </a:pPr>
            <a:r>
              <a:rPr sz="2200" i="1" dirty="0">
                <a:latin typeface="Calibri"/>
                <a:cs typeface="Calibri"/>
              </a:rPr>
              <a:t>Multiclass</a:t>
            </a:r>
            <a:r>
              <a:rPr sz="2200" i="1" spc="-50" dirty="0">
                <a:latin typeface="Calibri"/>
                <a:cs typeface="Calibri"/>
              </a:rPr>
              <a:t> </a:t>
            </a:r>
            <a:r>
              <a:rPr sz="2200" i="1" spc="-10" dirty="0">
                <a:latin typeface="Calibri"/>
                <a:cs typeface="Calibri"/>
              </a:rPr>
              <a:t>Classification:</a:t>
            </a:r>
            <a:endParaRPr sz="2200">
              <a:latin typeface="Calibri"/>
              <a:cs typeface="Calibri"/>
            </a:endParaRPr>
          </a:p>
          <a:p>
            <a:pPr marL="469900" marR="360680">
              <a:lnSpc>
                <a:spcPts val="2630"/>
              </a:lnSpc>
              <a:spcBef>
                <a:spcPts val="85"/>
              </a:spcBef>
            </a:pPr>
            <a:r>
              <a:rPr sz="2200" dirty="0">
                <a:latin typeface="Calibri"/>
                <a:cs typeface="Calibri"/>
              </a:rPr>
              <a:t>Classification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among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more </a:t>
            </a:r>
            <a:r>
              <a:rPr sz="2200" dirty="0">
                <a:latin typeface="Calibri"/>
                <a:cs typeface="Calibri"/>
              </a:rPr>
              <a:t>than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(Iris example)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18051" y="1076552"/>
            <a:ext cx="3621404" cy="3910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Regression</a:t>
            </a:r>
            <a:endParaRPr sz="2400">
              <a:latin typeface="Calibri"/>
              <a:cs typeface="Calibri"/>
            </a:endParaRPr>
          </a:p>
          <a:p>
            <a:pPr marL="469900" marR="717550" indent="-335915">
              <a:lnSpc>
                <a:spcPct val="99700"/>
              </a:lnSpc>
              <a:spcBef>
                <a:spcPts val="1855"/>
              </a:spcBef>
              <a:buFont typeface="Arial MT"/>
              <a:buChar char="•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Goal: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0" dirty="0">
                <a:latin typeface="Calibri"/>
                <a:cs typeface="Calibri"/>
              </a:rPr>
              <a:t>To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predict</a:t>
            </a:r>
            <a:r>
              <a:rPr sz="2400" spc="-50" dirty="0">
                <a:latin typeface="Calibri"/>
                <a:cs typeface="Calibri"/>
              </a:rPr>
              <a:t> a </a:t>
            </a:r>
            <a:r>
              <a:rPr sz="2400" dirty="0">
                <a:latin typeface="Calibri"/>
                <a:cs typeface="Calibri"/>
              </a:rPr>
              <a:t>continuous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number (floating-point)</a:t>
            </a:r>
            <a:endParaRPr sz="2400">
              <a:latin typeface="Calibri"/>
              <a:cs typeface="Calibri"/>
            </a:endParaRPr>
          </a:p>
          <a:p>
            <a:pPr marL="469265" indent="-335280">
              <a:lnSpc>
                <a:spcPts val="2845"/>
              </a:lnSpc>
              <a:buFont typeface="Arial MT"/>
              <a:buChar char="•"/>
              <a:tabLst>
                <a:tab pos="469265" algn="l"/>
              </a:tabLst>
            </a:pPr>
            <a:r>
              <a:rPr sz="2400" spc="-10" dirty="0">
                <a:latin typeface="Calibri"/>
                <a:cs typeface="Calibri"/>
              </a:rPr>
              <a:t>Examples:</a:t>
            </a:r>
            <a:endParaRPr sz="2400">
              <a:latin typeface="Calibri"/>
              <a:cs typeface="Calibri"/>
            </a:endParaRPr>
          </a:p>
          <a:p>
            <a:pPr marL="927100" marR="5080" lvl="1" indent="-370205">
              <a:lnSpc>
                <a:spcPts val="2400"/>
              </a:lnSpc>
              <a:spcBef>
                <a:spcPts val="70"/>
              </a:spcBef>
              <a:buClr>
                <a:srgbClr val="000000"/>
              </a:buClr>
              <a:buFont typeface="Arial MT"/>
              <a:buChar char="–"/>
              <a:tabLst>
                <a:tab pos="927100" algn="l"/>
              </a:tabLst>
            </a:pPr>
            <a:r>
              <a:rPr sz="2000" spc="-30" dirty="0">
                <a:solidFill>
                  <a:srgbClr val="00FF00"/>
                </a:solidFill>
                <a:latin typeface="Calibri"/>
                <a:cs typeface="Calibri"/>
              </a:rPr>
              <a:t>Person’s</a:t>
            </a:r>
            <a:r>
              <a:rPr sz="2000" spc="-65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FF00"/>
                </a:solidFill>
                <a:latin typeface="Calibri"/>
                <a:cs typeface="Calibri"/>
              </a:rPr>
              <a:t>annual</a:t>
            </a:r>
            <a:r>
              <a:rPr sz="2000" spc="-6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0FF00"/>
                </a:solidFill>
                <a:latin typeface="Calibri"/>
                <a:cs typeface="Calibri"/>
              </a:rPr>
              <a:t>income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63763"/>
                </a:solidFill>
                <a:latin typeface="Calibri"/>
                <a:cs typeface="Calibri"/>
              </a:rPr>
              <a:t>education,</a:t>
            </a:r>
            <a:r>
              <a:rPr sz="2000" spc="-6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63763"/>
                </a:solidFill>
                <a:latin typeface="Calibri"/>
                <a:cs typeface="Calibri"/>
              </a:rPr>
              <a:t>age, </a:t>
            </a:r>
            <a:r>
              <a:rPr sz="2000" dirty="0">
                <a:solidFill>
                  <a:srgbClr val="063763"/>
                </a:solidFill>
                <a:latin typeface="Calibri"/>
                <a:cs typeface="Calibri"/>
              </a:rPr>
              <a:t>and</a:t>
            </a:r>
            <a:r>
              <a:rPr sz="2000" spc="-7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63763"/>
                </a:solidFill>
                <a:latin typeface="Calibri"/>
                <a:cs typeface="Calibri"/>
              </a:rPr>
              <a:t>where</a:t>
            </a:r>
            <a:r>
              <a:rPr sz="2000" spc="-7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63763"/>
                </a:solidFill>
                <a:latin typeface="Calibri"/>
                <a:cs typeface="Calibri"/>
              </a:rPr>
              <a:t>they</a:t>
            </a:r>
            <a:r>
              <a:rPr sz="2000" spc="-6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063763"/>
                </a:solidFill>
                <a:latin typeface="Calibri"/>
                <a:cs typeface="Calibri"/>
              </a:rPr>
              <a:t>live</a:t>
            </a:r>
            <a:endParaRPr sz="2000">
              <a:latin typeface="Calibri"/>
              <a:cs typeface="Calibri"/>
            </a:endParaRPr>
          </a:p>
          <a:p>
            <a:pPr marL="923925" marR="74295" lvl="1" indent="-367030" algn="just">
              <a:lnSpc>
                <a:spcPts val="2400"/>
              </a:lnSpc>
              <a:buClr>
                <a:srgbClr val="000000"/>
              </a:buClr>
              <a:buFont typeface="Arial MT"/>
              <a:buChar char="–"/>
              <a:tabLst>
                <a:tab pos="927100" algn="l"/>
              </a:tabLst>
            </a:pPr>
            <a:r>
              <a:rPr sz="2000" dirty="0">
                <a:solidFill>
                  <a:srgbClr val="00FF00"/>
                </a:solidFill>
                <a:latin typeface="Calibri"/>
                <a:cs typeface="Calibri"/>
              </a:rPr>
              <a:t>Yield</a:t>
            </a:r>
            <a:r>
              <a:rPr sz="2000" spc="-55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FF00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FF00"/>
                </a:solidFill>
                <a:latin typeface="Calibri"/>
                <a:cs typeface="Calibri"/>
              </a:rPr>
              <a:t>a</a:t>
            </a:r>
            <a:r>
              <a:rPr sz="2000" spc="-5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FF00"/>
                </a:solidFill>
                <a:latin typeface="Calibri"/>
                <a:cs typeface="Calibri"/>
              </a:rPr>
              <a:t>corn</a:t>
            </a:r>
            <a:r>
              <a:rPr sz="2000" spc="-5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0FF00"/>
                </a:solidFill>
                <a:latin typeface="Calibri"/>
                <a:cs typeface="Calibri"/>
              </a:rPr>
              <a:t>farm</a:t>
            </a:r>
            <a:r>
              <a:rPr sz="2000" spc="-50" dirty="0">
                <a:solidFill>
                  <a:srgbClr val="00FF0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given 	</a:t>
            </a:r>
            <a:r>
              <a:rPr sz="2000" dirty="0">
                <a:solidFill>
                  <a:srgbClr val="063763"/>
                </a:solidFill>
                <a:latin typeface="Calibri"/>
                <a:cs typeface="Calibri"/>
              </a:rPr>
              <a:t>previous</a:t>
            </a:r>
            <a:r>
              <a:rPr sz="2000" spc="-9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63763"/>
                </a:solidFill>
                <a:latin typeface="Calibri"/>
                <a:cs typeface="Calibri"/>
              </a:rPr>
              <a:t>yields,</a:t>
            </a:r>
            <a:r>
              <a:rPr sz="2000" spc="-9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63763"/>
                </a:solidFill>
                <a:latin typeface="Calibri"/>
                <a:cs typeface="Calibri"/>
              </a:rPr>
              <a:t>weather, 	</a:t>
            </a:r>
            <a:r>
              <a:rPr sz="2000" dirty="0">
                <a:solidFill>
                  <a:srgbClr val="063763"/>
                </a:solidFill>
                <a:latin typeface="Calibri"/>
                <a:cs typeface="Calibri"/>
              </a:rPr>
              <a:t>number</a:t>
            </a:r>
            <a:r>
              <a:rPr sz="2000" spc="-5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063763"/>
                </a:solidFill>
                <a:latin typeface="Calibri"/>
                <a:cs typeface="Calibri"/>
              </a:rPr>
              <a:t>of</a:t>
            </a:r>
            <a:r>
              <a:rPr sz="2000" spc="-5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063763"/>
                </a:solidFill>
                <a:latin typeface="Calibri"/>
                <a:cs typeface="Calibri"/>
              </a:rPr>
              <a:t>employes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0"/>
              </a:spcBef>
            </a:pPr>
            <a:r>
              <a:rPr sz="3000" dirty="0"/>
              <a:t>A</a:t>
            </a:r>
            <a:r>
              <a:rPr sz="3000" spc="-75" dirty="0"/>
              <a:t> </a:t>
            </a:r>
            <a:r>
              <a:rPr sz="3000" dirty="0"/>
              <a:t>first</a:t>
            </a:r>
            <a:r>
              <a:rPr sz="3000" spc="-75" dirty="0"/>
              <a:t> </a:t>
            </a:r>
            <a:r>
              <a:rPr sz="3000" dirty="0"/>
              <a:t>application:</a:t>
            </a:r>
            <a:r>
              <a:rPr sz="3000" spc="-75" dirty="0"/>
              <a:t> </a:t>
            </a:r>
            <a:r>
              <a:rPr sz="3000" dirty="0"/>
              <a:t>Classifying</a:t>
            </a:r>
            <a:r>
              <a:rPr sz="3000" spc="-75" dirty="0"/>
              <a:t> </a:t>
            </a:r>
            <a:r>
              <a:rPr sz="3000" dirty="0"/>
              <a:t>Iris</a:t>
            </a:r>
            <a:r>
              <a:rPr sz="3000" spc="-75" dirty="0"/>
              <a:t> </a:t>
            </a:r>
            <a:r>
              <a:rPr sz="3000" spc="-10" dirty="0"/>
              <a:t>Species</a:t>
            </a:r>
            <a:endParaRPr sz="3000"/>
          </a:p>
          <a:p>
            <a:pPr marL="5080" algn="ctr">
              <a:lnSpc>
                <a:spcPct val="100000"/>
              </a:lnSpc>
              <a:spcBef>
                <a:spcPts val="70"/>
              </a:spcBef>
            </a:pPr>
            <a:r>
              <a:rPr sz="1200" spc="-10" dirty="0">
                <a:solidFill>
                  <a:srgbClr val="000000"/>
                </a:solidFill>
              </a:rPr>
              <a:t>Example</a:t>
            </a:r>
            <a:r>
              <a:rPr sz="1200" spc="-30" dirty="0">
                <a:solidFill>
                  <a:srgbClr val="000000"/>
                </a:solidFill>
              </a:rPr>
              <a:t> </a:t>
            </a:r>
            <a:r>
              <a:rPr sz="1200" spc="-10" dirty="0">
                <a:solidFill>
                  <a:srgbClr val="000000"/>
                </a:solidFill>
              </a:rPr>
              <a:t>taken</a:t>
            </a:r>
            <a:r>
              <a:rPr sz="1200" spc="-25" dirty="0">
                <a:solidFill>
                  <a:srgbClr val="000000"/>
                </a:solidFill>
              </a:rPr>
              <a:t> </a:t>
            </a:r>
            <a:r>
              <a:rPr sz="1200" dirty="0">
                <a:solidFill>
                  <a:srgbClr val="000000"/>
                </a:solidFill>
              </a:rPr>
              <a:t>from</a:t>
            </a:r>
            <a:r>
              <a:rPr sz="1200" spc="-15" dirty="0">
                <a:solidFill>
                  <a:srgbClr val="000000"/>
                </a:solidFill>
              </a:rPr>
              <a:t> </a:t>
            </a:r>
            <a:r>
              <a:rPr sz="1200" i="1" spc="-10" dirty="0">
                <a:solidFill>
                  <a:srgbClr val="000000"/>
                </a:solidFill>
                <a:latin typeface="Calibri"/>
                <a:cs typeface="Calibri"/>
              </a:rPr>
              <a:t>Introduction</a:t>
            </a:r>
            <a:r>
              <a:rPr sz="1200" i="1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1200" i="1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0000"/>
                </a:solidFill>
                <a:latin typeface="Calibri"/>
                <a:cs typeface="Calibri"/>
              </a:rPr>
              <a:t>machine</a:t>
            </a:r>
            <a:r>
              <a:rPr sz="1200" i="1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0000"/>
                </a:solidFill>
                <a:latin typeface="Calibri"/>
                <a:cs typeface="Calibri"/>
              </a:rPr>
              <a:t>learning</a:t>
            </a:r>
            <a:r>
              <a:rPr sz="1200" i="1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sz="1200" i="1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i="1" dirty="0">
                <a:solidFill>
                  <a:srgbClr val="000000"/>
                </a:solidFill>
                <a:latin typeface="Calibri"/>
                <a:cs typeface="Calibri"/>
              </a:rPr>
              <a:t>Python</a:t>
            </a:r>
            <a:r>
              <a:rPr sz="1200" i="1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0000"/>
                </a:solidFill>
              </a:rPr>
              <a:t>by</a:t>
            </a:r>
            <a:r>
              <a:rPr sz="1200" spc="-25" dirty="0">
                <a:solidFill>
                  <a:srgbClr val="000000"/>
                </a:solidFill>
              </a:rPr>
              <a:t> </a:t>
            </a:r>
            <a:r>
              <a:rPr sz="1200" dirty="0">
                <a:solidFill>
                  <a:srgbClr val="000000"/>
                </a:solidFill>
              </a:rPr>
              <a:t>Andreas</a:t>
            </a:r>
            <a:r>
              <a:rPr sz="1200" spc="-25" dirty="0">
                <a:solidFill>
                  <a:srgbClr val="000000"/>
                </a:solidFill>
              </a:rPr>
              <a:t> </a:t>
            </a:r>
            <a:r>
              <a:rPr sz="1200" spc="-10" dirty="0">
                <a:solidFill>
                  <a:srgbClr val="000000"/>
                </a:solidFill>
              </a:rPr>
              <a:t>Muller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2125" y="1183911"/>
            <a:ext cx="8007350" cy="816610"/>
          </a:xfrm>
          <a:prstGeom prst="rect">
            <a:avLst/>
          </a:prstGeom>
        </p:spPr>
        <p:txBody>
          <a:bodyPr vert="horz" wrap="square" lIns="0" tIns="26669" rIns="0" bIns="0" rtlCol="0">
            <a:spAutoFit/>
          </a:bodyPr>
          <a:lstStyle/>
          <a:p>
            <a:pPr marL="12700" marR="5080">
              <a:lnSpc>
                <a:spcPts val="3110"/>
              </a:lnSpc>
              <a:spcBef>
                <a:spcPts val="209"/>
              </a:spcBef>
            </a:pPr>
            <a:r>
              <a:rPr sz="2600" spc="-30" dirty="0">
                <a:latin typeface="Calibri"/>
                <a:cs typeface="Calibri"/>
              </a:rPr>
              <a:t>Task: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Distinguishing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species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iris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flowers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(setosa, </a:t>
            </a:r>
            <a:r>
              <a:rPr sz="2600" spc="-35" dirty="0">
                <a:latin typeface="Calibri"/>
                <a:cs typeface="Calibri"/>
              </a:rPr>
              <a:t>versicolor,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virginica)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60" y="2404864"/>
            <a:ext cx="1371599" cy="18287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76080" y="2457056"/>
            <a:ext cx="2095200" cy="17045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35752" y="2404864"/>
            <a:ext cx="1984319" cy="1828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438" y="350877"/>
            <a:ext cx="63188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A</a:t>
            </a:r>
            <a:r>
              <a:rPr sz="3000" spc="-75" dirty="0"/>
              <a:t> </a:t>
            </a:r>
            <a:r>
              <a:rPr sz="3000" dirty="0"/>
              <a:t>first</a:t>
            </a:r>
            <a:r>
              <a:rPr sz="3000" spc="-75" dirty="0"/>
              <a:t> </a:t>
            </a:r>
            <a:r>
              <a:rPr sz="3000" dirty="0"/>
              <a:t>application:</a:t>
            </a:r>
            <a:r>
              <a:rPr sz="3000" spc="-75" dirty="0"/>
              <a:t> </a:t>
            </a:r>
            <a:r>
              <a:rPr sz="3000" dirty="0"/>
              <a:t>Classifying</a:t>
            </a:r>
            <a:r>
              <a:rPr sz="3000" spc="-75" dirty="0"/>
              <a:t> </a:t>
            </a:r>
            <a:r>
              <a:rPr sz="3000" dirty="0"/>
              <a:t>Iris</a:t>
            </a:r>
            <a:r>
              <a:rPr sz="3000" spc="-75" dirty="0"/>
              <a:t> </a:t>
            </a:r>
            <a:r>
              <a:rPr sz="3000" spc="-10" dirty="0"/>
              <a:t>Species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88236" y="1105679"/>
            <a:ext cx="7305040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980" indent="-335280">
              <a:lnSpc>
                <a:spcPct val="100000"/>
              </a:lnSpc>
              <a:spcBef>
                <a:spcPts val="100"/>
              </a:spcBef>
              <a:buSzPct val="45000"/>
              <a:buFont typeface="Arial"/>
              <a:buChar char="●"/>
              <a:tabLst>
                <a:tab pos="347980" algn="l"/>
              </a:tabLst>
            </a:pPr>
            <a:r>
              <a:rPr sz="2000" b="1" dirty="0">
                <a:latin typeface="Calibri"/>
                <a:cs typeface="Calibri"/>
              </a:rPr>
              <a:t>Data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Measurements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associated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iris:</a:t>
            </a:r>
            <a:endParaRPr sz="2000">
              <a:latin typeface="Calibri"/>
              <a:cs typeface="Calibri"/>
            </a:endParaRPr>
          </a:p>
          <a:p>
            <a:pPr marL="780415" lvl="1" indent="-337820">
              <a:lnSpc>
                <a:spcPct val="100000"/>
              </a:lnSpc>
              <a:buSzPct val="75000"/>
              <a:buFont typeface="Lucida Sans Unicode"/>
              <a:buChar char="–"/>
              <a:tabLst>
                <a:tab pos="780415" algn="l"/>
              </a:tabLst>
            </a:pPr>
            <a:r>
              <a:rPr sz="2000" dirty="0">
                <a:latin typeface="Calibri"/>
                <a:cs typeface="Calibri"/>
              </a:rPr>
              <a:t>Length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width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petals</a:t>
            </a:r>
            <a:endParaRPr sz="2000">
              <a:latin typeface="Calibri"/>
              <a:cs typeface="Calibri"/>
            </a:endParaRPr>
          </a:p>
          <a:p>
            <a:pPr marL="780415" lvl="1" indent="-337820">
              <a:lnSpc>
                <a:spcPct val="100000"/>
              </a:lnSpc>
              <a:buSzPct val="75000"/>
              <a:buFont typeface="Lucida Sans Unicode"/>
              <a:buChar char="–"/>
              <a:tabLst>
                <a:tab pos="780415" algn="l"/>
              </a:tabLst>
            </a:pPr>
            <a:r>
              <a:rPr sz="2000" dirty="0">
                <a:latin typeface="Calibri"/>
                <a:cs typeface="Calibri"/>
              </a:rPr>
              <a:t>Length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width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sepals</a:t>
            </a:r>
            <a:endParaRPr sz="2000">
              <a:latin typeface="Calibri"/>
              <a:cs typeface="Calibri"/>
            </a:endParaRPr>
          </a:p>
          <a:p>
            <a:pPr marL="780415" lvl="1" indent="-337820">
              <a:lnSpc>
                <a:spcPct val="100000"/>
              </a:lnSpc>
              <a:buSzPct val="75000"/>
              <a:buFont typeface="Lucida Sans Unicode"/>
              <a:buChar char="–"/>
              <a:tabLst>
                <a:tab pos="780415" algn="l"/>
              </a:tabLst>
            </a:pPr>
            <a:r>
              <a:rPr sz="2000" dirty="0">
                <a:latin typeface="Calibri"/>
                <a:cs typeface="Calibri"/>
              </a:rPr>
              <a:t>Some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been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identified: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setosa,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versicolor,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or</a:t>
            </a:r>
            <a:r>
              <a:rPr sz="2000" i="1" spc="-5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virginica</a:t>
            </a:r>
            <a:endParaRPr sz="2000">
              <a:latin typeface="Calibri"/>
              <a:cs typeface="Calibri"/>
            </a:endParaRPr>
          </a:p>
          <a:p>
            <a:pPr marL="347980" indent="-335280">
              <a:lnSpc>
                <a:spcPct val="100000"/>
              </a:lnSpc>
              <a:spcBef>
                <a:spcPts val="2400"/>
              </a:spcBef>
              <a:buSzPct val="45000"/>
              <a:buFont typeface="Arial"/>
              <a:buChar char="●"/>
              <a:tabLst>
                <a:tab pos="347980" algn="l"/>
              </a:tabLst>
            </a:pPr>
            <a:r>
              <a:rPr sz="2000" b="1" dirty="0">
                <a:latin typeface="Calibri"/>
                <a:cs typeface="Calibri"/>
              </a:rPr>
              <a:t>Data</a:t>
            </a:r>
            <a:r>
              <a:rPr sz="2000" b="1" spc="-10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scientist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goal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90" dirty="0">
                <a:latin typeface="Calibri"/>
                <a:cs typeface="Calibri"/>
              </a:rPr>
              <a:t>To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build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machine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that:</a:t>
            </a:r>
            <a:endParaRPr sz="2000">
              <a:latin typeface="Calibri"/>
              <a:cs typeface="Calibri"/>
            </a:endParaRPr>
          </a:p>
          <a:p>
            <a:pPr marL="780415" marR="5080" lvl="1" indent="-337820">
              <a:lnSpc>
                <a:spcPct val="100000"/>
              </a:lnSpc>
              <a:buSzPct val="75000"/>
              <a:buFont typeface="Lucida Sans Unicode"/>
              <a:buChar char="–"/>
              <a:tabLst>
                <a:tab pos="780415" algn="l"/>
              </a:tabLst>
            </a:pPr>
            <a:r>
              <a:rPr sz="2000" dirty="0">
                <a:latin typeface="Calibri"/>
                <a:cs typeface="Calibri"/>
              </a:rPr>
              <a:t>can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learn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measurements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irises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whose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is </a:t>
            </a:r>
            <a:r>
              <a:rPr sz="2000" spc="-10" dirty="0">
                <a:latin typeface="Calibri"/>
                <a:cs typeface="Calibri"/>
              </a:rPr>
              <a:t>known,</a:t>
            </a:r>
            <a:endParaRPr sz="2000">
              <a:latin typeface="Calibri"/>
              <a:cs typeface="Calibri"/>
            </a:endParaRPr>
          </a:p>
          <a:p>
            <a:pPr marL="780415" lvl="1" indent="-337820">
              <a:lnSpc>
                <a:spcPct val="100000"/>
              </a:lnSpc>
              <a:buSzPct val="75000"/>
              <a:buFont typeface="Lucida Sans Unicode"/>
              <a:buChar char="–"/>
              <a:tabLst>
                <a:tab pos="780415" algn="l"/>
              </a:tabLst>
            </a:pPr>
            <a:r>
              <a:rPr sz="2000" dirty="0">
                <a:latin typeface="Calibri"/>
                <a:cs typeface="Calibri"/>
              </a:rPr>
              <a:t>So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predict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species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new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iris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14499" y="350877"/>
            <a:ext cx="60331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Classifying</a:t>
            </a:r>
            <a:r>
              <a:rPr sz="3000" spc="-60" dirty="0"/>
              <a:t> </a:t>
            </a:r>
            <a:r>
              <a:rPr sz="3000" dirty="0"/>
              <a:t>Iris</a:t>
            </a:r>
            <a:r>
              <a:rPr sz="3000" spc="-55" dirty="0"/>
              <a:t> </a:t>
            </a:r>
            <a:r>
              <a:rPr sz="3000" dirty="0"/>
              <a:t>Species:</a:t>
            </a:r>
            <a:r>
              <a:rPr sz="3000" spc="-55" dirty="0"/>
              <a:t> </a:t>
            </a:r>
            <a:r>
              <a:rPr sz="3000" spc="-10" dirty="0"/>
              <a:t>Type</a:t>
            </a:r>
            <a:r>
              <a:rPr sz="3000" spc="-60" dirty="0"/>
              <a:t> </a:t>
            </a:r>
            <a:r>
              <a:rPr sz="3000" dirty="0"/>
              <a:t>of</a:t>
            </a:r>
            <a:r>
              <a:rPr sz="3000" spc="-55" dirty="0"/>
              <a:t> </a:t>
            </a:r>
            <a:r>
              <a:rPr sz="3000" dirty="0"/>
              <a:t>ML</a:t>
            </a:r>
            <a:r>
              <a:rPr sz="3000" spc="-55" dirty="0"/>
              <a:t> </a:t>
            </a:r>
            <a:r>
              <a:rPr sz="3000" spc="-20" dirty="0"/>
              <a:t>task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021109" y="2021519"/>
            <a:ext cx="4201160" cy="35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55"/>
              </a:lnSpc>
              <a:tabLst>
                <a:tab pos="397510" algn="l"/>
              </a:tabLst>
            </a:pPr>
            <a:r>
              <a:rPr sz="2400" spc="-50" dirty="0">
                <a:latin typeface="Arial MT"/>
                <a:cs typeface="Arial MT"/>
              </a:rPr>
              <a:t>–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supervised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learning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0811" y="2830846"/>
            <a:ext cx="162179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b="1" spc="-10" dirty="0">
                <a:latin typeface="Calibri"/>
                <a:cs typeface="Calibri"/>
              </a:rPr>
              <a:t>classification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4915" y="3198131"/>
            <a:ext cx="1069975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470"/>
              </a:lnSpc>
            </a:pPr>
            <a:r>
              <a:rPr sz="2600" b="1" spc="-10" dirty="0">
                <a:latin typeface="Calibri"/>
                <a:cs typeface="Calibri"/>
              </a:rPr>
              <a:t>sample</a:t>
            </a:r>
            <a:r>
              <a:rPr sz="2600" spc="-10" dirty="0">
                <a:latin typeface="Calibri"/>
                <a:cs typeface="Calibri"/>
              </a:rPr>
              <a:t>,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6747" y="3592846"/>
            <a:ext cx="61658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b="1" spc="-20" dirty="0">
                <a:latin typeface="Calibri"/>
                <a:cs typeface="Calibri"/>
              </a:rPr>
              <a:t>label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59339" y="3954796"/>
            <a:ext cx="1040765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80"/>
              </a:lnSpc>
            </a:pPr>
            <a:r>
              <a:rPr sz="2400" b="1" spc="-30" dirty="0">
                <a:latin typeface="Calibri"/>
                <a:cs typeface="Calibri"/>
              </a:rPr>
              <a:t>features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5157" y="1183911"/>
            <a:ext cx="7757159" cy="343535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356235" marR="5080" indent="-344170">
              <a:lnSpc>
                <a:spcPts val="3110"/>
              </a:lnSpc>
              <a:spcBef>
                <a:spcPts val="21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We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have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measurements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which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know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correct </a:t>
            </a:r>
            <a:r>
              <a:rPr sz="2600" dirty="0">
                <a:latin typeface="Calibri"/>
                <a:cs typeface="Calibri"/>
              </a:rPr>
              <a:t>species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iris: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278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We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want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predict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several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options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classes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>
              <a:latin typeface="Calibri"/>
              <a:cs typeface="Calibri"/>
            </a:endParaRPr>
          </a:p>
          <a:p>
            <a:pPr marL="813435" lvl="1" indent="-397510">
              <a:lnSpc>
                <a:spcPts val="2860"/>
              </a:lnSpc>
              <a:spcBef>
                <a:spcPts val="35"/>
              </a:spcBef>
              <a:buFont typeface="Arial MT"/>
              <a:buChar char="–"/>
              <a:tabLst>
                <a:tab pos="813435" algn="l"/>
                <a:tab pos="416052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three-</a:t>
            </a:r>
            <a:r>
              <a:rPr sz="2400" b="1" spc="-10" dirty="0">
                <a:latin typeface="Calibri"/>
                <a:cs typeface="Calibri"/>
              </a:rPr>
              <a:t>class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problem</a:t>
            </a:r>
            <a:endParaRPr sz="2400">
              <a:latin typeface="Calibri"/>
              <a:cs typeface="Calibri"/>
            </a:endParaRPr>
          </a:p>
          <a:p>
            <a:pPr marL="356235" indent="-343535">
              <a:lnSpc>
                <a:spcPts val="3100"/>
              </a:lnSpc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For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particular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(a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flower)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or</a:t>
            </a:r>
            <a:endParaRPr sz="2600">
              <a:latin typeface="Calibri"/>
              <a:cs typeface="Calibri"/>
            </a:endParaRPr>
          </a:p>
          <a:p>
            <a:pPr marL="813435" lvl="1" indent="-397510">
              <a:lnSpc>
                <a:spcPts val="2865"/>
              </a:lnSpc>
              <a:spcBef>
                <a:spcPts val="40"/>
              </a:spcBef>
              <a:buFont typeface="Arial MT"/>
              <a:buChar char="–"/>
              <a:tabLst>
                <a:tab pos="81343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species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belongs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its</a:t>
            </a:r>
            <a:endParaRPr sz="2400">
              <a:latin typeface="Calibri"/>
              <a:cs typeface="Calibri"/>
            </a:endParaRPr>
          </a:p>
          <a:p>
            <a:pPr marL="813435" lvl="1" indent="-397510">
              <a:lnSpc>
                <a:spcPts val="2850"/>
              </a:lnSpc>
              <a:buFont typeface="Arial MT"/>
              <a:buChar char="–"/>
              <a:tabLst>
                <a:tab pos="81343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describe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its</a:t>
            </a:r>
            <a:endParaRPr sz="2400">
              <a:latin typeface="Calibri"/>
              <a:cs typeface="Calibri"/>
            </a:endParaRPr>
          </a:p>
          <a:p>
            <a:pPr marL="813435">
              <a:lnSpc>
                <a:spcPts val="2865"/>
              </a:lnSpc>
            </a:pPr>
            <a:r>
              <a:rPr sz="2400" dirty="0">
                <a:latin typeface="Calibri"/>
                <a:cs typeface="Calibri"/>
              </a:rPr>
              <a:t>(sepal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length,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sepal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width,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petal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length,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petal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width)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7150" y="2036349"/>
            <a:ext cx="4328160" cy="328930"/>
          </a:xfrm>
          <a:custGeom>
            <a:avLst/>
            <a:gdLst/>
            <a:ahLst/>
            <a:cxnLst/>
            <a:rect l="l" t="t" r="r" b="b"/>
            <a:pathLst>
              <a:path w="4328160" h="328930">
                <a:moveTo>
                  <a:pt x="4327799" y="328799"/>
                </a:moveTo>
                <a:lnTo>
                  <a:pt x="0" y="328799"/>
                </a:lnTo>
                <a:lnTo>
                  <a:pt x="0" y="0"/>
                </a:lnTo>
                <a:lnTo>
                  <a:pt x="4327799" y="0"/>
                </a:lnTo>
                <a:lnTo>
                  <a:pt x="4327799" y="328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89949" y="2798349"/>
            <a:ext cx="1692275" cy="328930"/>
          </a:xfrm>
          <a:custGeom>
            <a:avLst/>
            <a:gdLst/>
            <a:ahLst/>
            <a:cxnLst/>
            <a:rect l="l" t="t" r="r" b="b"/>
            <a:pathLst>
              <a:path w="1692275" h="328930">
                <a:moveTo>
                  <a:pt x="1691699" y="328799"/>
                </a:moveTo>
                <a:lnTo>
                  <a:pt x="0" y="328799"/>
                </a:lnTo>
                <a:lnTo>
                  <a:pt x="0" y="0"/>
                </a:lnTo>
                <a:lnTo>
                  <a:pt x="1691699" y="0"/>
                </a:lnTo>
                <a:lnTo>
                  <a:pt x="1691699" y="328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5878687" y="3216399"/>
            <a:ext cx="1545590" cy="662940"/>
            <a:chOff x="5878687" y="3216399"/>
            <a:chExt cx="1545590" cy="662940"/>
          </a:xfrm>
        </p:grpSpPr>
        <p:sp>
          <p:nvSpPr>
            <p:cNvPr id="12" name="object 12"/>
            <p:cNvSpPr/>
            <p:nvPr/>
          </p:nvSpPr>
          <p:spPr>
            <a:xfrm>
              <a:off x="5883440" y="3216401"/>
              <a:ext cx="1541145" cy="657860"/>
            </a:xfrm>
            <a:custGeom>
              <a:avLst/>
              <a:gdLst/>
              <a:ahLst/>
              <a:cxnLst/>
              <a:rect l="l" t="t" r="r" b="b"/>
              <a:pathLst>
                <a:path w="1541145" h="657860">
                  <a:moveTo>
                    <a:pt x="1540751" y="0"/>
                  </a:moveTo>
                  <a:lnTo>
                    <a:pt x="350951" y="0"/>
                  </a:lnTo>
                  <a:lnTo>
                    <a:pt x="350951" y="328803"/>
                  </a:lnTo>
                  <a:lnTo>
                    <a:pt x="0" y="328803"/>
                  </a:lnTo>
                  <a:lnTo>
                    <a:pt x="0" y="657606"/>
                  </a:lnTo>
                  <a:lnTo>
                    <a:pt x="855599" y="657606"/>
                  </a:lnTo>
                  <a:lnTo>
                    <a:pt x="855599" y="328803"/>
                  </a:lnTo>
                  <a:lnTo>
                    <a:pt x="1540751" y="328803"/>
                  </a:lnTo>
                  <a:lnTo>
                    <a:pt x="154075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83449" y="3545199"/>
              <a:ext cx="855980" cy="328930"/>
            </a:xfrm>
            <a:custGeom>
              <a:avLst/>
              <a:gdLst/>
              <a:ahLst/>
              <a:cxnLst/>
              <a:rect l="l" t="t" r="r" b="b"/>
              <a:pathLst>
                <a:path w="855979" h="328929">
                  <a:moveTo>
                    <a:pt x="0" y="0"/>
                  </a:moveTo>
                  <a:lnTo>
                    <a:pt x="855599" y="0"/>
                  </a:lnTo>
                  <a:lnTo>
                    <a:pt x="855599" y="328799"/>
                  </a:lnTo>
                  <a:lnTo>
                    <a:pt x="0" y="328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/>
          <p:nvPr/>
        </p:nvSpPr>
        <p:spPr>
          <a:xfrm>
            <a:off x="6892949" y="3935274"/>
            <a:ext cx="1035050" cy="328930"/>
          </a:xfrm>
          <a:custGeom>
            <a:avLst/>
            <a:gdLst/>
            <a:ahLst/>
            <a:cxnLst/>
            <a:rect l="l" t="t" r="r" b="b"/>
            <a:pathLst>
              <a:path w="1035050" h="328929">
                <a:moveTo>
                  <a:pt x="1034699" y="328799"/>
                </a:moveTo>
                <a:lnTo>
                  <a:pt x="0" y="328799"/>
                </a:lnTo>
                <a:lnTo>
                  <a:pt x="0" y="0"/>
                </a:lnTo>
                <a:lnTo>
                  <a:pt x="1034699" y="0"/>
                </a:lnTo>
                <a:lnTo>
                  <a:pt x="1034699" y="3287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971" y="549856"/>
            <a:ext cx="22834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Load</a:t>
            </a:r>
            <a:r>
              <a:rPr sz="3200" spc="-75" dirty="0"/>
              <a:t> </a:t>
            </a:r>
            <a:r>
              <a:rPr sz="3200" dirty="0"/>
              <a:t>the</a:t>
            </a:r>
            <a:r>
              <a:rPr sz="3200" spc="-70" dirty="0"/>
              <a:t> </a:t>
            </a:r>
            <a:r>
              <a:rPr sz="3200" spc="-20" dirty="0"/>
              <a:t>data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4286" y="1174650"/>
            <a:ext cx="5455425" cy="39688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39975" y="350877"/>
            <a:ext cx="25863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Data</a:t>
            </a:r>
            <a:r>
              <a:rPr sz="3000" spc="-125" dirty="0"/>
              <a:t> </a:t>
            </a:r>
            <a:r>
              <a:rPr sz="3000" spc="-10" dirty="0"/>
              <a:t>exploration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83499" y="1101614"/>
            <a:ext cx="6631940" cy="3385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indent="-340360">
              <a:lnSpc>
                <a:spcPct val="100000"/>
              </a:lnSpc>
              <a:spcBef>
                <a:spcPts val="100"/>
              </a:spcBef>
              <a:buSzPct val="44642"/>
              <a:buFont typeface="Arial MT"/>
              <a:buChar char="●"/>
              <a:tabLst>
                <a:tab pos="353060" algn="l"/>
              </a:tabLst>
            </a:pPr>
            <a:r>
              <a:rPr sz="2800" dirty="0">
                <a:latin typeface="Calibri"/>
                <a:cs typeface="Calibri"/>
              </a:rPr>
              <a:t>Inspect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before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building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model!</a:t>
            </a:r>
            <a:endParaRPr sz="2800">
              <a:latin typeface="Calibri"/>
              <a:cs typeface="Calibri"/>
            </a:endParaRPr>
          </a:p>
          <a:p>
            <a:pPr marL="810260" lvl="1" indent="-340360">
              <a:lnSpc>
                <a:spcPct val="100000"/>
              </a:lnSpc>
              <a:spcBef>
                <a:spcPts val="15"/>
              </a:spcBef>
              <a:buSzPct val="44642"/>
              <a:buFont typeface="Arial MT"/>
              <a:buChar char="●"/>
              <a:tabLst>
                <a:tab pos="810260" algn="l"/>
              </a:tabLst>
            </a:pP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Abnormalities</a:t>
            </a:r>
            <a:r>
              <a:rPr sz="2800" u="heavy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2800" u="heavy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peculiarities</a:t>
            </a:r>
            <a:endParaRPr sz="2800">
              <a:latin typeface="Calibri"/>
              <a:cs typeface="Calibri"/>
            </a:endParaRPr>
          </a:p>
          <a:p>
            <a:pPr marL="810260" lvl="1" indent="-340360">
              <a:lnSpc>
                <a:spcPct val="100000"/>
              </a:lnSpc>
              <a:spcBef>
                <a:spcPts val="15"/>
              </a:spcBef>
              <a:buSzPct val="44642"/>
              <a:buFont typeface="Arial MT"/>
              <a:buChar char="●"/>
              <a:tabLst>
                <a:tab pos="810260" algn="l"/>
              </a:tabLst>
            </a:pP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</a:t>
            </a:r>
            <a:r>
              <a:rPr sz="2800" u="heavy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we</a:t>
            </a:r>
            <a:r>
              <a:rPr sz="2800" u="heavy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need</a:t>
            </a:r>
            <a:r>
              <a:rPr sz="2800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machine</a:t>
            </a:r>
            <a:r>
              <a:rPr sz="2800" u="heavy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learning?</a:t>
            </a:r>
            <a:endParaRPr sz="2800">
              <a:latin typeface="Calibri"/>
              <a:cs typeface="Calibri"/>
            </a:endParaRPr>
          </a:p>
          <a:p>
            <a:pPr marL="810260" lvl="1" indent="-340360">
              <a:lnSpc>
                <a:spcPct val="100000"/>
              </a:lnSpc>
              <a:spcBef>
                <a:spcPts val="15"/>
              </a:spcBef>
              <a:buSzPct val="44642"/>
              <a:buFont typeface="Arial MT"/>
              <a:buChar char="●"/>
              <a:tabLst>
                <a:tab pos="810260" algn="l"/>
              </a:tabLst>
            </a:pP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2800" u="heavy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r>
              <a:rPr sz="2800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good</a:t>
            </a:r>
            <a:r>
              <a:rPr sz="2800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enough</a:t>
            </a:r>
            <a:r>
              <a:rPr sz="2400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?</a:t>
            </a:r>
            <a:endParaRPr sz="2400">
              <a:latin typeface="Calibri"/>
              <a:cs typeface="Calibri"/>
            </a:endParaRPr>
          </a:p>
          <a:p>
            <a:pPr marL="353060" indent="-340360">
              <a:lnSpc>
                <a:spcPct val="100000"/>
              </a:lnSpc>
              <a:spcBef>
                <a:spcPts val="2865"/>
              </a:spcBef>
              <a:buSzPct val="44642"/>
              <a:buFont typeface="Arial MT"/>
              <a:buChar char="●"/>
              <a:tabLst>
                <a:tab pos="353060" algn="l"/>
              </a:tabLst>
            </a:pP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Visualise</a:t>
            </a:r>
            <a:r>
              <a:rPr sz="2800" u="heavy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8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marL="810260" lvl="1" indent="-340360">
              <a:lnSpc>
                <a:spcPct val="100000"/>
              </a:lnSpc>
              <a:spcBef>
                <a:spcPts val="15"/>
              </a:spcBef>
              <a:buSzPct val="44642"/>
              <a:buFont typeface="Arial"/>
              <a:buChar char="●"/>
              <a:tabLst>
                <a:tab pos="810260" algn="l"/>
              </a:tabLst>
            </a:pPr>
            <a:r>
              <a:rPr sz="2800" i="1" spc="-10" dirty="0">
                <a:latin typeface="Calibri"/>
                <a:cs typeface="Calibri"/>
              </a:rPr>
              <a:t>scatter</a:t>
            </a:r>
            <a:r>
              <a:rPr sz="2800" u="heavy" spc="-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plot</a:t>
            </a:r>
            <a:r>
              <a:rPr sz="2800" u="heavy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(2D)</a:t>
            </a:r>
            <a:endParaRPr sz="2800">
              <a:latin typeface="Calibri"/>
              <a:cs typeface="Calibri"/>
            </a:endParaRPr>
          </a:p>
          <a:p>
            <a:pPr marL="810260" lvl="1" indent="-340360">
              <a:lnSpc>
                <a:spcPct val="100000"/>
              </a:lnSpc>
              <a:spcBef>
                <a:spcPts val="15"/>
              </a:spcBef>
              <a:buSzPct val="44642"/>
              <a:buFont typeface="Arial"/>
              <a:buChar char="●"/>
              <a:tabLst>
                <a:tab pos="810260" algn="l"/>
              </a:tabLst>
            </a:pPr>
            <a:r>
              <a:rPr sz="2800" i="1" dirty="0">
                <a:latin typeface="Calibri"/>
                <a:cs typeface="Calibri"/>
              </a:rPr>
              <a:t>pair</a:t>
            </a:r>
            <a:r>
              <a:rPr sz="2800" u="heavy" spc="-10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u="heavy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plots:</a:t>
            </a:r>
            <a:r>
              <a:rPr sz="2800" u="heavy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800" i="1" spc="-10" dirty="0">
                <a:latin typeface="Calibri"/>
                <a:cs typeface="Calibri"/>
              </a:rPr>
              <a:t>scatter_matrix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7493" y="-85965"/>
            <a:ext cx="3247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Look</a:t>
            </a:r>
            <a:r>
              <a:rPr spc="-7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at</a:t>
            </a:r>
            <a:r>
              <a:rPr spc="-7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your</a:t>
            </a:r>
            <a:r>
              <a:rPr spc="-70" dirty="0">
                <a:solidFill>
                  <a:srgbClr val="FFFFFF"/>
                </a:solidFill>
              </a:rPr>
              <a:t> </a:t>
            </a:r>
            <a:r>
              <a:rPr spc="-20" dirty="0">
                <a:solidFill>
                  <a:srgbClr val="FFFFFF"/>
                </a:solidFill>
              </a:rPr>
              <a:t>data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449" y="442499"/>
            <a:ext cx="8297545" cy="4625340"/>
            <a:chOff x="87449" y="442499"/>
            <a:chExt cx="8297545" cy="46253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449" y="442499"/>
              <a:ext cx="8297152" cy="142935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66750" y="1795650"/>
              <a:ext cx="3350899" cy="32716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5574" y="350877"/>
            <a:ext cx="7708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/>
              <a:t>Measuring</a:t>
            </a:r>
            <a:r>
              <a:rPr sz="3000" spc="-85" dirty="0"/>
              <a:t> </a:t>
            </a:r>
            <a:r>
              <a:rPr sz="3000" dirty="0"/>
              <a:t>performance:</a:t>
            </a:r>
            <a:r>
              <a:rPr sz="3000" spc="-75" dirty="0"/>
              <a:t> </a:t>
            </a:r>
            <a:r>
              <a:rPr sz="3000" dirty="0"/>
              <a:t>training</a:t>
            </a:r>
            <a:r>
              <a:rPr sz="3000" spc="-75" dirty="0"/>
              <a:t> </a:t>
            </a:r>
            <a:r>
              <a:rPr sz="3000" dirty="0"/>
              <a:t>and</a:t>
            </a:r>
            <a:r>
              <a:rPr sz="3000" spc="-75" dirty="0"/>
              <a:t> </a:t>
            </a:r>
            <a:r>
              <a:rPr sz="3000" dirty="0"/>
              <a:t>testing</a:t>
            </a:r>
            <a:r>
              <a:rPr sz="3000" spc="-75" dirty="0"/>
              <a:t> </a:t>
            </a:r>
            <a:r>
              <a:rPr sz="3000" spc="-20" dirty="0"/>
              <a:t>data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605157" y="1107724"/>
            <a:ext cx="7695565" cy="38735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235" marR="5080" indent="-344170">
              <a:lnSpc>
                <a:spcPct val="100299"/>
              </a:lnSpc>
              <a:spcBef>
                <a:spcPts val="9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b="1" dirty="0">
                <a:latin typeface="Calibri"/>
                <a:cs typeface="Calibri"/>
              </a:rPr>
              <a:t>Aim: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spc="-105" dirty="0">
                <a:latin typeface="Calibri"/>
                <a:cs typeface="Calibri"/>
              </a:rPr>
              <a:t>To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build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machine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learning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that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predict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species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iris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new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of </a:t>
            </a:r>
            <a:r>
              <a:rPr sz="2600" spc="-10" dirty="0">
                <a:latin typeface="Calibri"/>
                <a:cs typeface="Calibri"/>
              </a:rPr>
              <a:t>measurements.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ct val="100000"/>
              </a:lnSpc>
              <a:spcBef>
                <a:spcPts val="3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Will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our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b="1" spc="-20" dirty="0">
                <a:latin typeface="Calibri"/>
                <a:cs typeface="Calibri"/>
              </a:rPr>
              <a:t>generalize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well?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How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evaluate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its</a:t>
            </a:r>
            <a:endParaRPr sz="2600">
              <a:latin typeface="Calibri"/>
              <a:cs typeface="Calibri"/>
            </a:endParaRPr>
          </a:p>
          <a:p>
            <a:pPr marL="356235">
              <a:lnSpc>
                <a:spcPct val="100000"/>
              </a:lnSpc>
              <a:spcBef>
                <a:spcPts val="30"/>
              </a:spcBef>
            </a:pPr>
            <a:r>
              <a:rPr sz="2600" b="1" spc="-10" dirty="0">
                <a:latin typeface="Calibri"/>
                <a:cs typeface="Calibri"/>
              </a:rPr>
              <a:t>performance</a:t>
            </a:r>
            <a:r>
              <a:rPr sz="2600" spc="-10" dirty="0">
                <a:latin typeface="Calibri"/>
                <a:cs typeface="Calibri"/>
              </a:rPr>
              <a:t>?</a:t>
            </a:r>
            <a:endParaRPr sz="2600">
              <a:latin typeface="Calibri"/>
              <a:cs typeface="Calibri"/>
            </a:endParaRPr>
          </a:p>
          <a:p>
            <a:pPr marL="813435" lvl="1" indent="-397510">
              <a:lnSpc>
                <a:spcPts val="2865"/>
              </a:lnSpc>
              <a:spcBef>
                <a:spcPts val="35"/>
              </a:spcBef>
              <a:buFont typeface="Arial MT"/>
              <a:buChar char="–"/>
              <a:tabLst>
                <a:tab pos="81343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build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model!</a:t>
            </a:r>
            <a:endParaRPr sz="2400">
              <a:latin typeface="Calibri"/>
              <a:cs typeface="Calibri"/>
            </a:endParaRPr>
          </a:p>
          <a:p>
            <a:pPr marL="813435" lvl="1" indent="-397510">
              <a:lnSpc>
                <a:spcPts val="2845"/>
              </a:lnSpc>
              <a:buFont typeface="Arial MT"/>
              <a:buChar char="–"/>
              <a:tabLst>
                <a:tab pos="81343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labels</a:t>
            </a:r>
            <a:endParaRPr sz="2400">
              <a:latin typeface="Calibri"/>
              <a:cs typeface="Calibri"/>
            </a:endParaRPr>
          </a:p>
          <a:p>
            <a:pPr marL="356235" indent="-343535">
              <a:lnSpc>
                <a:spcPts val="3100"/>
              </a:lnSpc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Split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labelled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data:</a:t>
            </a:r>
            <a:endParaRPr sz="2600">
              <a:latin typeface="Calibri"/>
              <a:cs typeface="Calibri"/>
            </a:endParaRPr>
          </a:p>
          <a:p>
            <a:pPr marL="813435" lvl="1" indent="-397510">
              <a:lnSpc>
                <a:spcPts val="2865"/>
              </a:lnSpc>
              <a:spcBef>
                <a:spcPts val="40"/>
              </a:spcBef>
              <a:buFont typeface="Arial MT"/>
              <a:buChar char="–"/>
              <a:tabLst>
                <a:tab pos="813435" algn="l"/>
              </a:tabLst>
            </a:pPr>
            <a:r>
              <a:rPr sz="2400" dirty="0">
                <a:latin typeface="Calibri"/>
                <a:cs typeface="Calibri"/>
              </a:rPr>
              <a:t>training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training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set</a:t>
            </a:r>
            <a:endParaRPr sz="2400">
              <a:latin typeface="Calibri"/>
              <a:cs typeface="Calibri"/>
            </a:endParaRPr>
          </a:p>
          <a:p>
            <a:pPr marL="813435" lvl="1" indent="-397510">
              <a:lnSpc>
                <a:spcPts val="2865"/>
              </a:lnSpc>
              <a:buFont typeface="Arial MT"/>
              <a:buChar char="–"/>
              <a:tabLst>
                <a:tab pos="813435" algn="l"/>
              </a:tabLst>
            </a:pPr>
            <a:r>
              <a:rPr sz="2400" dirty="0">
                <a:latin typeface="Calibri"/>
                <a:cs typeface="Calibri"/>
              </a:rPr>
              <a:t>test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test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set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44700">
              <a:lnSpc>
                <a:spcPct val="100000"/>
              </a:lnSpc>
              <a:spcBef>
                <a:spcPts val="100"/>
              </a:spcBef>
            </a:pPr>
            <a:r>
              <a:rPr sz="3000" spc="-20" dirty="0"/>
              <a:t>Performance</a:t>
            </a:r>
            <a:r>
              <a:rPr sz="3000" spc="-40" dirty="0"/>
              <a:t> </a:t>
            </a:r>
            <a:r>
              <a:rPr sz="3000" dirty="0"/>
              <a:t>of</a:t>
            </a:r>
            <a:r>
              <a:rPr sz="3000" spc="-35" dirty="0"/>
              <a:t> </a:t>
            </a:r>
            <a:r>
              <a:rPr sz="3000" dirty="0"/>
              <a:t>a</a:t>
            </a:r>
            <a:r>
              <a:rPr sz="3000" spc="-35" dirty="0"/>
              <a:t> </a:t>
            </a:r>
            <a:r>
              <a:rPr sz="3000" dirty="0"/>
              <a:t>ML</a:t>
            </a:r>
            <a:r>
              <a:rPr sz="3000" spc="-35" dirty="0"/>
              <a:t> </a:t>
            </a:r>
            <a:r>
              <a:rPr sz="3000" spc="-10" dirty="0"/>
              <a:t>model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634347" y="1298280"/>
            <a:ext cx="4727575" cy="2590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3855" marR="5080" indent="-35179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576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F497D"/>
                </a:solidFill>
                <a:latin typeface="Calibri"/>
                <a:cs typeface="Calibri"/>
              </a:rPr>
              <a:t>measure</a:t>
            </a:r>
            <a:r>
              <a:rPr sz="2800" spc="-3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F497D"/>
                </a:solidFill>
                <a:latin typeface="Calibri"/>
                <a:cs typeface="Calibri"/>
              </a:rPr>
              <a:t>of</a:t>
            </a:r>
            <a:r>
              <a:rPr sz="2800" spc="-2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1F497D"/>
                </a:solidFill>
                <a:latin typeface="Calibri"/>
                <a:cs typeface="Calibri"/>
              </a:rPr>
              <a:t>whether 	</a:t>
            </a:r>
            <a:r>
              <a:rPr sz="2800" dirty="0">
                <a:solidFill>
                  <a:srgbClr val="1F497D"/>
                </a:solidFill>
                <a:latin typeface="Calibri"/>
                <a:cs typeface="Calibri"/>
              </a:rPr>
              <a:t>an</a:t>
            </a:r>
            <a:r>
              <a:rPr sz="2800" spc="-6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F497D"/>
                </a:solidFill>
                <a:latin typeface="Calibri"/>
                <a:cs typeface="Calibri"/>
              </a:rPr>
              <a:t>algorithm</a:t>
            </a:r>
            <a:r>
              <a:rPr sz="280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F497D"/>
                </a:solidFill>
                <a:latin typeface="Calibri"/>
                <a:cs typeface="Calibri"/>
              </a:rPr>
              <a:t>will</a:t>
            </a:r>
            <a:r>
              <a:rPr sz="280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1F497D"/>
                </a:solidFill>
                <a:latin typeface="Calibri"/>
                <a:cs typeface="Calibri"/>
              </a:rPr>
              <a:t>perform</a:t>
            </a:r>
            <a:r>
              <a:rPr sz="280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1F497D"/>
                </a:solidFill>
                <a:latin typeface="Calibri"/>
                <a:cs typeface="Calibri"/>
              </a:rPr>
              <a:t>well 	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new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evaluation 	</a:t>
            </a:r>
            <a:r>
              <a:rPr sz="2800" b="1" dirty="0">
                <a:latin typeface="Calibri"/>
                <a:cs typeface="Calibri"/>
              </a:rPr>
              <a:t>on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the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validation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spc="-25" dirty="0">
                <a:latin typeface="Calibri"/>
                <a:cs typeface="Calibri"/>
              </a:rPr>
              <a:t>set</a:t>
            </a:r>
            <a:endParaRPr sz="2800">
              <a:latin typeface="Calibri"/>
              <a:cs typeface="Calibri"/>
            </a:endParaRPr>
          </a:p>
          <a:p>
            <a:pPr marL="363855" marR="287020" indent="-351790" algn="just">
              <a:lnSpc>
                <a:spcPct val="100400"/>
              </a:lnSpc>
              <a:buFont typeface="Arial MT"/>
              <a:buChar char="•"/>
              <a:tabLst>
                <a:tab pos="365760" algn="l"/>
              </a:tabLst>
            </a:pPr>
            <a:r>
              <a:rPr sz="2800" dirty="0">
                <a:latin typeface="Calibri"/>
                <a:cs typeface="Calibri"/>
              </a:rPr>
              <a:t>We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expect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simple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models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generalise</a:t>
            </a:r>
            <a:r>
              <a:rPr sz="2800" spc="-1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better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0771" y="1436600"/>
            <a:ext cx="2616403" cy="30269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3905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Training</a:t>
            </a:r>
            <a:r>
              <a:rPr spc="-95" dirty="0"/>
              <a:t> </a:t>
            </a:r>
            <a:r>
              <a:rPr dirty="0"/>
              <a:t>and</a:t>
            </a:r>
            <a:r>
              <a:rPr spc="-95" dirty="0"/>
              <a:t> </a:t>
            </a:r>
            <a:r>
              <a:rPr dirty="0"/>
              <a:t>testing</a:t>
            </a:r>
            <a:r>
              <a:rPr spc="-95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6099" y="1400175"/>
            <a:ext cx="6702124" cy="31432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6224" y="462619"/>
            <a:ext cx="4084954" cy="99885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665480" marR="5080" indent="-653415">
              <a:lnSpc>
                <a:spcPts val="3829"/>
              </a:lnSpc>
              <a:spcBef>
                <a:spcPts val="204"/>
              </a:spcBef>
            </a:pPr>
            <a:r>
              <a:rPr sz="3200" dirty="0"/>
              <a:t>The</a:t>
            </a:r>
            <a:r>
              <a:rPr sz="3200" spc="-95" dirty="0"/>
              <a:t> </a:t>
            </a:r>
            <a:r>
              <a:rPr sz="3200" spc="-65" dirty="0"/>
              <a:t>k-</a:t>
            </a:r>
            <a:r>
              <a:rPr sz="3200" dirty="0"/>
              <a:t>Nearest</a:t>
            </a:r>
            <a:r>
              <a:rPr sz="3200" spc="-90" dirty="0"/>
              <a:t> </a:t>
            </a:r>
            <a:r>
              <a:rPr sz="3200" spc="-10" dirty="0"/>
              <a:t>Neighbors </a:t>
            </a:r>
            <a:r>
              <a:rPr sz="3200" spc="-55" dirty="0"/>
              <a:t>(k-</a:t>
            </a:r>
            <a:r>
              <a:rPr sz="3200" dirty="0"/>
              <a:t>NN)</a:t>
            </a:r>
            <a:r>
              <a:rPr sz="3200" spc="5" dirty="0"/>
              <a:t> </a:t>
            </a:r>
            <a:r>
              <a:rPr sz="3200" spc="-10" dirty="0"/>
              <a:t>algorithm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87282" y="1412521"/>
            <a:ext cx="4446905" cy="361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marR="5080" indent="-34417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simplest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machine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learning algorithm</a:t>
            </a:r>
            <a:endParaRPr sz="2600">
              <a:latin typeface="Calibri"/>
              <a:cs typeface="Calibri"/>
            </a:endParaRPr>
          </a:p>
          <a:p>
            <a:pPr marL="357505" indent="-344805" algn="just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7505" algn="l"/>
              </a:tabLst>
            </a:pPr>
            <a:r>
              <a:rPr sz="2600" b="1" spc="-30" dirty="0">
                <a:latin typeface="Calibri"/>
                <a:cs typeface="Calibri"/>
              </a:rPr>
              <a:t>Training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(Build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model):</a:t>
            </a:r>
            <a:endParaRPr sz="2600">
              <a:latin typeface="Calibri"/>
              <a:cs typeface="Calibri"/>
            </a:endParaRPr>
          </a:p>
          <a:p>
            <a:pPr marL="356235" algn="just">
              <a:lnSpc>
                <a:spcPct val="100000"/>
              </a:lnSpc>
              <a:spcBef>
                <a:spcPts val="30"/>
              </a:spcBef>
            </a:pPr>
            <a:r>
              <a:rPr sz="2600" b="1" dirty="0">
                <a:solidFill>
                  <a:srgbClr val="002060"/>
                </a:solidFill>
                <a:latin typeface="Calibri"/>
                <a:cs typeface="Calibri"/>
              </a:rPr>
              <a:t>Storing</a:t>
            </a:r>
            <a:r>
              <a:rPr sz="2600" b="1" spc="-8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02060"/>
                </a:solidFill>
                <a:latin typeface="Calibri"/>
                <a:cs typeface="Calibri"/>
              </a:rPr>
              <a:t>the</a:t>
            </a:r>
            <a:r>
              <a:rPr sz="2600" b="1" spc="-8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2060"/>
                </a:solidFill>
                <a:latin typeface="Calibri"/>
                <a:cs typeface="Calibri"/>
              </a:rPr>
              <a:t>training</a:t>
            </a:r>
            <a:r>
              <a:rPr sz="2600" b="1" spc="-8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02060"/>
                </a:solidFill>
                <a:latin typeface="Calibri"/>
                <a:cs typeface="Calibri"/>
              </a:rPr>
              <a:t>dataset</a:t>
            </a:r>
            <a:endParaRPr sz="2600">
              <a:latin typeface="Calibri"/>
              <a:cs typeface="Calibri"/>
            </a:endParaRPr>
          </a:p>
          <a:p>
            <a:pPr marL="356235" marR="8890" indent="-344170" algn="just">
              <a:lnSpc>
                <a:spcPts val="3150"/>
              </a:lnSpc>
              <a:spcBef>
                <a:spcPts val="11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b="1" spc="-10" dirty="0">
                <a:latin typeface="Calibri"/>
                <a:cs typeface="Calibri"/>
              </a:rPr>
              <a:t>Inference</a:t>
            </a:r>
            <a:r>
              <a:rPr sz="2600" b="1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(Make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prediction): </a:t>
            </a:r>
            <a:r>
              <a:rPr sz="2600" dirty="0">
                <a:latin typeface="Calibri"/>
                <a:cs typeface="Calibri"/>
              </a:rPr>
              <a:t>Find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closest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points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in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training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dataset</a:t>
            </a:r>
            <a:endParaRPr sz="2600">
              <a:latin typeface="Calibri"/>
              <a:cs typeface="Calibri"/>
            </a:endParaRPr>
          </a:p>
          <a:p>
            <a:pPr marL="356235" marR="95885" indent="-344170" algn="just">
              <a:lnSpc>
                <a:spcPts val="3150"/>
              </a:lnSpc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Simplest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version: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nearest neighbor.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82900" y="-6"/>
            <a:ext cx="3726179" cy="5033645"/>
            <a:chOff x="5282900" y="-6"/>
            <a:chExt cx="3726179" cy="50336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16887" y="-6"/>
              <a:ext cx="3657977" cy="25016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2900" y="2531675"/>
              <a:ext cx="3725960" cy="25016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3414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k-</a:t>
            </a:r>
            <a:r>
              <a:rPr dirty="0"/>
              <a:t>Neighbors</a:t>
            </a:r>
            <a:r>
              <a:rPr spc="-105" dirty="0"/>
              <a:t> </a:t>
            </a:r>
            <a:r>
              <a:rPr spc="-10" dirty="0"/>
              <a:t>classification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7890" y="1298962"/>
            <a:ext cx="6666865" cy="1757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" indent="-33464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47345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considering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neighbor,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use</a:t>
            </a:r>
            <a:endParaRPr sz="2400">
              <a:latin typeface="Calibri"/>
              <a:cs typeface="Calibri"/>
            </a:endParaRPr>
          </a:p>
          <a:p>
            <a:pPr marL="347980">
              <a:lnSpc>
                <a:spcPts val="2870"/>
              </a:lnSpc>
              <a:spcBef>
                <a:spcPts val="5"/>
              </a:spcBef>
            </a:pPr>
            <a:r>
              <a:rPr sz="2400" i="1" dirty="0">
                <a:solidFill>
                  <a:srgbClr val="1F497D"/>
                </a:solidFill>
                <a:latin typeface="Calibri"/>
                <a:cs typeface="Calibri"/>
              </a:rPr>
              <a:t>voting</a:t>
            </a:r>
            <a:r>
              <a:rPr sz="2400" i="1" spc="-4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assign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label</a:t>
            </a:r>
            <a:endParaRPr sz="2400">
              <a:latin typeface="Calibri"/>
              <a:cs typeface="Calibri"/>
            </a:endParaRPr>
          </a:p>
          <a:p>
            <a:pPr marL="805180" marR="124460" lvl="1" indent="-384175">
              <a:lnSpc>
                <a:spcPts val="2630"/>
              </a:lnSpc>
              <a:spcBef>
                <a:spcPts val="85"/>
              </a:spcBef>
              <a:buFont typeface="Arial MT"/>
              <a:buChar char="–"/>
              <a:tabLst>
                <a:tab pos="805180" algn="l"/>
              </a:tabLst>
            </a:pPr>
            <a:r>
              <a:rPr sz="2200" dirty="0">
                <a:latin typeface="Calibri"/>
                <a:cs typeface="Calibri"/>
              </a:rPr>
              <a:t>For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each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test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point,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count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how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neighbors </a:t>
            </a:r>
            <a:r>
              <a:rPr sz="2200" dirty="0">
                <a:latin typeface="Calibri"/>
                <a:cs typeface="Calibri"/>
              </a:rPr>
              <a:t>belong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0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  <a:p>
            <a:pPr marL="804545" lvl="1" indent="-383540">
              <a:lnSpc>
                <a:spcPts val="2535"/>
              </a:lnSpc>
              <a:buFont typeface="Arial MT"/>
              <a:buChar char="–"/>
              <a:tabLst>
                <a:tab pos="804545" algn="l"/>
              </a:tabLst>
            </a:pPr>
            <a:r>
              <a:rPr sz="2200" dirty="0">
                <a:latin typeface="Calibri"/>
                <a:cs typeface="Calibri"/>
              </a:rPr>
              <a:t>We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assign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class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more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frequent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06225" y="3084400"/>
            <a:ext cx="3537774" cy="2059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309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3-</a:t>
            </a:r>
            <a:r>
              <a:rPr dirty="0"/>
              <a:t>Neighbors</a:t>
            </a:r>
            <a:r>
              <a:rPr spc="-110" dirty="0"/>
              <a:t> </a:t>
            </a:r>
            <a:r>
              <a:rPr spc="-10" dirty="0"/>
              <a:t>classification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0850" y="1105650"/>
            <a:ext cx="6203450" cy="40378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465;g28673b3666c_0_9">
            <a:extLst>
              <a:ext uri="{FF2B5EF4-FFF2-40B4-BE49-F238E27FC236}">
                <a16:creationId xmlns:a16="http://schemas.microsoft.com/office/drawing/2014/main" id="{F3626EAA-D67A-F8BD-CE36-EAD71983EF5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43000" y="1276350"/>
            <a:ext cx="7038975" cy="3133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1978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72;g1e93966ebdc_0_348">
            <a:extLst>
              <a:ext uri="{FF2B5EF4-FFF2-40B4-BE49-F238E27FC236}">
                <a16:creationId xmlns:a16="http://schemas.microsoft.com/office/drawing/2014/main" id="{392BEFA9-6EDB-A3F0-DF71-10E31C5E89B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0200" y="819701"/>
            <a:ext cx="5196326" cy="43237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737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79;g1e93966ebdc_0_355">
            <a:extLst>
              <a:ext uri="{FF2B5EF4-FFF2-40B4-BE49-F238E27FC236}">
                <a16:creationId xmlns:a16="http://schemas.microsoft.com/office/drawing/2014/main" id="{B2CA7132-062C-3E53-848A-116721148E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14600" y="666750"/>
            <a:ext cx="4876597" cy="43238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02367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86;g1e93966ebdc_0_362">
            <a:extLst>
              <a:ext uri="{FF2B5EF4-FFF2-40B4-BE49-F238E27FC236}">
                <a16:creationId xmlns:a16="http://schemas.microsoft.com/office/drawing/2014/main" id="{96FF851E-D765-5287-3A4E-5C8BF606E3E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86000" y="392337"/>
            <a:ext cx="4910400" cy="4358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3426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F96D6-A7C0-83BB-C48A-A0A44806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493;g1e93966ebdc_0_341">
            <a:extLst>
              <a:ext uri="{FF2B5EF4-FFF2-40B4-BE49-F238E27FC236}">
                <a16:creationId xmlns:a16="http://schemas.microsoft.com/office/drawing/2014/main" id="{3D6DABD0-6F11-F18A-8F92-76CFB6D05A27}"/>
              </a:ext>
            </a:extLst>
          </p:cNvPr>
          <p:cNvSpPr txBox="1">
            <a:spLocks/>
          </p:cNvSpPr>
          <p:nvPr/>
        </p:nvSpPr>
        <p:spPr>
          <a:xfrm>
            <a:off x="314325" y="1890994"/>
            <a:ext cx="7936650" cy="27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noAutofit/>
          </a:bodyPr>
          <a:lstStyle>
            <a:lvl1pPr marL="0">
              <a:defRPr sz="2600" b="0" i="0">
                <a:solidFill>
                  <a:schemeClr val="tx2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04800" algn="l" rtl="0">
              <a:lnSpc>
                <a:spcPct val="90000"/>
              </a:lnSpc>
              <a:buClr>
                <a:schemeClr val="dk1"/>
              </a:buClr>
              <a:buSzPts val="2800"/>
              <a:buFont typeface="Trebuchet MS"/>
              <a:buChar char="●"/>
            </a:pPr>
            <a:r>
              <a:rPr lang="en-US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Distancia Euclidiana</a:t>
            </a:r>
          </a:p>
          <a:p>
            <a:pPr algn="l" rtl="0">
              <a:lnSpc>
                <a:spcPct val="90000"/>
              </a:lnSpc>
              <a:buSzPts val="2000"/>
            </a:pPr>
            <a:endParaRPr lang="en-US" sz="2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l" rtl="0">
              <a:lnSpc>
                <a:spcPct val="90000"/>
              </a:lnSpc>
              <a:buSzPts val="2000"/>
            </a:pPr>
            <a:endParaRPr lang="en-US" sz="2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l" rtl="0">
              <a:lnSpc>
                <a:spcPct val="90000"/>
              </a:lnSpc>
              <a:buSzPts val="2000"/>
            </a:pPr>
            <a:endParaRPr lang="en-US" sz="2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indent="-304800" algn="l" rtl="0">
              <a:lnSpc>
                <a:spcPct val="90000"/>
              </a:lnSpc>
              <a:buClr>
                <a:schemeClr val="dk1"/>
              </a:buClr>
              <a:buSzPts val="2800"/>
              <a:buFont typeface="Trebuchet MS"/>
              <a:buChar char="●"/>
            </a:pPr>
            <a:r>
              <a:rPr lang="en-US" sz="21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Distancia Manhattan</a:t>
            </a:r>
          </a:p>
          <a:p>
            <a:pPr algn="l" rtl="0">
              <a:lnSpc>
                <a:spcPct val="90000"/>
              </a:lnSpc>
              <a:buSzPts val="2000"/>
            </a:pPr>
            <a:endParaRPr lang="en-US" sz="2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l" rtl="0">
              <a:lnSpc>
                <a:spcPct val="90000"/>
              </a:lnSpc>
              <a:buSzPts val="2000"/>
            </a:pPr>
            <a:endParaRPr lang="en-US" sz="2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l" rtl="0">
              <a:lnSpc>
                <a:spcPct val="90000"/>
              </a:lnSpc>
              <a:buClr>
                <a:schemeClr val="dk1"/>
              </a:buClr>
              <a:buSzPts val="1100"/>
            </a:pPr>
            <a:endParaRPr lang="en-US" sz="21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l" rtl="0">
              <a:lnSpc>
                <a:spcPct val="90000"/>
              </a:lnSpc>
              <a:buSzPts val="2000"/>
            </a:pPr>
            <a:endParaRPr lang="en-US" sz="21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1" name="Google Shape;494;g1e93966ebdc_0_341">
            <a:extLst>
              <a:ext uri="{FF2B5EF4-FFF2-40B4-BE49-F238E27FC236}">
                <a16:creationId xmlns:a16="http://schemas.microsoft.com/office/drawing/2014/main" id="{7B224156-58CF-736E-F05E-2CB25704A0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6800" y="2325150"/>
            <a:ext cx="5152331" cy="55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495;g1e93966ebdc_0_341">
            <a:extLst>
              <a:ext uri="{FF2B5EF4-FFF2-40B4-BE49-F238E27FC236}">
                <a16:creationId xmlns:a16="http://schemas.microsoft.com/office/drawing/2014/main" id="{C9A61647-CEBE-89E4-0A73-3E9218E7DA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6800" y="3700107"/>
            <a:ext cx="4858594" cy="449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496;g1e93966ebdc_0_341">
            <a:extLst>
              <a:ext uri="{FF2B5EF4-FFF2-40B4-BE49-F238E27FC236}">
                <a16:creationId xmlns:a16="http://schemas.microsoft.com/office/drawing/2014/main" id="{BB35EB60-D277-A20D-5098-13A11FE6397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66619" y="1630950"/>
            <a:ext cx="2763056" cy="2518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59577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B022C8F4-4FD0-13AD-2A61-3C7CDC076F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751969"/>
              </p:ext>
            </p:extLst>
          </p:nvPr>
        </p:nvGraphicFramePr>
        <p:xfrm>
          <a:off x="1643613" y="1733550"/>
          <a:ext cx="5856774" cy="2174892"/>
        </p:xfrm>
        <a:graphic>
          <a:graphicData uri="http://schemas.openxmlformats.org/drawingml/2006/table">
            <a:tbl>
              <a:tblPr/>
              <a:tblGrid>
                <a:gridCol w="1952258">
                  <a:extLst>
                    <a:ext uri="{9D8B030D-6E8A-4147-A177-3AD203B41FA5}">
                      <a16:colId xmlns:a16="http://schemas.microsoft.com/office/drawing/2014/main" val="2246805252"/>
                    </a:ext>
                  </a:extLst>
                </a:gridCol>
                <a:gridCol w="1952258">
                  <a:extLst>
                    <a:ext uri="{9D8B030D-6E8A-4147-A177-3AD203B41FA5}">
                      <a16:colId xmlns:a16="http://schemas.microsoft.com/office/drawing/2014/main" val="4236829874"/>
                    </a:ext>
                  </a:extLst>
                </a:gridCol>
                <a:gridCol w="1952258">
                  <a:extLst>
                    <a:ext uri="{9D8B030D-6E8A-4147-A177-3AD203B41FA5}">
                      <a16:colId xmlns:a16="http://schemas.microsoft.com/office/drawing/2014/main" val="3727136136"/>
                    </a:ext>
                  </a:extLst>
                </a:gridCol>
              </a:tblGrid>
              <a:tr h="261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/>
                        <a:t>Característica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 b="1"/>
                        <a:t>Distancia Euclidiana</a:t>
                      </a:r>
                      <a:endParaRPr lang="es-CO" sz="1300"/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 b="1"/>
                        <a:t>Distancia Manhattan</a:t>
                      </a:r>
                      <a:endParaRPr lang="es-CO" sz="1300"/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4983180"/>
                  </a:ext>
                </a:extLst>
              </a:tr>
              <a:tr h="457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/>
                        <a:t>Tipo de camino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 dirty="0"/>
                        <a:t>Línea recta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dirty="0"/>
                        <a:t>Camino en ángulos rectos (rejilla)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7653040"/>
                  </a:ext>
                </a:extLst>
              </a:tr>
              <a:tr h="261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/>
                        <a:t>También llamada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/>
                        <a:t>L2 norm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/>
                        <a:t>L1 norm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380172"/>
                  </a:ext>
                </a:extLst>
              </a:tr>
              <a:tr h="457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/>
                        <a:t>Sensibilidad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/>
                        <a:t>Más sensible a valores extremos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/>
                        <a:t>Más robusta frente a outliers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628782"/>
                  </a:ext>
                </a:extLst>
              </a:tr>
              <a:tr h="2612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/>
                        <a:t>Geometría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/>
                        <a:t>Esferas (círculos en 2D)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/>
                        <a:t>Diamantes (rombos en 2D)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4079482"/>
                  </a:ext>
                </a:extLst>
              </a:tr>
              <a:tr h="4571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/>
                        <a:t>Usos comunes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300"/>
                        <a:t>Espacios continuos, clustering (K-Means)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300" dirty="0"/>
                        <a:t>Espacios discretos, regresión Lasso, KNN L1</a:t>
                      </a:r>
                    </a:p>
                  </a:txBody>
                  <a:tcPr marL="65302" marR="65302" marT="32651" marB="326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893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62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03;g1e93966ebdc_0_373">
            <a:extLst>
              <a:ext uri="{FF2B5EF4-FFF2-40B4-BE49-F238E27FC236}">
                <a16:creationId xmlns:a16="http://schemas.microsoft.com/office/drawing/2014/main" id="{99D998E2-F5CD-FD06-B4CE-4FA682B77AA5}"/>
              </a:ext>
            </a:extLst>
          </p:cNvPr>
          <p:cNvSpPr txBox="1">
            <a:spLocks/>
          </p:cNvSpPr>
          <p:nvPr/>
        </p:nvSpPr>
        <p:spPr>
          <a:xfrm>
            <a:off x="-580850" y="1693800"/>
            <a:ext cx="9724850" cy="3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>
              <a:defRPr sz="2600" b="0" i="0">
                <a:solidFill>
                  <a:schemeClr val="tx2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06400" algn="l" rtl="0">
              <a:lnSpc>
                <a:spcPct val="90000"/>
              </a:lnSpc>
              <a:buClr>
                <a:schemeClr val="dk1"/>
              </a:buClr>
              <a:buSzPts val="2800"/>
              <a:buFont typeface="Trebuchet MS"/>
              <a:buChar char="●"/>
            </a:pPr>
            <a:r>
              <a:rPr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Tomate (sweetness = 6, crunchiness = 4)</a:t>
            </a:r>
          </a:p>
          <a:p>
            <a:pPr algn="l" rtl="0">
              <a:lnSpc>
                <a:spcPct val="90000"/>
              </a:lnSpc>
              <a:buSzPts val="2000"/>
            </a:pPr>
            <a:endParaRPr lang="en-US"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l" rtl="0">
              <a:lnSpc>
                <a:spcPct val="90000"/>
              </a:lnSpc>
              <a:buClr>
                <a:schemeClr val="dk1"/>
              </a:buClr>
              <a:buSzPts val="1100"/>
              <a:buFont typeface="Arial"/>
              <a:buNone/>
            </a:pPr>
            <a:endParaRPr lang="en-US" sz="2800"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l" rtl="0">
              <a:lnSpc>
                <a:spcPct val="90000"/>
              </a:lnSpc>
              <a:buSzPts val="2000"/>
            </a:pPr>
            <a:endParaRPr lang="en-US" sz="28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4" name="Google Shape;504;g1e93966ebdc_0_373">
            <a:extLst>
              <a:ext uri="{FF2B5EF4-FFF2-40B4-BE49-F238E27FC236}">
                <a16:creationId xmlns:a16="http://schemas.microsoft.com/office/drawing/2014/main" id="{37EA3E58-0261-D80F-DACE-CB581999F3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266951"/>
            <a:ext cx="8490268" cy="20149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45730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68AC2-E5C5-BDFD-88ED-C1456CE53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11;g1e93966ebdc_0_381">
            <a:extLst>
              <a:ext uri="{FF2B5EF4-FFF2-40B4-BE49-F238E27FC236}">
                <a16:creationId xmlns:a16="http://schemas.microsoft.com/office/drawing/2014/main" id="{469BC394-94F2-D99E-6E73-E678F1B4E93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4400" y="1657350"/>
            <a:ext cx="7091182" cy="3057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67459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FB975AF-06C7-E666-45B2-4235E8E1B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627" y="823668"/>
            <a:ext cx="6058746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1735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100"/>
              </a:spcBef>
            </a:pPr>
            <a:r>
              <a:rPr dirty="0"/>
              <a:t>Building</a:t>
            </a:r>
            <a:r>
              <a:rPr spc="-75" dirty="0"/>
              <a:t> </a:t>
            </a:r>
            <a:r>
              <a:rPr dirty="0"/>
              <a:t>your</a:t>
            </a:r>
            <a:r>
              <a:rPr spc="-70" dirty="0"/>
              <a:t> </a:t>
            </a:r>
            <a:r>
              <a:rPr dirty="0"/>
              <a:t>first</a:t>
            </a:r>
            <a:r>
              <a:rPr spc="-75" dirty="0"/>
              <a:t> </a:t>
            </a:r>
            <a:r>
              <a:rPr dirty="0"/>
              <a:t>model:</a:t>
            </a:r>
            <a:r>
              <a:rPr spc="-70" dirty="0"/>
              <a:t> </a:t>
            </a:r>
            <a:r>
              <a:rPr dirty="0"/>
              <a:t>k</a:t>
            </a:r>
            <a:r>
              <a:rPr spc="-75" dirty="0"/>
              <a:t> </a:t>
            </a:r>
            <a:r>
              <a:rPr dirty="0"/>
              <a:t>nearest</a:t>
            </a:r>
            <a:r>
              <a:rPr spc="-70" dirty="0"/>
              <a:t> </a:t>
            </a:r>
            <a:r>
              <a:rPr spc="-10" dirty="0"/>
              <a:t>neighbors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1600" y="1800225"/>
            <a:ext cx="6439775" cy="155862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92375">
              <a:lnSpc>
                <a:spcPct val="100000"/>
              </a:lnSpc>
              <a:spcBef>
                <a:spcPts val="100"/>
              </a:spcBef>
            </a:pPr>
            <a:r>
              <a:rPr dirty="0"/>
              <a:t>Making</a:t>
            </a:r>
            <a:r>
              <a:rPr spc="-30" dirty="0"/>
              <a:t> </a:t>
            </a:r>
            <a:r>
              <a:rPr spc="-10" dirty="0"/>
              <a:t>predictions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0537" y="1701512"/>
            <a:ext cx="4662924" cy="20781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Performance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ML</a:t>
            </a:r>
            <a:r>
              <a:rPr spc="-40" dirty="0"/>
              <a:t> </a:t>
            </a:r>
            <a:r>
              <a:rPr dirty="0"/>
              <a:t>model:</a:t>
            </a:r>
            <a:r>
              <a:rPr spc="-10" dirty="0"/>
              <a:t> </a:t>
            </a:r>
            <a:r>
              <a:rPr b="1" i="1" spc="-10" dirty="0">
                <a:latin typeface="Calibri"/>
                <a:cs typeface="Calibri"/>
              </a:rPr>
              <a:t>Generalisation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3957" y="1482021"/>
            <a:ext cx="5158105" cy="32169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56235" marR="5080" indent="-344170">
              <a:lnSpc>
                <a:spcPct val="100499"/>
              </a:lnSpc>
              <a:spcBef>
                <a:spcPts val="85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able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make </a:t>
            </a:r>
            <a:r>
              <a:rPr sz="2600" spc="-10" dirty="0">
                <a:solidFill>
                  <a:srgbClr val="063763"/>
                </a:solidFill>
                <a:latin typeface="Calibri"/>
                <a:cs typeface="Calibri"/>
              </a:rPr>
              <a:t>accurate</a:t>
            </a:r>
            <a:r>
              <a:rPr sz="2600" spc="-9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63763"/>
                </a:solidFill>
                <a:latin typeface="Calibri"/>
                <a:cs typeface="Calibri"/>
              </a:rPr>
              <a:t>predictions</a:t>
            </a:r>
            <a:r>
              <a:rPr sz="2600" spc="-9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63763"/>
                </a:solidFill>
                <a:latin typeface="Calibri"/>
                <a:cs typeface="Calibri"/>
              </a:rPr>
              <a:t>on</a:t>
            </a:r>
            <a:r>
              <a:rPr sz="2600" spc="-9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63763"/>
                </a:solidFill>
                <a:latin typeface="Calibri"/>
                <a:cs typeface="Calibri"/>
              </a:rPr>
              <a:t>unseen </a:t>
            </a:r>
            <a:r>
              <a:rPr sz="2600" dirty="0">
                <a:solidFill>
                  <a:srgbClr val="063763"/>
                </a:solidFill>
                <a:latin typeface="Calibri"/>
                <a:cs typeface="Calibri"/>
              </a:rPr>
              <a:t>data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say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able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63763"/>
                </a:solidFill>
                <a:latin typeface="Calibri"/>
                <a:cs typeface="Calibri"/>
              </a:rPr>
              <a:t>generalize </a:t>
            </a:r>
            <a:r>
              <a:rPr sz="2600" b="1" dirty="0">
                <a:solidFill>
                  <a:srgbClr val="063763"/>
                </a:solidFill>
                <a:latin typeface="Calibri"/>
                <a:cs typeface="Calibri"/>
              </a:rPr>
              <a:t>from</a:t>
            </a:r>
            <a:r>
              <a:rPr sz="2600" b="1" spc="-7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63763"/>
                </a:solidFill>
                <a:latin typeface="Calibri"/>
                <a:cs typeface="Calibri"/>
              </a:rPr>
              <a:t>the</a:t>
            </a:r>
            <a:r>
              <a:rPr sz="2600" b="1" spc="-6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b="1" spc="-10" dirty="0">
                <a:solidFill>
                  <a:srgbClr val="063763"/>
                </a:solidFill>
                <a:latin typeface="Calibri"/>
                <a:cs typeface="Calibri"/>
              </a:rPr>
              <a:t>training</a:t>
            </a:r>
            <a:r>
              <a:rPr sz="2600" b="1" spc="-6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63763"/>
                </a:solidFill>
                <a:latin typeface="Calibri"/>
                <a:cs typeface="Calibri"/>
              </a:rPr>
              <a:t>set</a:t>
            </a:r>
            <a:r>
              <a:rPr sz="2600" b="1" spc="-6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63763"/>
                </a:solidFill>
                <a:latin typeface="Calibri"/>
                <a:cs typeface="Calibri"/>
              </a:rPr>
              <a:t>to</a:t>
            </a:r>
            <a:r>
              <a:rPr sz="2600" b="1" spc="-6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63763"/>
                </a:solidFill>
                <a:latin typeface="Calibri"/>
                <a:cs typeface="Calibri"/>
              </a:rPr>
              <a:t>the</a:t>
            </a:r>
            <a:r>
              <a:rPr sz="2600" b="1" spc="-6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063763"/>
                </a:solidFill>
                <a:latin typeface="Calibri"/>
                <a:cs typeface="Calibri"/>
              </a:rPr>
              <a:t>test</a:t>
            </a:r>
            <a:r>
              <a:rPr sz="2600" b="1" spc="-6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b="1" spc="-25" dirty="0">
                <a:solidFill>
                  <a:srgbClr val="063763"/>
                </a:solidFill>
                <a:latin typeface="Calibri"/>
                <a:cs typeface="Calibri"/>
              </a:rPr>
              <a:t>set</a:t>
            </a:r>
            <a:endParaRPr sz="2600">
              <a:latin typeface="Calibri"/>
              <a:cs typeface="Calibri"/>
            </a:endParaRPr>
          </a:p>
          <a:p>
            <a:pPr marL="356235" marR="57150" indent="-344170">
              <a:lnSpc>
                <a:spcPts val="315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build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very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complex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models</a:t>
            </a:r>
            <a:r>
              <a:rPr sz="2600" spc="-10" dirty="0">
                <a:latin typeface="Calibri"/>
                <a:cs typeface="Calibri"/>
              </a:rPr>
              <a:t>, </a:t>
            </a:r>
            <a:r>
              <a:rPr sz="2600" dirty="0">
                <a:latin typeface="Calibri"/>
                <a:cs typeface="Calibri"/>
              </a:rPr>
              <a:t>we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always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63763"/>
                </a:solidFill>
                <a:latin typeface="Calibri"/>
                <a:cs typeface="Calibri"/>
              </a:rPr>
              <a:t>accurate</a:t>
            </a:r>
            <a:r>
              <a:rPr sz="2600" spc="-6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63763"/>
                </a:solidFill>
                <a:latin typeface="Calibri"/>
                <a:cs typeface="Calibri"/>
              </a:rPr>
              <a:t>as</a:t>
            </a:r>
            <a:r>
              <a:rPr sz="2600" spc="-5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063763"/>
                </a:solidFill>
                <a:latin typeface="Calibri"/>
                <a:cs typeface="Calibri"/>
              </a:rPr>
              <a:t>we </a:t>
            </a:r>
            <a:r>
              <a:rPr sz="2600" dirty="0">
                <a:solidFill>
                  <a:srgbClr val="063763"/>
                </a:solidFill>
                <a:latin typeface="Calibri"/>
                <a:cs typeface="Calibri"/>
              </a:rPr>
              <a:t>like</a:t>
            </a:r>
            <a:r>
              <a:rPr sz="2600" spc="-7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63763"/>
                </a:solidFill>
                <a:latin typeface="Calibri"/>
                <a:cs typeface="Calibri"/>
              </a:rPr>
              <a:t>on</a:t>
            </a:r>
            <a:r>
              <a:rPr sz="2600" spc="-5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63763"/>
                </a:solidFill>
                <a:latin typeface="Calibri"/>
                <a:cs typeface="Calibri"/>
              </a:rPr>
              <a:t>the</a:t>
            </a:r>
            <a:r>
              <a:rPr sz="2600" spc="-5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63763"/>
                </a:solidFill>
                <a:latin typeface="Calibri"/>
                <a:cs typeface="Calibri"/>
              </a:rPr>
              <a:t>training</a:t>
            </a:r>
            <a:r>
              <a:rPr sz="2600" spc="-5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63763"/>
                </a:solidFill>
                <a:latin typeface="Calibri"/>
                <a:cs typeface="Calibri"/>
              </a:rPr>
              <a:t>set</a:t>
            </a:r>
            <a:r>
              <a:rPr sz="2600" spc="-3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063763"/>
                </a:solidFill>
                <a:latin typeface="Arial MT"/>
                <a:cs typeface="Arial MT"/>
              </a:rPr>
              <a:t>…</a:t>
            </a:r>
            <a:r>
              <a:rPr sz="2600" spc="-180" dirty="0">
                <a:solidFill>
                  <a:srgbClr val="063763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063763"/>
                </a:solidFill>
                <a:latin typeface="Calibri"/>
                <a:cs typeface="Calibri"/>
              </a:rPr>
              <a:t>but...</a:t>
            </a:r>
            <a:r>
              <a:rPr sz="2600" spc="-55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063763"/>
                </a:solidFill>
                <a:latin typeface="Calibri"/>
                <a:cs typeface="Calibri"/>
              </a:rPr>
              <a:t>is </a:t>
            </a:r>
            <a:r>
              <a:rPr sz="2600" dirty="0">
                <a:solidFill>
                  <a:srgbClr val="063763"/>
                </a:solidFill>
                <a:latin typeface="Calibri"/>
                <a:cs typeface="Calibri"/>
              </a:rPr>
              <a:t>this</a:t>
            </a:r>
            <a:r>
              <a:rPr sz="2600" spc="-2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063763"/>
                </a:solidFill>
                <a:latin typeface="Calibri"/>
                <a:cs typeface="Calibri"/>
              </a:rPr>
              <a:t>useful?</a:t>
            </a:r>
            <a:endParaRPr sz="2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" y="1906020"/>
            <a:ext cx="3305175" cy="2628265"/>
            <a:chOff x="87" y="1906020"/>
            <a:chExt cx="3305175" cy="26282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" y="1906020"/>
              <a:ext cx="3304826" cy="11416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400" y="3721849"/>
              <a:ext cx="3248200" cy="8120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64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Evaluating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spc="-20" dirty="0"/>
              <a:t>model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3412" y="1530050"/>
            <a:ext cx="6637175" cy="245484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038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Performance</a:t>
            </a:r>
            <a:r>
              <a:rPr spc="-4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ML</a:t>
            </a:r>
            <a:r>
              <a:rPr spc="-40" dirty="0"/>
              <a:t> </a:t>
            </a:r>
            <a:r>
              <a:rPr dirty="0"/>
              <a:t>model:</a:t>
            </a:r>
            <a:r>
              <a:rPr spc="-10" dirty="0"/>
              <a:t> </a:t>
            </a:r>
            <a:r>
              <a:rPr b="1" i="1" spc="-10" dirty="0">
                <a:latin typeface="Calibri"/>
                <a:cs typeface="Calibri"/>
              </a:rPr>
              <a:t>Overfitting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3257" y="1488711"/>
            <a:ext cx="7911465" cy="321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>
              <a:lnSpc>
                <a:spcPts val="3115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We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always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want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simplest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model</a:t>
            </a:r>
            <a:r>
              <a:rPr sz="2600" spc="-10" dirty="0">
                <a:latin typeface="Calibri"/>
                <a:cs typeface="Calibri"/>
              </a:rPr>
              <a:t>!</a:t>
            </a:r>
            <a:endParaRPr sz="2600">
              <a:latin typeface="Calibri"/>
              <a:cs typeface="Calibri"/>
            </a:endParaRPr>
          </a:p>
          <a:p>
            <a:pPr marL="356235" marR="5080" indent="-344170">
              <a:lnSpc>
                <a:spcPts val="3150"/>
              </a:lnSpc>
              <a:spcBef>
                <a:spcPts val="75"/>
              </a:spcBef>
              <a:buClr>
                <a:srgbClr val="000000"/>
              </a:buClr>
              <a:buFont typeface="Arial MT"/>
              <a:buChar char="•"/>
              <a:tabLst>
                <a:tab pos="356235" algn="l"/>
              </a:tabLst>
            </a:pPr>
            <a:r>
              <a:rPr sz="2600" b="1" spc="-10" dirty="0">
                <a:solidFill>
                  <a:srgbClr val="1F497D"/>
                </a:solidFill>
                <a:latin typeface="Calibri"/>
                <a:cs typeface="Calibri"/>
              </a:rPr>
              <a:t>Overfitting</a:t>
            </a:r>
            <a:r>
              <a:rPr sz="2600" spc="-10" dirty="0">
                <a:latin typeface="Calibri"/>
                <a:cs typeface="Calibri"/>
              </a:rPr>
              <a:t>: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Building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too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complex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amount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have</a:t>
            </a:r>
            <a:endParaRPr sz="2600">
              <a:latin typeface="Calibri"/>
              <a:cs typeface="Calibri"/>
            </a:endParaRPr>
          </a:p>
          <a:p>
            <a:pPr marL="356235" indent="-343535">
              <a:lnSpc>
                <a:spcPts val="3040"/>
              </a:lnSpc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Occurs</a:t>
            </a:r>
            <a:r>
              <a:rPr sz="2600" spc="-1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when:</a:t>
            </a:r>
            <a:endParaRPr sz="2600">
              <a:latin typeface="Calibri"/>
              <a:cs typeface="Calibri"/>
            </a:endParaRPr>
          </a:p>
          <a:p>
            <a:pPr marL="813435" marR="407670" lvl="1" indent="-412750">
              <a:lnSpc>
                <a:spcPts val="3150"/>
              </a:lnSpc>
              <a:spcBef>
                <a:spcPts val="110"/>
              </a:spcBef>
              <a:buFont typeface="Arial MT"/>
              <a:buChar char="–"/>
              <a:tabLst>
                <a:tab pos="813435" algn="l"/>
              </a:tabLst>
            </a:pP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Fit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too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closely</a:t>
            </a:r>
            <a:r>
              <a:rPr sz="2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particularities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training</a:t>
            </a:r>
            <a:r>
              <a:rPr sz="2600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set</a:t>
            </a:r>
            <a:endParaRPr sz="2600">
              <a:latin typeface="Calibri"/>
              <a:cs typeface="Calibri"/>
            </a:endParaRPr>
          </a:p>
          <a:p>
            <a:pPr marL="813435" marR="382270" lvl="1" indent="-412750">
              <a:lnSpc>
                <a:spcPts val="3150"/>
              </a:lnSpc>
              <a:buFont typeface="Arial MT"/>
              <a:buChar char="–"/>
              <a:tabLst>
                <a:tab pos="813435" algn="l"/>
              </a:tabLst>
            </a:pPr>
            <a:r>
              <a:rPr sz="2600" dirty="0">
                <a:latin typeface="Calibri"/>
                <a:cs typeface="Calibri"/>
              </a:rPr>
              <a:t>Obtain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sz="2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works</a:t>
            </a:r>
            <a:r>
              <a:rPr sz="2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well</a:t>
            </a:r>
            <a:r>
              <a:rPr sz="2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6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training</a:t>
            </a:r>
            <a:r>
              <a:rPr sz="2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FF0000"/>
                </a:solidFill>
                <a:latin typeface="Calibri"/>
                <a:cs typeface="Calibri"/>
              </a:rPr>
              <a:t>set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but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able</a:t>
            </a:r>
            <a:r>
              <a:rPr sz="2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sz="2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generalise</a:t>
            </a:r>
            <a:r>
              <a:rPr sz="2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new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data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373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3000" spc="-20" dirty="0"/>
              <a:t>Performance</a:t>
            </a:r>
            <a:r>
              <a:rPr sz="3000" spc="-35" dirty="0"/>
              <a:t> </a:t>
            </a:r>
            <a:r>
              <a:rPr sz="3000" dirty="0"/>
              <a:t>of</a:t>
            </a:r>
            <a:r>
              <a:rPr sz="3000" spc="-35" dirty="0"/>
              <a:t> </a:t>
            </a:r>
            <a:r>
              <a:rPr sz="3000" dirty="0"/>
              <a:t>a</a:t>
            </a:r>
            <a:r>
              <a:rPr sz="3000" spc="-35" dirty="0"/>
              <a:t> </a:t>
            </a:r>
            <a:r>
              <a:rPr sz="3000" dirty="0"/>
              <a:t>ML</a:t>
            </a:r>
            <a:r>
              <a:rPr sz="3000" spc="-35" dirty="0"/>
              <a:t> </a:t>
            </a:r>
            <a:r>
              <a:rPr sz="3000" dirty="0"/>
              <a:t>model:</a:t>
            </a:r>
            <a:r>
              <a:rPr sz="3000" spc="-5" dirty="0"/>
              <a:t> </a:t>
            </a:r>
            <a:r>
              <a:rPr sz="3000" b="1" i="1" spc="-10" dirty="0">
                <a:latin typeface="Calibri"/>
                <a:cs typeface="Calibri"/>
              </a:rPr>
              <a:t>Underfitting</a:t>
            </a:r>
            <a:endParaRPr sz="3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92899" y="0"/>
            <a:ext cx="5729605" cy="5143500"/>
            <a:chOff x="3392899" y="0"/>
            <a:chExt cx="5729605" cy="51435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92899" y="2659475"/>
              <a:ext cx="3511075" cy="24167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1907" y="0"/>
              <a:ext cx="2090584" cy="51435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86057" y="1313196"/>
            <a:ext cx="5991860" cy="31045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6235" marR="5080" indent="-344170">
              <a:lnSpc>
                <a:spcPct val="100299"/>
              </a:lnSpc>
              <a:spcBef>
                <a:spcPts val="9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Unable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capture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aspects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spc="-10" dirty="0">
                <a:latin typeface="Calibri"/>
                <a:cs typeface="Calibri"/>
              </a:rPr>
              <a:t>variability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data: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will</a:t>
            </a: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do</a:t>
            </a: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badly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even</a:t>
            </a:r>
            <a:r>
              <a:rPr sz="2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FF0000"/>
                </a:solidFill>
                <a:latin typeface="Calibri"/>
                <a:cs typeface="Calibri"/>
              </a:rPr>
              <a:t>training</a:t>
            </a:r>
            <a:r>
              <a:rPr sz="2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FF0000"/>
                </a:solidFill>
                <a:latin typeface="Calibri"/>
                <a:cs typeface="Calibri"/>
              </a:rPr>
              <a:t>set!</a:t>
            </a:r>
            <a:endParaRPr sz="2600">
              <a:latin typeface="Calibri"/>
              <a:cs typeface="Calibri"/>
            </a:endParaRPr>
          </a:p>
          <a:p>
            <a:pPr marL="356235" marR="3394075" indent="-344170">
              <a:lnSpc>
                <a:spcPct val="100000"/>
              </a:lnSpc>
              <a:spcBef>
                <a:spcPts val="233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too </a:t>
            </a:r>
            <a:r>
              <a:rPr sz="2600" spc="-10" dirty="0">
                <a:latin typeface="Calibri"/>
                <a:cs typeface="Calibri"/>
              </a:rPr>
              <a:t>simple</a:t>
            </a:r>
            <a:endParaRPr sz="2600">
              <a:latin typeface="Calibri"/>
              <a:cs typeface="Calibri"/>
            </a:endParaRPr>
          </a:p>
          <a:p>
            <a:pPr marL="356235" marR="2829560" indent="-344170">
              <a:lnSpc>
                <a:spcPts val="3150"/>
              </a:lnSpc>
              <a:spcBef>
                <a:spcPts val="90"/>
              </a:spcBef>
              <a:buFont typeface="Arial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model</a:t>
            </a:r>
            <a:r>
              <a:rPr sz="2600" b="1" spc="-10" dirty="0">
                <a:latin typeface="Calibri"/>
                <a:cs typeface="Calibri"/>
              </a:rPr>
              <a:t> </a:t>
            </a:r>
            <a:r>
              <a:rPr sz="2600" b="1" u="heavy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complexity</a:t>
            </a:r>
            <a:r>
              <a:rPr sz="2600" b="1" u="heavy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600" b="1" u="heavy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trade-</a:t>
            </a:r>
            <a:r>
              <a:rPr sz="2600" b="1" u="heavy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off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7663" y="-4595"/>
            <a:ext cx="56851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Analysing</a:t>
            </a:r>
            <a:r>
              <a:rPr spc="-13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KNeighborsClassifier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0225" y="802911"/>
            <a:ext cx="7319645" cy="19107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7945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2D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datasets,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illustrate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prediction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all </a:t>
            </a:r>
            <a:r>
              <a:rPr sz="2600" dirty="0">
                <a:latin typeface="Calibri"/>
                <a:cs typeface="Calibri"/>
              </a:rPr>
              <a:t>possible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test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points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xy-</a:t>
            </a:r>
            <a:r>
              <a:rPr sz="2600" spc="-10" dirty="0">
                <a:latin typeface="Calibri"/>
                <a:cs typeface="Calibri"/>
              </a:rPr>
              <a:t>plane</a:t>
            </a:r>
            <a:endParaRPr sz="2600">
              <a:latin typeface="Calibri"/>
              <a:cs typeface="Calibri"/>
            </a:endParaRPr>
          </a:p>
          <a:p>
            <a:pPr marL="469900" marR="5080" indent="-327025">
              <a:lnSpc>
                <a:spcPct val="100099"/>
              </a:lnSpc>
              <a:spcBef>
                <a:spcPts val="670"/>
              </a:spcBef>
              <a:buFont typeface="Arial MT"/>
              <a:buChar char="•"/>
              <a:tabLst>
                <a:tab pos="469900" algn="l"/>
              </a:tabLst>
            </a:pP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This</a:t>
            </a:r>
            <a:r>
              <a:rPr sz="2200" spc="-3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lets</a:t>
            </a:r>
            <a:r>
              <a:rPr sz="2200" spc="-3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us</a:t>
            </a:r>
            <a:r>
              <a:rPr sz="2200" spc="-3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view</a:t>
            </a:r>
            <a:r>
              <a:rPr sz="2200" spc="-3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the</a:t>
            </a:r>
            <a:r>
              <a:rPr sz="2200" spc="-3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decision</a:t>
            </a:r>
            <a:r>
              <a:rPr sz="2200" spc="-3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F497D"/>
                </a:solidFill>
                <a:latin typeface="Calibri"/>
                <a:cs typeface="Calibri"/>
              </a:rPr>
              <a:t>boundary.</a:t>
            </a:r>
            <a:r>
              <a:rPr sz="2200" spc="-3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which</a:t>
            </a:r>
            <a:r>
              <a:rPr sz="2200" spc="-3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is</a:t>
            </a:r>
            <a:r>
              <a:rPr sz="2200" spc="-3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the</a:t>
            </a:r>
            <a:r>
              <a:rPr sz="2200" spc="-3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1F497D"/>
                </a:solidFill>
                <a:latin typeface="Calibri"/>
                <a:cs typeface="Calibri"/>
              </a:rPr>
              <a:t>divide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between</a:t>
            </a:r>
            <a:r>
              <a:rPr sz="22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where</a:t>
            </a:r>
            <a:r>
              <a:rPr sz="22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the</a:t>
            </a:r>
            <a:r>
              <a:rPr sz="220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algorithm</a:t>
            </a:r>
            <a:r>
              <a:rPr sz="22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assigns</a:t>
            </a:r>
            <a:r>
              <a:rPr sz="22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class</a:t>
            </a:r>
            <a:r>
              <a:rPr sz="220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0</a:t>
            </a:r>
            <a:r>
              <a:rPr sz="22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versus</a:t>
            </a:r>
            <a:r>
              <a:rPr sz="220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where</a:t>
            </a:r>
            <a:r>
              <a:rPr sz="22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spc="-25" dirty="0">
                <a:solidFill>
                  <a:srgbClr val="1F497D"/>
                </a:solidFill>
                <a:latin typeface="Calibri"/>
                <a:cs typeface="Calibri"/>
              </a:rPr>
              <a:t>it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assigns</a:t>
            </a:r>
            <a:r>
              <a:rPr sz="2200" spc="-3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1F497D"/>
                </a:solidFill>
                <a:latin typeface="Calibri"/>
                <a:cs typeface="Calibri"/>
              </a:rPr>
              <a:t>class</a:t>
            </a:r>
            <a:r>
              <a:rPr sz="2200" spc="-3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200" spc="-50" dirty="0">
                <a:solidFill>
                  <a:srgbClr val="1F497D"/>
                </a:solidFill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550" y="2804525"/>
            <a:ext cx="6832024" cy="23389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9200" y="3232538"/>
            <a:ext cx="1003935" cy="10769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latin typeface="Arial MT"/>
                <a:cs typeface="Arial MT"/>
              </a:rPr>
              <a:t>A</a:t>
            </a:r>
            <a:r>
              <a:rPr sz="1400" spc="-9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Smoother boundary corresponds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simpler model!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8675" y="1347624"/>
            <a:ext cx="5766650" cy="28986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00"/>
              </a:spcBef>
            </a:pPr>
            <a:r>
              <a:rPr dirty="0"/>
              <a:t>Relation</a:t>
            </a:r>
            <a:r>
              <a:rPr spc="-9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dirty="0"/>
              <a:t>model</a:t>
            </a:r>
            <a:r>
              <a:rPr spc="-95" dirty="0"/>
              <a:t> </a:t>
            </a:r>
            <a:r>
              <a:rPr dirty="0"/>
              <a:t>complexity</a:t>
            </a:r>
            <a:r>
              <a:rPr spc="-95" dirty="0"/>
              <a:t> </a:t>
            </a:r>
            <a:r>
              <a:rPr dirty="0"/>
              <a:t>to</a:t>
            </a:r>
            <a:r>
              <a:rPr spc="-90" dirty="0"/>
              <a:t> </a:t>
            </a:r>
            <a:r>
              <a:rPr dirty="0"/>
              <a:t>dataset</a:t>
            </a:r>
            <a:r>
              <a:rPr spc="-50" dirty="0"/>
              <a:t> </a:t>
            </a:r>
            <a:r>
              <a:rPr spc="-20" dirty="0"/>
              <a:t>size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760" marR="5080" indent="-3441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5760" algn="l"/>
              </a:tabLst>
            </a:pPr>
            <a:r>
              <a:rPr dirty="0">
                <a:solidFill>
                  <a:srgbClr val="000000"/>
                </a:solidFill>
              </a:rPr>
              <a:t>The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dirty="0"/>
              <a:t>larger</a:t>
            </a:r>
            <a:r>
              <a:rPr spc="-80" dirty="0"/>
              <a:t> </a:t>
            </a:r>
            <a:r>
              <a:rPr spc="-10" dirty="0"/>
              <a:t>variety</a:t>
            </a:r>
            <a:r>
              <a:rPr spc="-80" dirty="0"/>
              <a:t> </a:t>
            </a:r>
            <a:r>
              <a:rPr dirty="0"/>
              <a:t>of</a:t>
            </a:r>
            <a:r>
              <a:rPr spc="-85" dirty="0"/>
              <a:t> </a:t>
            </a:r>
            <a:r>
              <a:rPr dirty="0"/>
              <a:t>data</a:t>
            </a:r>
            <a:r>
              <a:rPr spc="-80" dirty="0"/>
              <a:t> </a:t>
            </a:r>
            <a:r>
              <a:rPr dirty="0"/>
              <a:t>points</a:t>
            </a:r>
            <a:r>
              <a:rPr spc="-65" dirty="0"/>
              <a:t> </a:t>
            </a:r>
            <a:r>
              <a:rPr dirty="0">
                <a:solidFill>
                  <a:srgbClr val="000000"/>
                </a:solidFill>
              </a:rPr>
              <a:t>your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dataset</a:t>
            </a:r>
            <a:r>
              <a:rPr spc="-8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contains,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-25" dirty="0"/>
              <a:t>the </a:t>
            </a:r>
            <a:r>
              <a:rPr dirty="0"/>
              <a:t>more</a:t>
            </a:r>
            <a:r>
              <a:rPr spc="-70" dirty="0"/>
              <a:t> </a:t>
            </a:r>
            <a:r>
              <a:rPr dirty="0"/>
              <a:t>complex</a:t>
            </a:r>
            <a:r>
              <a:rPr spc="-65" dirty="0"/>
              <a:t> </a:t>
            </a:r>
            <a:r>
              <a:rPr dirty="0"/>
              <a:t>a</a:t>
            </a:r>
            <a:r>
              <a:rPr spc="-65" dirty="0"/>
              <a:t> </a:t>
            </a:r>
            <a:r>
              <a:rPr dirty="0"/>
              <a:t>model</a:t>
            </a:r>
            <a:r>
              <a:rPr spc="-65" dirty="0"/>
              <a:t> </a:t>
            </a:r>
            <a:r>
              <a:rPr dirty="0"/>
              <a:t>you</a:t>
            </a:r>
            <a:r>
              <a:rPr spc="-65" dirty="0"/>
              <a:t> </a:t>
            </a:r>
            <a:r>
              <a:rPr dirty="0"/>
              <a:t>can</a:t>
            </a:r>
            <a:r>
              <a:rPr spc="-65" dirty="0"/>
              <a:t> </a:t>
            </a:r>
            <a:r>
              <a:rPr dirty="0"/>
              <a:t>use</a:t>
            </a:r>
            <a:r>
              <a:rPr spc="-65" dirty="0"/>
              <a:t> </a:t>
            </a:r>
            <a:r>
              <a:rPr dirty="0"/>
              <a:t>without</a:t>
            </a:r>
            <a:r>
              <a:rPr spc="-65" dirty="0"/>
              <a:t> </a:t>
            </a:r>
            <a:r>
              <a:rPr spc="-10" dirty="0"/>
              <a:t>overfitting</a:t>
            </a:r>
          </a:p>
          <a:p>
            <a:pPr marL="365760" indent="-343535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65760" algn="l"/>
              </a:tabLst>
            </a:pPr>
            <a:r>
              <a:rPr dirty="0">
                <a:solidFill>
                  <a:srgbClr val="000000"/>
                </a:solidFill>
              </a:rPr>
              <a:t>Collecting</a:t>
            </a:r>
            <a:r>
              <a:rPr spc="-110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more</a:t>
            </a:r>
            <a:r>
              <a:rPr b="1" spc="-1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b="1" spc="-1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0000"/>
                </a:solidFill>
                <a:latin typeface="Calibri"/>
                <a:cs typeface="Calibri"/>
              </a:rPr>
              <a:t>helps</a:t>
            </a:r>
          </a:p>
          <a:p>
            <a:pPr marL="365760" marR="636905" indent="-344170">
              <a:lnSpc>
                <a:spcPts val="3150"/>
              </a:lnSpc>
              <a:spcBef>
                <a:spcPts val="110"/>
              </a:spcBef>
              <a:buFont typeface="Arial MT"/>
              <a:buChar char="•"/>
              <a:tabLst>
                <a:tab pos="365760" algn="l"/>
              </a:tabLst>
            </a:pPr>
            <a:r>
              <a:rPr dirty="0">
                <a:solidFill>
                  <a:srgbClr val="000000"/>
                </a:solidFill>
              </a:rPr>
              <a:t>Having</a:t>
            </a:r>
            <a:r>
              <a:rPr spc="-90" dirty="0">
                <a:solidFill>
                  <a:srgbClr val="000000"/>
                </a:solidFill>
              </a:rPr>
              <a:t> </a:t>
            </a:r>
            <a:r>
              <a:rPr b="1" dirty="0">
                <a:solidFill>
                  <a:srgbClr val="063763"/>
                </a:solidFill>
                <a:latin typeface="Calibri"/>
                <a:cs typeface="Calibri"/>
              </a:rPr>
              <a:t>more</a:t>
            </a:r>
            <a:r>
              <a:rPr b="1" spc="-9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63763"/>
                </a:solidFill>
                <a:latin typeface="Calibri"/>
                <a:cs typeface="Calibri"/>
              </a:rPr>
              <a:t>data</a:t>
            </a:r>
            <a:r>
              <a:rPr b="1" spc="-90" dirty="0">
                <a:solidFill>
                  <a:srgbClr val="063763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b="1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/>
              <a:t>building</a:t>
            </a:r>
            <a:r>
              <a:rPr spc="-90" dirty="0"/>
              <a:t> </a:t>
            </a:r>
            <a:r>
              <a:rPr spc="-10" dirty="0"/>
              <a:t>appropriately</a:t>
            </a:r>
            <a:r>
              <a:rPr spc="-75" dirty="0"/>
              <a:t> </a:t>
            </a:r>
            <a:r>
              <a:rPr b="1" spc="-20" dirty="0">
                <a:solidFill>
                  <a:srgbClr val="000000"/>
                </a:solidFill>
                <a:latin typeface="Calibri"/>
                <a:cs typeface="Calibri"/>
              </a:rPr>
              <a:t>more </a:t>
            </a:r>
            <a:r>
              <a:rPr b="1" spc="-10" dirty="0">
                <a:solidFill>
                  <a:srgbClr val="000000"/>
                </a:solidFill>
                <a:latin typeface="Calibri"/>
                <a:cs typeface="Calibri"/>
              </a:rPr>
              <a:t>complex</a:t>
            </a:r>
            <a:r>
              <a:rPr b="1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models</a:t>
            </a:r>
            <a:r>
              <a:rPr b="1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can</a:t>
            </a:r>
            <a:r>
              <a:rPr b="1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often</a:t>
            </a:r>
            <a:r>
              <a:rPr b="1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work</a:t>
            </a:r>
            <a:r>
              <a:rPr b="1" spc="-8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0000"/>
                </a:solidFill>
                <a:latin typeface="Calibri"/>
                <a:cs typeface="Calibri"/>
              </a:rPr>
              <a:t>wonders</a:t>
            </a:r>
            <a:r>
              <a:rPr b="1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</a:rPr>
              <a:t>for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SL</a:t>
            </a:r>
            <a:r>
              <a:rPr spc="-8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tasks</a:t>
            </a:r>
          </a:p>
          <a:p>
            <a:pPr marL="365760" indent="-343535">
              <a:lnSpc>
                <a:spcPts val="3040"/>
              </a:lnSpc>
              <a:buFont typeface="Arial"/>
              <a:buChar char="•"/>
              <a:tabLst>
                <a:tab pos="365760" algn="l"/>
              </a:tabLst>
            </a:pP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Never</a:t>
            </a:r>
            <a:r>
              <a:rPr b="1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000000"/>
                </a:solidFill>
                <a:latin typeface="Calibri"/>
                <a:cs typeface="Calibri"/>
              </a:rPr>
              <a:t>underestimate</a:t>
            </a:r>
            <a:r>
              <a:rPr b="1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b="1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power</a:t>
            </a:r>
            <a:r>
              <a:rPr b="1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of</a:t>
            </a:r>
            <a:r>
              <a:rPr b="1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000000"/>
                </a:solidFill>
                <a:latin typeface="Calibri"/>
                <a:cs typeface="Calibri"/>
              </a:rPr>
              <a:t>more</a:t>
            </a:r>
            <a:r>
              <a:rPr b="1" spc="-7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000000"/>
                </a:solidFill>
                <a:latin typeface="Calibri"/>
                <a:cs typeface="Calibri"/>
              </a:rPr>
              <a:t>data!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9471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25" dirty="0"/>
              <a:t> </a:t>
            </a:r>
            <a:r>
              <a:rPr dirty="0"/>
              <a:t>Wisconsin</a:t>
            </a:r>
            <a:r>
              <a:rPr spc="-120" dirty="0"/>
              <a:t> </a:t>
            </a:r>
            <a:r>
              <a:rPr dirty="0"/>
              <a:t>breast</a:t>
            </a:r>
            <a:r>
              <a:rPr spc="-90" dirty="0"/>
              <a:t> </a:t>
            </a:r>
            <a:r>
              <a:rPr i="1" dirty="0">
                <a:latin typeface="Calibri"/>
                <a:cs typeface="Calibri"/>
              </a:rPr>
              <a:t>cancer</a:t>
            </a:r>
            <a:r>
              <a:rPr i="1" spc="-120" dirty="0">
                <a:latin typeface="Calibri"/>
                <a:cs typeface="Calibri"/>
              </a:rPr>
              <a:t> </a:t>
            </a:r>
            <a:r>
              <a:rPr spc="-10" dirty="0"/>
              <a:t>dataset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334" y="1186970"/>
            <a:ext cx="3883025" cy="307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29565" algn="l"/>
              </a:tabLst>
            </a:pPr>
            <a:r>
              <a:rPr sz="2000" spc="-30" dirty="0">
                <a:latin typeface="Calibri"/>
                <a:cs typeface="Calibri"/>
              </a:rPr>
              <a:t>Real-</a:t>
            </a:r>
            <a:r>
              <a:rPr sz="2000" dirty="0">
                <a:latin typeface="Calibri"/>
                <a:cs typeface="Calibri"/>
              </a:rPr>
              <a:t>world,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i="1" spc="-25" dirty="0">
                <a:latin typeface="Calibri"/>
                <a:cs typeface="Calibri"/>
              </a:rPr>
              <a:t>scikit-</a:t>
            </a:r>
            <a:r>
              <a:rPr sz="2000" i="1" spc="-10" dirty="0">
                <a:latin typeface="Calibri"/>
                <a:cs typeface="Calibri"/>
              </a:rPr>
              <a:t>learn</a:t>
            </a:r>
            <a:endParaRPr sz="2000">
              <a:latin typeface="Calibri"/>
              <a:cs typeface="Calibri"/>
            </a:endParaRPr>
          </a:p>
          <a:p>
            <a:pPr marL="329565" marR="246379" indent="-317500">
              <a:lnSpc>
                <a:spcPct val="100000"/>
              </a:lnSpc>
              <a:spcBef>
                <a:spcPts val="35"/>
              </a:spcBef>
              <a:buFont typeface="Arial MT"/>
              <a:buChar char="•"/>
              <a:tabLst>
                <a:tab pos="329565" algn="l"/>
              </a:tabLst>
            </a:pPr>
            <a:r>
              <a:rPr sz="2000" spc="-10" dirty="0">
                <a:latin typeface="Calibri"/>
                <a:cs typeface="Calibri"/>
              </a:rPr>
              <a:t>Clinical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measurements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breast </a:t>
            </a:r>
            <a:r>
              <a:rPr sz="2000" dirty="0">
                <a:latin typeface="Calibri"/>
                <a:cs typeface="Calibri"/>
              </a:rPr>
              <a:t>cancer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tumors</a:t>
            </a:r>
            <a:endParaRPr sz="2000">
              <a:latin typeface="Calibri"/>
              <a:cs typeface="Calibri"/>
            </a:endParaRPr>
          </a:p>
          <a:p>
            <a:pPr marL="327025" marR="241300" indent="-314960" algn="just">
              <a:lnSpc>
                <a:spcPct val="100000"/>
              </a:lnSpc>
              <a:buFont typeface="Arial MT"/>
              <a:buChar char="•"/>
              <a:tabLst>
                <a:tab pos="329565" algn="l"/>
              </a:tabLst>
            </a:pPr>
            <a:r>
              <a:rPr sz="2000" dirty="0">
                <a:latin typeface="Calibri"/>
                <a:cs typeface="Calibri"/>
              </a:rPr>
              <a:t>“benign”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(harmless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tumors)/ 	</a:t>
            </a:r>
            <a:r>
              <a:rPr sz="2000" dirty="0">
                <a:latin typeface="Calibri"/>
                <a:cs typeface="Calibri"/>
              </a:rPr>
              <a:t>“malignant”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(cancerous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tumors)</a:t>
            </a:r>
            <a:endParaRPr sz="2000">
              <a:latin typeface="Calibri"/>
              <a:cs typeface="Calibri"/>
            </a:endParaRPr>
          </a:p>
          <a:p>
            <a:pPr marL="327025" marR="200025" indent="-314960" algn="just">
              <a:lnSpc>
                <a:spcPct val="100000"/>
              </a:lnSpc>
              <a:buFont typeface="Arial MT"/>
              <a:buChar char="•"/>
              <a:tabLst>
                <a:tab pos="329565" algn="l"/>
              </a:tabLst>
            </a:pPr>
            <a:r>
              <a:rPr sz="2000" spc="-30" dirty="0">
                <a:latin typeface="Calibri"/>
                <a:cs typeface="Calibri"/>
              </a:rPr>
              <a:t>Task: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Learn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predict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whether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	</a:t>
            </a:r>
            <a:r>
              <a:rPr sz="2000" dirty="0">
                <a:latin typeface="Calibri"/>
                <a:cs typeface="Calibri"/>
              </a:rPr>
              <a:t>tumor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malignant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spc="-10" dirty="0">
                <a:latin typeface="Calibri"/>
                <a:cs typeface="Calibri"/>
              </a:rPr>
              <a:t>measurements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tissue</a:t>
            </a:r>
            <a:endParaRPr sz="2000">
              <a:latin typeface="Calibri"/>
              <a:cs typeface="Calibri"/>
            </a:endParaRPr>
          </a:p>
          <a:p>
            <a:pPr marL="327025" marR="64769" indent="-314960" algn="just">
              <a:lnSpc>
                <a:spcPct val="100000"/>
              </a:lnSpc>
              <a:buFont typeface="Arial MT"/>
              <a:buChar char="•"/>
              <a:tabLst>
                <a:tab pos="329565" algn="l"/>
              </a:tabLst>
            </a:pPr>
            <a:r>
              <a:rPr sz="2000" dirty="0">
                <a:solidFill>
                  <a:srgbClr val="1F497D"/>
                </a:solidFill>
                <a:latin typeface="Calibri"/>
                <a:cs typeface="Calibri"/>
              </a:rPr>
              <a:t>569</a:t>
            </a:r>
            <a:r>
              <a:rPr sz="20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97D"/>
                </a:solidFill>
                <a:latin typeface="Calibri"/>
                <a:cs typeface="Calibri"/>
              </a:rPr>
              <a:t>data</a:t>
            </a:r>
            <a:r>
              <a:rPr sz="200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97D"/>
                </a:solidFill>
                <a:latin typeface="Calibri"/>
                <a:cs typeface="Calibri"/>
              </a:rPr>
              <a:t>points</a:t>
            </a:r>
            <a:r>
              <a:rPr sz="200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F497D"/>
                </a:solidFill>
                <a:latin typeface="Calibri"/>
                <a:cs typeface="Calibri"/>
              </a:rPr>
              <a:t>(samples)</a:t>
            </a:r>
            <a:r>
              <a:rPr sz="2000" spc="-5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F497D"/>
                </a:solidFill>
                <a:latin typeface="Calibri"/>
                <a:cs typeface="Calibri"/>
              </a:rPr>
              <a:t>with</a:t>
            </a:r>
            <a:r>
              <a:rPr sz="2000" spc="-55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F497D"/>
                </a:solidFill>
                <a:latin typeface="Calibri"/>
                <a:cs typeface="Calibri"/>
              </a:rPr>
              <a:t>30 	</a:t>
            </a:r>
            <a:r>
              <a:rPr sz="2000" spc="-20" dirty="0">
                <a:solidFill>
                  <a:srgbClr val="1F497D"/>
                </a:solidFill>
                <a:latin typeface="Calibri"/>
                <a:cs typeface="Calibri"/>
              </a:rPr>
              <a:t>features</a:t>
            </a:r>
            <a:r>
              <a:rPr sz="2000" spc="-30" dirty="0">
                <a:solidFill>
                  <a:srgbClr val="1F497D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1F497D"/>
                </a:solidFill>
                <a:latin typeface="Calibri"/>
                <a:cs typeface="Calibri"/>
              </a:rPr>
              <a:t>each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49949" y="1264725"/>
            <a:ext cx="4917847" cy="344754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8275">
              <a:lnSpc>
                <a:spcPct val="100000"/>
              </a:lnSpc>
              <a:spcBef>
                <a:spcPts val="100"/>
              </a:spcBef>
            </a:pPr>
            <a:r>
              <a:rPr dirty="0"/>
              <a:t>Analysing</a:t>
            </a:r>
            <a:r>
              <a:rPr spc="-135" dirty="0"/>
              <a:t> </a:t>
            </a:r>
            <a:r>
              <a:rPr spc="-10" dirty="0"/>
              <a:t>KNeighborsClassifier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900" y="1340925"/>
            <a:ext cx="8964295" cy="3426460"/>
            <a:chOff x="103900" y="1340925"/>
            <a:chExt cx="8964295" cy="3426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00" y="1340925"/>
              <a:ext cx="4156347" cy="311727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10006" y="1372300"/>
              <a:ext cx="5057793" cy="33945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5337" y="3357881"/>
            <a:ext cx="57607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Calibri"/>
                <a:cs typeface="Calibri"/>
              </a:rPr>
              <a:t>Other</a:t>
            </a:r>
            <a:r>
              <a:rPr sz="4000" b="1" spc="-120" dirty="0">
                <a:latin typeface="Calibri"/>
                <a:cs typeface="Calibri"/>
              </a:rPr>
              <a:t> </a:t>
            </a:r>
            <a:r>
              <a:rPr sz="4000" b="1" spc="-20" dirty="0">
                <a:latin typeface="Calibri"/>
                <a:cs typeface="Calibri"/>
              </a:rPr>
              <a:t>performance</a:t>
            </a:r>
            <a:r>
              <a:rPr sz="4000" b="1" spc="-114" dirty="0">
                <a:latin typeface="Calibri"/>
                <a:cs typeface="Calibri"/>
              </a:rPr>
              <a:t> </a:t>
            </a:r>
            <a:r>
              <a:rPr sz="4000" b="1" spc="-10" dirty="0">
                <a:latin typeface="Calibri"/>
                <a:cs typeface="Calibri"/>
              </a:rPr>
              <a:t>metrics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5890">
              <a:lnSpc>
                <a:spcPct val="100000"/>
              </a:lnSpc>
              <a:spcBef>
                <a:spcPts val="100"/>
              </a:spcBef>
            </a:pPr>
            <a:r>
              <a:rPr dirty="0"/>
              <a:t>Confusion</a:t>
            </a:r>
            <a:r>
              <a:rPr spc="-120" dirty="0"/>
              <a:t> </a:t>
            </a:r>
            <a:r>
              <a:rPr spc="-10" dirty="0"/>
              <a:t>Matrix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6337" y="1266762"/>
            <a:ext cx="7171325" cy="35562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" y="0"/>
            <a:ext cx="8894064" cy="46559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6564" y="-32251"/>
            <a:ext cx="6222365" cy="337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solidFill>
                  <a:srgbClr val="6D6D6D"/>
                </a:solidFill>
                <a:latin typeface="Arial MT"/>
                <a:cs typeface="Arial MT"/>
              </a:rPr>
              <a:t>Precision:</a:t>
            </a:r>
            <a:r>
              <a:rPr sz="2050" spc="95" dirty="0">
                <a:solidFill>
                  <a:srgbClr val="6D6D6D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626262"/>
                </a:solidFill>
                <a:latin typeface="Arial MT"/>
                <a:cs typeface="Arial MT"/>
              </a:rPr>
              <a:t>ti</a:t>
            </a:r>
            <a:r>
              <a:rPr sz="2050" spc="-130" dirty="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757575"/>
                </a:solidFill>
                <a:latin typeface="Arial MT"/>
                <a:cs typeface="Arial MT"/>
              </a:rPr>
              <a:t>ue</a:t>
            </a:r>
            <a:r>
              <a:rPr sz="2050" spc="75" dirty="0">
                <a:solidFill>
                  <a:srgbClr val="757575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626262"/>
                </a:solidFill>
                <a:latin typeface="Arial MT"/>
                <a:cs typeface="Arial MT"/>
              </a:rPr>
              <a:t>positives</a:t>
            </a:r>
            <a:r>
              <a:rPr sz="2050" spc="290" dirty="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sz="2050" dirty="0">
                <a:solidFill>
                  <a:srgbClr val="8C8C8C"/>
                </a:solidFill>
                <a:latin typeface="Arial MT"/>
                <a:cs typeface="Arial MT"/>
              </a:rPr>
              <a:t>/</a:t>
            </a:r>
            <a:r>
              <a:rPr sz="2050" spc="215" dirty="0">
                <a:solidFill>
                  <a:srgbClr val="8C8C8C"/>
                </a:solidFill>
                <a:latin typeface="Arial MT"/>
                <a:cs typeface="Arial MT"/>
              </a:rPr>
              <a:t> </a:t>
            </a:r>
            <a:r>
              <a:rPr sz="2050" spc="80" dirty="0">
                <a:solidFill>
                  <a:srgbClr val="6B6B6B"/>
                </a:solidFill>
                <a:latin typeface="Arial MT"/>
                <a:cs typeface="Arial MT"/>
              </a:rPr>
              <a:t>total</a:t>
            </a:r>
            <a:r>
              <a:rPr sz="2050" spc="-15" dirty="0">
                <a:solidFill>
                  <a:srgbClr val="6B6B6B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626262"/>
                </a:solidFill>
                <a:latin typeface="Arial MT"/>
                <a:cs typeface="Arial MT"/>
              </a:rPr>
              <a:t>Classified</a:t>
            </a:r>
            <a:r>
              <a:rPr sz="2050" spc="240" dirty="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sz="2050" spc="-45" dirty="0">
                <a:solidFill>
                  <a:srgbClr val="727272"/>
                </a:solidFill>
                <a:latin typeface="Arial MT"/>
                <a:cs typeface="Arial MT"/>
              </a:rPr>
              <a:t>as</a:t>
            </a:r>
            <a:r>
              <a:rPr sz="2050" spc="70" dirty="0">
                <a:solidFill>
                  <a:srgbClr val="727272"/>
                </a:solidFill>
                <a:latin typeface="Arial MT"/>
                <a:cs typeface="Arial MT"/>
              </a:rPr>
              <a:t> </a:t>
            </a:r>
            <a:r>
              <a:rPr sz="2050" spc="-10" dirty="0">
                <a:solidFill>
                  <a:srgbClr val="626262"/>
                </a:solidFill>
                <a:latin typeface="Arial MT"/>
                <a:cs typeface="Arial MT"/>
              </a:rPr>
              <a:t>positive</a:t>
            </a:r>
            <a:endParaRPr sz="205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94809" y="1592866"/>
            <a:ext cx="3209290" cy="3487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54380" indent="5715">
              <a:lnSpc>
                <a:spcPct val="113500"/>
              </a:lnSpc>
              <a:spcBef>
                <a:spcPts val="100"/>
              </a:spcBef>
              <a:tabLst>
                <a:tab pos="1351915" algn="l"/>
                <a:tab pos="2221865" algn="l"/>
              </a:tabLst>
            </a:pPr>
            <a:r>
              <a:rPr sz="1550" spc="-30" dirty="0">
                <a:solidFill>
                  <a:srgbClr val="212121"/>
                </a:solidFill>
                <a:latin typeface="Arial MT"/>
                <a:cs typeface="Arial MT"/>
              </a:rPr>
              <a:t>Available</a:t>
            </a:r>
            <a:r>
              <a:rPr sz="1550" spc="-5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313131"/>
                </a:solidFill>
                <a:latin typeface="Arial MT"/>
                <a:cs typeface="Arial MT"/>
              </a:rPr>
              <a:t>parking</a:t>
            </a:r>
            <a:r>
              <a:rPr sz="1550" spc="-3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363636"/>
                </a:solidFill>
                <a:latin typeface="Arial MT"/>
                <a:cs typeface="Arial MT"/>
              </a:rPr>
              <a:t>space</a:t>
            </a:r>
            <a:r>
              <a:rPr sz="1550" spc="-10" dirty="0">
                <a:solidFill>
                  <a:srgbClr val="48C479"/>
                </a:solidFill>
                <a:latin typeface="Arial MT"/>
                <a:cs typeface="Arial MT"/>
              </a:rPr>
              <a:t>-</a:t>
            </a:r>
            <a:r>
              <a:rPr sz="1550" dirty="0">
                <a:solidFill>
                  <a:srgbClr val="48C479"/>
                </a:solidFill>
                <a:latin typeface="Arial MT"/>
                <a:cs typeface="Arial MT"/>
              </a:rPr>
              <a:t>	</a:t>
            </a:r>
            <a:r>
              <a:rPr sz="1550" spc="-25" dirty="0">
                <a:solidFill>
                  <a:srgbClr val="42BA6B"/>
                </a:solidFill>
                <a:latin typeface="Arial MT"/>
                <a:cs typeface="Arial MT"/>
              </a:rPr>
              <a:t>›. </a:t>
            </a:r>
            <a:r>
              <a:rPr sz="1550" spc="-10" dirty="0">
                <a:solidFill>
                  <a:srgbClr val="1C1C1C"/>
                </a:solidFill>
                <a:latin typeface="Arial MT"/>
                <a:cs typeface="Arial MT"/>
              </a:rPr>
              <a:t>Model</a:t>
            </a:r>
            <a:r>
              <a:rPr sz="1550" spc="-6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550" spc="-50" dirty="0">
                <a:solidFill>
                  <a:srgbClr val="49BA6B"/>
                </a:solidFill>
                <a:latin typeface="Arial MT"/>
                <a:cs typeface="Arial MT"/>
              </a:rPr>
              <a:t>.</a:t>
            </a:r>
            <a:r>
              <a:rPr sz="1550" dirty="0">
                <a:solidFill>
                  <a:srgbClr val="49BA6B"/>
                </a:solidFill>
                <a:latin typeface="Arial MT"/>
                <a:cs typeface="Arial MT"/>
              </a:rPr>
              <a:t>	</a:t>
            </a:r>
            <a:r>
              <a:rPr sz="1550" dirty="0">
                <a:solidFill>
                  <a:srgbClr val="70836B"/>
                </a:solidFill>
                <a:latin typeface="Arial MT"/>
                <a:cs typeface="Arial MT"/>
              </a:rPr>
              <a:t>il</a:t>
            </a:r>
            <a:r>
              <a:rPr sz="1550" spc="95" dirty="0">
                <a:solidFill>
                  <a:srgbClr val="70836B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464646"/>
                </a:solidFill>
                <a:latin typeface="Arial MT"/>
                <a:cs typeface="Arial MT"/>
              </a:rPr>
              <a:t>is</a:t>
            </a:r>
            <a:r>
              <a:rPr sz="155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550" spc="-45" dirty="0">
                <a:solidFill>
                  <a:srgbClr val="383838"/>
                </a:solidFill>
                <a:latin typeface="Arial MT"/>
                <a:cs typeface="Arial MT"/>
              </a:rPr>
              <a:t>available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550">
              <a:latin typeface="Arial MT"/>
              <a:cs typeface="Arial MT"/>
            </a:endParaRPr>
          </a:p>
          <a:p>
            <a:pPr marL="283210" algn="ctr">
              <a:lnSpc>
                <a:spcPct val="100000"/>
              </a:lnSpc>
            </a:pPr>
            <a:r>
              <a:rPr sz="1550" spc="-10" dirty="0">
                <a:solidFill>
                  <a:srgbClr val="2B2B2B"/>
                </a:solidFill>
                <a:latin typeface="Arial MT"/>
                <a:cs typeface="Arial MT"/>
              </a:rPr>
              <a:t>True</a:t>
            </a:r>
            <a:r>
              <a:rPr sz="1550" spc="-8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262626"/>
                </a:solidFill>
                <a:latin typeface="Arial MT"/>
                <a:cs typeface="Arial MT"/>
              </a:rPr>
              <a:t>Positives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550">
              <a:latin typeface="Arial MT"/>
              <a:cs typeface="Arial MT"/>
            </a:endParaRPr>
          </a:p>
          <a:p>
            <a:pPr marL="12700" marR="5080" indent="5715">
              <a:lnSpc>
                <a:spcPct val="112200"/>
              </a:lnSpc>
              <a:tabLst>
                <a:tab pos="1209675" algn="l"/>
              </a:tabLst>
            </a:pPr>
            <a:r>
              <a:rPr sz="2325" spc="-44" baseline="1792" dirty="0">
                <a:solidFill>
                  <a:srgbClr val="4D5208"/>
                </a:solidFill>
                <a:latin typeface="Arial MT"/>
                <a:cs typeface="Arial MT"/>
              </a:rPr>
              <a:t>A</a:t>
            </a:r>
            <a:r>
              <a:rPr sz="1550" spc="-30" dirty="0">
                <a:solidFill>
                  <a:srgbClr val="4D5208"/>
                </a:solidFill>
                <a:latin typeface="Arial MT"/>
                <a:cs typeface="Arial MT"/>
              </a:rPr>
              <a:t>vailable</a:t>
            </a:r>
            <a:r>
              <a:rPr sz="1550" spc="-80" dirty="0">
                <a:solidFill>
                  <a:srgbClr val="4D5208"/>
                </a:solidFill>
                <a:latin typeface="Arial MT"/>
                <a:cs typeface="Arial MT"/>
              </a:rPr>
              <a:t> </a:t>
            </a:r>
            <a:r>
              <a:rPr sz="1550" spc="-10" dirty="0">
                <a:solidFill>
                  <a:srgbClr val="575023"/>
                </a:solidFill>
                <a:latin typeface="Arial MT"/>
                <a:cs typeface="Arial MT"/>
              </a:rPr>
              <a:t>parking</a:t>
            </a:r>
            <a:r>
              <a:rPr sz="1550" spc="20" dirty="0">
                <a:solidFill>
                  <a:srgbClr val="575023"/>
                </a:solidFill>
                <a:latin typeface="Arial MT"/>
                <a:cs typeface="Arial MT"/>
              </a:rPr>
              <a:t> </a:t>
            </a:r>
            <a:r>
              <a:rPr sz="1550" spc="-35" dirty="0">
                <a:solidFill>
                  <a:srgbClr val="707711"/>
                </a:solidFill>
                <a:latin typeface="Arial MT"/>
                <a:cs typeface="Arial MT"/>
              </a:rPr>
              <a:t>space</a:t>
            </a:r>
            <a:r>
              <a:rPr sz="1550" spc="-60" dirty="0">
                <a:solidFill>
                  <a:srgbClr val="707711"/>
                </a:solidFill>
                <a:latin typeface="Arial MT"/>
                <a:cs typeface="Arial MT"/>
              </a:rPr>
              <a:t> </a:t>
            </a:r>
            <a:r>
              <a:rPr sz="2325" baseline="1792" dirty="0">
                <a:solidFill>
                  <a:srgbClr val="A05E01"/>
                </a:solidFill>
                <a:latin typeface="Arial MT"/>
                <a:cs typeface="Arial MT"/>
              </a:rPr>
              <a:t>d</a:t>
            </a:r>
            <a:r>
              <a:rPr sz="1550" dirty="0">
                <a:solidFill>
                  <a:srgbClr val="A05E01"/>
                </a:solidFill>
                <a:latin typeface="Arial MT"/>
                <a:cs typeface="Arial MT"/>
              </a:rPr>
              <a:t>oesn't </a:t>
            </a:r>
            <a:r>
              <a:rPr sz="1550" spc="-10" dirty="0">
                <a:solidFill>
                  <a:srgbClr val="C84916"/>
                </a:solidFill>
                <a:latin typeface="Arial MT"/>
                <a:cs typeface="Arial MT"/>
              </a:rPr>
              <a:t>exisi </a:t>
            </a:r>
            <a:r>
              <a:rPr sz="1550" spc="-25" dirty="0">
                <a:solidFill>
                  <a:srgbClr val="6E7049"/>
                </a:solidFill>
                <a:latin typeface="Arial MT"/>
                <a:cs typeface="Arial MT"/>
              </a:rPr>
              <a:t>Mod</a:t>
            </a:r>
            <a:r>
              <a:rPr sz="1550" dirty="0">
                <a:solidFill>
                  <a:srgbClr val="6E7049"/>
                </a:solidFill>
                <a:latin typeface="Arial MT"/>
                <a:cs typeface="Arial MT"/>
              </a:rPr>
              <a:t>	</a:t>
            </a:r>
            <a:r>
              <a:rPr sz="1550" spc="-155" dirty="0">
                <a:solidFill>
                  <a:srgbClr val="75BF2F"/>
                </a:solidFill>
                <a:latin typeface="Arial MT"/>
                <a:cs typeface="Arial MT"/>
              </a:rPr>
              <a:t>s</a:t>
            </a:r>
            <a:r>
              <a:rPr sz="1550" spc="10" dirty="0">
                <a:solidFill>
                  <a:srgbClr val="75BF2F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565400"/>
                </a:solidFill>
                <a:latin typeface="Arial MT"/>
                <a:cs typeface="Arial MT"/>
              </a:rPr>
              <a:t>it</a:t>
            </a:r>
            <a:r>
              <a:rPr sz="1550" spc="90" dirty="0">
                <a:solidFill>
                  <a:srgbClr val="565400"/>
                </a:solidFill>
                <a:latin typeface="Arial MT"/>
                <a:cs typeface="Arial MT"/>
              </a:rPr>
              <a:t> </a:t>
            </a:r>
            <a:r>
              <a:rPr sz="1550" dirty="0">
                <a:solidFill>
                  <a:srgbClr val="62600A"/>
                </a:solidFill>
                <a:latin typeface="Arial MT"/>
                <a:cs typeface="Arial MT"/>
              </a:rPr>
              <a:t>is </a:t>
            </a:r>
            <a:r>
              <a:rPr sz="1550" spc="-10" dirty="0">
                <a:solidFill>
                  <a:srgbClr val="5D590F"/>
                </a:solidFill>
                <a:latin typeface="Arial MT"/>
                <a:cs typeface="Arial MT"/>
              </a:rPr>
              <a:t>available</a:t>
            </a:r>
            <a:endParaRPr sz="1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550">
              <a:latin typeface="Arial MT"/>
              <a:cs typeface="Arial MT"/>
            </a:endParaRPr>
          </a:p>
          <a:p>
            <a:pPr marL="265430" algn="ctr">
              <a:lnSpc>
                <a:spcPct val="100000"/>
              </a:lnSpc>
            </a:pPr>
            <a:r>
              <a:rPr sz="1800" dirty="0">
                <a:solidFill>
                  <a:srgbClr val="414216"/>
                </a:solidFill>
                <a:latin typeface="Calibri"/>
                <a:cs typeface="Calibri"/>
              </a:rPr>
              <a:t>False</a:t>
            </a:r>
            <a:r>
              <a:rPr sz="1800" spc="-75" dirty="0">
                <a:solidFill>
                  <a:srgbClr val="414216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33333"/>
                </a:solidFill>
                <a:latin typeface="Calibri"/>
                <a:cs typeface="Calibri"/>
              </a:rPr>
              <a:t>Positives</a:t>
            </a:r>
            <a:endParaRPr sz="1800">
              <a:latin typeface="Calibri"/>
              <a:cs typeface="Calibri"/>
            </a:endParaRPr>
          </a:p>
          <a:p>
            <a:pPr marL="291465" algn="ctr">
              <a:lnSpc>
                <a:spcPct val="100000"/>
              </a:lnSpc>
              <a:spcBef>
                <a:spcPts val="105"/>
              </a:spcBef>
            </a:pPr>
            <a:r>
              <a:rPr sz="1650" i="1" dirty="0">
                <a:solidFill>
                  <a:srgbClr val="69660F"/>
                </a:solidFill>
                <a:latin typeface="Calibri"/>
                <a:cs typeface="Calibri"/>
              </a:rPr>
              <a:t>Type</a:t>
            </a:r>
            <a:r>
              <a:rPr sz="1650" i="1" spc="60" dirty="0">
                <a:solidFill>
                  <a:srgbClr val="69660F"/>
                </a:solidFill>
                <a:latin typeface="Calibri"/>
                <a:cs typeface="Calibri"/>
              </a:rPr>
              <a:t> </a:t>
            </a:r>
            <a:r>
              <a:rPr sz="1650" i="1" dirty="0">
                <a:solidFill>
                  <a:srgbClr val="5B671F"/>
                </a:solidFill>
                <a:latin typeface="Calibri"/>
                <a:cs typeface="Calibri"/>
              </a:rPr>
              <a:t>I</a:t>
            </a:r>
            <a:r>
              <a:rPr sz="1650" i="1" spc="-20" dirty="0">
                <a:solidFill>
                  <a:srgbClr val="5B671F"/>
                </a:solidFill>
                <a:latin typeface="Calibri"/>
                <a:cs typeface="Calibri"/>
              </a:rPr>
              <a:t> </a:t>
            </a:r>
            <a:r>
              <a:rPr sz="1650" spc="-10" dirty="0">
                <a:solidFill>
                  <a:srgbClr val="727B26"/>
                </a:solidFill>
                <a:latin typeface="Calibri"/>
                <a:cs typeface="Calibri"/>
              </a:rPr>
              <a:t>error</a:t>
            </a:r>
            <a:endParaRPr sz="1650">
              <a:latin typeface="Calibri"/>
              <a:cs typeface="Calibri"/>
            </a:endParaRPr>
          </a:p>
          <a:p>
            <a:pPr marL="271145" algn="ctr">
              <a:lnSpc>
                <a:spcPct val="100000"/>
              </a:lnSpc>
              <a:spcBef>
                <a:spcPts val="1910"/>
              </a:spcBef>
            </a:pPr>
            <a:r>
              <a:rPr sz="2150" spc="50" dirty="0">
                <a:solidFill>
                  <a:srgbClr val="2A2A2A"/>
                </a:solidFill>
                <a:latin typeface="Arial MT"/>
                <a:cs typeface="Arial MT"/>
              </a:rPr>
              <a:t>Precision</a:t>
            </a:r>
            <a:endParaRPr sz="21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375" y="594673"/>
            <a:ext cx="8175251" cy="39541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4" y="723900"/>
            <a:ext cx="5258824" cy="29614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48750" y="4802986"/>
            <a:ext cx="5145405" cy="271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latin typeface="Calibri"/>
                <a:cs typeface="Calibri"/>
              </a:rPr>
              <a:t>Source:</a:t>
            </a:r>
            <a:endParaRPr sz="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-10" dirty="0">
                <a:latin typeface="Calibri"/>
                <a:cs typeface="Calibri"/>
              </a:rPr>
              <a:t>http</a:t>
            </a:r>
            <a:r>
              <a:rPr sz="800" spc="-10" dirty="0">
                <a:latin typeface="Calibri"/>
                <a:cs typeface="Calibri"/>
                <a:hlinkClick r:id="rId3"/>
              </a:rPr>
              <a:t>s://www.researchgate.net/figure/Calculation-</a:t>
            </a:r>
            <a:r>
              <a:rPr sz="800" spc="-20" dirty="0">
                <a:latin typeface="Calibri"/>
                <a:cs typeface="Calibri"/>
                <a:hlinkClick r:id="rId3"/>
              </a:rPr>
              <a:t>of-</a:t>
            </a:r>
            <a:r>
              <a:rPr sz="800" spc="-10" dirty="0">
                <a:latin typeface="Calibri"/>
                <a:cs typeface="Calibri"/>
                <a:hlinkClick r:id="rId3"/>
              </a:rPr>
              <a:t>Precision-</a:t>
            </a:r>
            <a:r>
              <a:rPr sz="800" spc="-20" dirty="0">
                <a:latin typeface="Calibri"/>
                <a:cs typeface="Calibri"/>
                <a:hlinkClick r:id="rId3"/>
              </a:rPr>
              <a:t>Recall-</a:t>
            </a:r>
            <a:r>
              <a:rPr sz="800" spc="-10" dirty="0">
                <a:latin typeface="Calibri"/>
                <a:cs typeface="Calibri"/>
                <a:hlinkClick r:id="rId3"/>
              </a:rPr>
              <a:t>and-</a:t>
            </a:r>
            <a:r>
              <a:rPr sz="800" spc="-20" dirty="0">
                <a:latin typeface="Calibri"/>
                <a:cs typeface="Calibri"/>
                <a:hlinkClick r:id="rId3"/>
              </a:rPr>
              <a:t>Accuracy-</a:t>
            </a:r>
            <a:r>
              <a:rPr sz="800" spc="-10" dirty="0">
                <a:latin typeface="Calibri"/>
                <a:cs typeface="Calibri"/>
                <a:hlinkClick r:id="rId3"/>
              </a:rPr>
              <a:t>in-the-confusion-matrix_fig3_336402347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826451" y="1587999"/>
            <a:ext cx="5513070" cy="2597150"/>
            <a:chOff x="2826451" y="1587999"/>
            <a:chExt cx="5513070" cy="259715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2549" y="3585449"/>
              <a:ext cx="2446928" cy="559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46862" y="1587999"/>
              <a:ext cx="1338295" cy="51934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26451" y="3725299"/>
              <a:ext cx="1567999" cy="4594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340B47B2-9914-99F0-D74B-5C7AE5BCFA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364"/>
          <a:stretch>
            <a:fillRect/>
          </a:stretch>
        </p:blipFill>
        <p:spPr>
          <a:xfrm>
            <a:off x="198645" y="702051"/>
            <a:ext cx="2665109" cy="696251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9B6D0D2-9A58-6ADE-D0AD-EDCB84C041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267"/>
          <a:stretch>
            <a:fillRect/>
          </a:stretch>
        </p:blipFill>
        <p:spPr>
          <a:xfrm>
            <a:off x="233957" y="2978025"/>
            <a:ext cx="2665242" cy="69625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0A5ADD07-16F1-2DE3-439D-32D4CEF716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1903"/>
          <a:stretch>
            <a:fillRect/>
          </a:stretch>
        </p:blipFill>
        <p:spPr>
          <a:xfrm>
            <a:off x="238889" y="4465381"/>
            <a:ext cx="2660310" cy="655352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D62E7FF-F5FC-A2E2-C925-115BD84BA02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9299"/>
          <a:stretch>
            <a:fillRect/>
          </a:stretch>
        </p:blipFill>
        <p:spPr>
          <a:xfrm>
            <a:off x="233957" y="1447623"/>
            <a:ext cx="2478613" cy="696252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7200E541-965D-17AC-4228-73BFBEB2387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31493"/>
          <a:stretch>
            <a:fillRect/>
          </a:stretch>
        </p:blipFill>
        <p:spPr>
          <a:xfrm>
            <a:off x="254050" y="2223624"/>
            <a:ext cx="2487392" cy="696252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426F5D35-309C-D65C-A2A7-B46F6BE9C6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32697"/>
          <a:stretch>
            <a:fillRect/>
          </a:stretch>
        </p:blipFill>
        <p:spPr>
          <a:xfrm>
            <a:off x="254050" y="3745199"/>
            <a:ext cx="2478614" cy="655352"/>
          </a:xfrm>
          <a:prstGeom prst="rect">
            <a:avLst/>
          </a:prstGeom>
        </p:spPr>
      </p:pic>
      <p:graphicFrame>
        <p:nvGraphicFramePr>
          <p:cNvPr id="25" name="Tabla 24">
            <a:extLst>
              <a:ext uri="{FF2B5EF4-FFF2-40B4-BE49-F238E27FC236}">
                <a16:creationId xmlns:a16="http://schemas.microsoft.com/office/drawing/2014/main" id="{9CAA35AE-0624-67A5-6068-82B50BFE5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75159"/>
              </p:ext>
            </p:extLst>
          </p:nvPr>
        </p:nvGraphicFramePr>
        <p:xfrm>
          <a:off x="6025477" y="783058"/>
          <a:ext cx="3048000" cy="411480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4220936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50" dirty="0"/>
                        <a:t>Proporción total de predicciones correctas (</a:t>
                      </a:r>
                      <a:r>
                        <a:rPr lang="es-ES" sz="105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positivas</a:t>
                      </a:r>
                      <a:r>
                        <a:rPr lang="es-ES" sz="1050" dirty="0"/>
                        <a:t> y negativas).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423529"/>
                  </a:ext>
                </a:extLst>
              </a:tr>
            </a:tbl>
          </a:graphicData>
        </a:graphic>
      </p:graphicFrame>
      <p:graphicFrame>
        <p:nvGraphicFramePr>
          <p:cNvPr id="26" name="Tabla 25">
            <a:extLst>
              <a:ext uri="{FF2B5EF4-FFF2-40B4-BE49-F238E27FC236}">
                <a16:creationId xmlns:a16="http://schemas.microsoft.com/office/drawing/2014/main" id="{758A5CBC-9F1F-300D-7426-1182F76C8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584466"/>
              </p:ext>
            </p:extLst>
          </p:nvPr>
        </p:nvGraphicFramePr>
        <p:xfrm>
          <a:off x="3206077" y="715363"/>
          <a:ext cx="2971800" cy="546870"/>
        </p:xfrm>
        <a:graphic>
          <a:graphicData uri="http://schemas.openxmlformats.org/drawingml/2006/table">
            <a:tbl>
              <a:tblPr/>
              <a:tblGrid>
                <a:gridCol w="2971800">
                  <a:extLst>
                    <a:ext uri="{9D8B030D-6E8A-4147-A177-3AD203B41FA5}">
                      <a16:colId xmlns:a16="http://schemas.microsoft.com/office/drawing/2014/main" val="171490872"/>
                    </a:ext>
                  </a:extLst>
                </a:gridCol>
              </a:tblGrid>
              <a:tr h="5468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50" dirty="0"/>
                        <a:t>Mide desempeño global; puede ser engañosa con clases desbalanceadas.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6919003"/>
                  </a:ext>
                </a:extLst>
              </a:tr>
            </a:tbl>
          </a:graphicData>
        </a:graphic>
      </p:graphicFrame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2AC67EE9-C49D-1304-C516-2C318C78E3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585367"/>
              </p:ext>
            </p:extLst>
          </p:nvPr>
        </p:nvGraphicFramePr>
        <p:xfrm>
          <a:off x="2984677" y="1444022"/>
          <a:ext cx="3262311" cy="411480"/>
        </p:xfrm>
        <a:graphic>
          <a:graphicData uri="http://schemas.openxmlformats.org/drawingml/2006/table">
            <a:tbl>
              <a:tblPr/>
              <a:tblGrid>
                <a:gridCol w="3262311">
                  <a:extLst>
                    <a:ext uri="{9D8B030D-6E8A-4147-A177-3AD203B41FA5}">
                      <a16:colId xmlns:a16="http://schemas.microsoft.com/office/drawing/2014/main" val="2389027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50" dirty="0"/>
                        <a:t>Proporción de verdaderos positivos entre todos los predichos como positivos.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0832836"/>
                  </a:ext>
                </a:extLst>
              </a:tr>
            </a:tbl>
          </a:graphicData>
        </a:graphic>
      </p:graphicFrame>
      <p:graphicFrame>
        <p:nvGraphicFramePr>
          <p:cNvPr id="28" name="Tabla 27">
            <a:extLst>
              <a:ext uri="{FF2B5EF4-FFF2-40B4-BE49-F238E27FC236}">
                <a16:creationId xmlns:a16="http://schemas.microsoft.com/office/drawing/2014/main" id="{9B54729F-2F64-BC6E-052D-ADBEF749D6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49454"/>
              </p:ext>
            </p:extLst>
          </p:nvPr>
        </p:nvGraphicFramePr>
        <p:xfrm>
          <a:off x="6025477" y="1398302"/>
          <a:ext cx="2461978" cy="251460"/>
        </p:xfrm>
        <a:graphic>
          <a:graphicData uri="http://schemas.openxmlformats.org/drawingml/2006/table">
            <a:tbl>
              <a:tblPr/>
              <a:tblGrid>
                <a:gridCol w="2461978">
                  <a:extLst>
                    <a:ext uri="{9D8B030D-6E8A-4147-A177-3AD203B41FA5}">
                      <a16:colId xmlns:a16="http://schemas.microsoft.com/office/drawing/2014/main" val="17502288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50" dirty="0"/>
                        <a:t>Alta precisión = pocos falsos positivos.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3219992"/>
                  </a:ext>
                </a:extLst>
              </a:tr>
            </a:tbl>
          </a:graphicData>
        </a:graphic>
      </p:graphicFrame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A187C293-CCC2-3C35-4AFA-CBD6C632F2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911094"/>
              </p:ext>
            </p:extLst>
          </p:nvPr>
        </p:nvGraphicFramePr>
        <p:xfrm>
          <a:off x="2943043" y="2251617"/>
          <a:ext cx="2977478" cy="411480"/>
        </p:xfrm>
        <a:graphic>
          <a:graphicData uri="http://schemas.openxmlformats.org/drawingml/2006/table">
            <a:tbl>
              <a:tblPr/>
              <a:tblGrid>
                <a:gridCol w="2977478">
                  <a:extLst>
                    <a:ext uri="{9D8B030D-6E8A-4147-A177-3AD203B41FA5}">
                      <a16:colId xmlns:a16="http://schemas.microsoft.com/office/drawing/2014/main" val="23707281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50" dirty="0"/>
                        <a:t>Proporción de verdaderos positivos detectados entre todos los positivos reales.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831810"/>
                  </a:ext>
                </a:extLst>
              </a:tr>
            </a:tbl>
          </a:graphicData>
        </a:graphic>
      </p:graphicFrame>
      <p:graphicFrame>
        <p:nvGraphicFramePr>
          <p:cNvPr id="30" name="Tabla 29">
            <a:extLst>
              <a:ext uri="{FF2B5EF4-FFF2-40B4-BE49-F238E27FC236}">
                <a16:creationId xmlns:a16="http://schemas.microsoft.com/office/drawing/2014/main" id="{CF466F8E-60C3-85D0-592F-AC3A8BD2D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380342"/>
              </p:ext>
            </p:extLst>
          </p:nvPr>
        </p:nvGraphicFramePr>
        <p:xfrm>
          <a:off x="6055214" y="2160270"/>
          <a:ext cx="2977477" cy="411480"/>
        </p:xfrm>
        <a:graphic>
          <a:graphicData uri="http://schemas.openxmlformats.org/drawingml/2006/table">
            <a:tbl>
              <a:tblPr/>
              <a:tblGrid>
                <a:gridCol w="2977477">
                  <a:extLst>
                    <a:ext uri="{9D8B030D-6E8A-4147-A177-3AD203B41FA5}">
                      <a16:colId xmlns:a16="http://schemas.microsoft.com/office/drawing/2014/main" val="10980266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50" dirty="0"/>
                        <a:t>Alto </a:t>
                      </a:r>
                      <a:r>
                        <a:rPr lang="es-ES" sz="1050" dirty="0" err="1"/>
                        <a:t>recall</a:t>
                      </a:r>
                      <a:r>
                        <a:rPr lang="es-ES" sz="1050" dirty="0"/>
                        <a:t> = pocos falsos negativos (buen detector).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521577"/>
                  </a:ext>
                </a:extLst>
              </a:tr>
            </a:tbl>
          </a:graphicData>
        </a:graphic>
      </p:graphicFrame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5E7F9AB6-34A2-EDCC-A358-53B81BE88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616436"/>
              </p:ext>
            </p:extLst>
          </p:nvPr>
        </p:nvGraphicFramePr>
        <p:xfrm>
          <a:off x="3085070" y="3162268"/>
          <a:ext cx="8201025" cy="251460"/>
        </p:xfrm>
        <a:graphic>
          <a:graphicData uri="http://schemas.openxmlformats.org/drawingml/2006/table">
            <a:tbl>
              <a:tblPr/>
              <a:tblGrid>
                <a:gridCol w="8201025">
                  <a:extLst>
                    <a:ext uri="{9D8B030D-6E8A-4147-A177-3AD203B41FA5}">
                      <a16:colId xmlns:a16="http://schemas.microsoft.com/office/drawing/2014/main" val="4200531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50" dirty="0"/>
                        <a:t>Media armónica entre precisión y </a:t>
                      </a:r>
                      <a:r>
                        <a:rPr lang="es-ES" sz="1050" dirty="0" err="1"/>
                        <a:t>recall</a:t>
                      </a:r>
                      <a:r>
                        <a:rPr lang="es-ES" sz="105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979449"/>
                  </a:ext>
                </a:extLst>
              </a:tr>
            </a:tbl>
          </a:graphicData>
        </a:graphic>
      </p:graphicFrame>
      <p:graphicFrame>
        <p:nvGraphicFramePr>
          <p:cNvPr id="32" name="Tabla 31">
            <a:extLst>
              <a:ext uri="{FF2B5EF4-FFF2-40B4-BE49-F238E27FC236}">
                <a16:creationId xmlns:a16="http://schemas.microsoft.com/office/drawing/2014/main" id="{829BAD91-0D6D-4062-B03A-FF0CC02B63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325993"/>
              </p:ext>
            </p:extLst>
          </p:nvPr>
        </p:nvGraphicFramePr>
        <p:xfrm>
          <a:off x="6055214" y="3120410"/>
          <a:ext cx="2977477" cy="411480"/>
        </p:xfrm>
        <a:graphic>
          <a:graphicData uri="http://schemas.openxmlformats.org/drawingml/2006/table">
            <a:tbl>
              <a:tblPr/>
              <a:tblGrid>
                <a:gridCol w="2977477">
                  <a:extLst>
                    <a:ext uri="{9D8B030D-6E8A-4147-A177-3AD203B41FA5}">
                      <a16:colId xmlns:a16="http://schemas.microsoft.com/office/drawing/2014/main" val="4126441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50" dirty="0"/>
                        <a:t>Equilibra precisión y </a:t>
                      </a:r>
                      <a:r>
                        <a:rPr lang="es-ES" sz="1050" dirty="0" err="1"/>
                        <a:t>recall</a:t>
                      </a:r>
                      <a:r>
                        <a:rPr lang="es-ES" sz="1050" dirty="0"/>
                        <a:t>; útil en clases desbalanceadas.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50165"/>
                  </a:ext>
                </a:extLst>
              </a:tr>
            </a:tbl>
          </a:graphicData>
        </a:graphic>
      </p:graphicFrame>
      <p:graphicFrame>
        <p:nvGraphicFramePr>
          <p:cNvPr id="33" name="Tabla 32">
            <a:extLst>
              <a:ext uri="{FF2B5EF4-FFF2-40B4-BE49-F238E27FC236}">
                <a16:creationId xmlns:a16="http://schemas.microsoft.com/office/drawing/2014/main" id="{8AE05381-FDAA-9141-7A07-C503BBABE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115334"/>
              </p:ext>
            </p:extLst>
          </p:nvPr>
        </p:nvGraphicFramePr>
        <p:xfrm>
          <a:off x="3064626" y="3823232"/>
          <a:ext cx="2797011" cy="411480"/>
        </p:xfrm>
        <a:graphic>
          <a:graphicData uri="http://schemas.openxmlformats.org/drawingml/2006/table">
            <a:tbl>
              <a:tblPr/>
              <a:tblGrid>
                <a:gridCol w="2797011">
                  <a:extLst>
                    <a:ext uri="{9D8B030D-6E8A-4147-A177-3AD203B41FA5}">
                      <a16:colId xmlns:a16="http://schemas.microsoft.com/office/drawing/2014/main" val="2207643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50" dirty="0"/>
                        <a:t>Proporción de verdaderos negativos correctamente identificados.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517818"/>
                  </a:ext>
                </a:extLst>
              </a:tr>
            </a:tbl>
          </a:graphicData>
        </a:graphic>
      </p:graphicFrame>
      <p:graphicFrame>
        <p:nvGraphicFramePr>
          <p:cNvPr id="34" name="Tabla 33">
            <a:extLst>
              <a:ext uri="{FF2B5EF4-FFF2-40B4-BE49-F238E27FC236}">
                <a16:creationId xmlns:a16="http://schemas.microsoft.com/office/drawing/2014/main" id="{DB73EFFE-1E63-4C6B-D850-44865DDDB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515522"/>
              </p:ext>
            </p:extLst>
          </p:nvPr>
        </p:nvGraphicFramePr>
        <p:xfrm>
          <a:off x="6077516" y="3785597"/>
          <a:ext cx="2743200" cy="411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2586236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050" dirty="0"/>
                        <a:t>Alta especificidad = pocos falsos positivos (buena detección de negativos).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999596"/>
                  </a:ext>
                </a:extLst>
              </a:tr>
            </a:tbl>
          </a:graphicData>
        </a:graphic>
      </p:graphicFrame>
      <p:pic>
        <p:nvPicPr>
          <p:cNvPr id="36" name="Imagen 35">
            <a:extLst>
              <a:ext uri="{FF2B5EF4-FFF2-40B4-BE49-F238E27FC236}">
                <a16:creationId xmlns:a16="http://schemas.microsoft.com/office/drawing/2014/main" id="{62FB55AC-8895-A9A8-9A8C-01EA1BF71D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8175" y="4552868"/>
            <a:ext cx="2419688" cy="590632"/>
          </a:xfrm>
          <a:prstGeom prst="rect">
            <a:avLst/>
          </a:prstGeom>
        </p:spPr>
      </p:pic>
      <p:sp>
        <p:nvSpPr>
          <p:cNvPr id="38" name="CuadroTexto 37">
            <a:extLst>
              <a:ext uri="{FF2B5EF4-FFF2-40B4-BE49-F238E27FC236}">
                <a16:creationId xmlns:a16="http://schemas.microsoft.com/office/drawing/2014/main" id="{618C7CC6-9167-F0C9-8271-C03BC5872F4A}"/>
              </a:ext>
            </a:extLst>
          </p:cNvPr>
          <p:cNvSpPr txBox="1"/>
          <p:nvPr/>
        </p:nvSpPr>
        <p:spPr>
          <a:xfrm>
            <a:off x="5918662" y="4552868"/>
            <a:ext cx="297747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050" dirty="0"/>
              <a:t>Cuanto más cerca de 1, mejor desempeño; 0.5 indica modelo aleatorio.</a:t>
            </a:r>
            <a:endParaRPr lang="es-CO" sz="1050" dirty="0"/>
          </a:p>
        </p:txBody>
      </p:sp>
    </p:spTree>
    <p:extLst>
      <p:ext uri="{BB962C8B-B14F-4D97-AF65-F5344CB8AC3E}">
        <p14:creationId xmlns:p14="http://schemas.microsoft.com/office/powerpoint/2010/main" val="16776561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3933802"/>
            <a:ext cx="1600199" cy="104820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8" y="2270086"/>
            <a:ext cx="1908048" cy="12736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12848" y="1109143"/>
            <a:ext cx="4498848" cy="394294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79919" y="3491972"/>
            <a:ext cx="2109216" cy="139557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62216" y="1511359"/>
            <a:ext cx="2081783" cy="139861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47" y="0"/>
            <a:ext cx="9137904" cy="34432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62636" y="283121"/>
            <a:ext cx="7171690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110" dirty="0">
                <a:solidFill>
                  <a:srgbClr val="696969"/>
                </a:solidFill>
              </a:rPr>
              <a:t>Your</a:t>
            </a:r>
            <a:r>
              <a:rPr sz="2350" spc="-55" dirty="0">
                <a:solidFill>
                  <a:srgbClr val="696969"/>
                </a:solidFill>
              </a:rPr>
              <a:t> </a:t>
            </a:r>
            <a:r>
              <a:rPr sz="2350" spc="-105" dirty="0">
                <a:solidFill>
                  <a:srgbClr val="646464"/>
                </a:solidFill>
              </a:rPr>
              <a:t>turn:</a:t>
            </a:r>
            <a:r>
              <a:rPr sz="2350" spc="-30" dirty="0">
                <a:solidFill>
                  <a:srgbClr val="646464"/>
                </a:solidFill>
              </a:rPr>
              <a:t> </a:t>
            </a:r>
            <a:r>
              <a:rPr sz="2350" spc="-35" dirty="0">
                <a:solidFill>
                  <a:srgbClr val="707070"/>
                </a:solidFill>
              </a:rPr>
              <a:t>classify</a:t>
            </a:r>
            <a:r>
              <a:rPr sz="2350" spc="-70" dirty="0">
                <a:solidFill>
                  <a:srgbClr val="707070"/>
                </a:solidFill>
              </a:rPr>
              <a:t> </a:t>
            </a:r>
            <a:r>
              <a:rPr sz="2350" spc="-70" dirty="0">
                <a:solidFill>
                  <a:srgbClr val="6B6B6B"/>
                </a:solidFill>
              </a:rPr>
              <a:t>each</a:t>
            </a:r>
            <a:r>
              <a:rPr sz="2350" spc="-50" dirty="0">
                <a:solidFill>
                  <a:srgbClr val="6B6B6B"/>
                </a:solidFill>
              </a:rPr>
              <a:t> </a:t>
            </a:r>
            <a:r>
              <a:rPr sz="2350" spc="-35" dirty="0">
                <a:solidFill>
                  <a:srgbClr val="6E6E6E"/>
                </a:solidFill>
              </a:rPr>
              <a:t>image</a:t>
            </a:r>
            <a:r>
              <a:rPr sz="2350" spc="-65" dirty="0">
                <a:solidFill>
                  <a:srgbClr val="6E6E6E"/>
                </a:solidFill>
              </a:rPr>
              <a:t> </a:t>
            </a:r>
            <a:r>
              <a:rPr sz="2350" spc="-55" dirty="0">
                <a:solidFill>
                  <a:srgbClr val="646464"/>
                </a:solidFill>
              </a:rPr>
              <a:t>below</a:t>
            </a:r>
            <a:r>
              <a:rPr sz="2350" spc="5" dirty="0">
                <a:solidFill>
                  <a:srgbClr val="646464"/>
                </a:solidFill>
              </a:rPr>
              <a:t> </a:t>
            </a:r>
            <a:r>
              <a:rPr sz="2350" spc="-45" dirty="0">
                <a:solidFill>
                  <a:srgbClr val="747474"/>
                </a:solidFill>
              </a:rPr>
              <a:t>as</a:t>
            </a:r>
            <a:r>
              <a:rPr sz="2350" spc="-125" dirty="0">
                <a:solidFill>
                  <a:srgbClr val="747474"/>
                </a:solidFill>
              </a:rPr>
              <a:t> </a:t>
            </a:r>
            <a:r>
              <a:rPr sz="2350" spc="-60" dirty="0">
                <a:solidFill>
                  <a:srgbClr val="646464"/>
                </a:solidFill>
              </a:rPr>
              <a:t>either"cat"</a:t>
            </a:r>
            <a:r>
              <a:rPr sz="2350" spc="-65" dirty="0">
                <a:solidFill>
                  <a:srgbClr val="646464"/>
                </a:solidFill>
              </a:rPr>
              <a:t> </a:t>
            </a:r>
            <a:r>
              <a:rPr sz="2350" spc="-10" dirty="0">
                <a:solidFill>
                  <a:srgbClr val="666666"/>
                </a:solidFill>
              </a:rPr>
              <a:t>or"not</a:t>
            </a:r>
            <a:r>
              <a:rPr sz="2350" spc="-114" dirty="0">
                <a:solidFill>
                  <a:srgbClr val="666666"/>
                </a:solidFill>
              </a:rPr>
              <a:t> </a:t>
            </a:r>
            <a:r>
              <a:rPr sz="2350" spc="-20" dirty="0">
                <a:solidFill>
                  <a:srgbClr val="646464"/>
                </a:solidFill>
              </a:rPr>
              <a:t>cat"</a:t>
            </a:r>
            <a:endParaRPr sz="235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20643"/>
            <a:ext cx="9143999" cy="415941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3598621"/>
            <a:ext cx="1700783" cy="11700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495" y="1688091"/>
            <a:ext cx="1956816" cy="169113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04288" y="877563"/>
            <a:ext cx="4334256" cy="39612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06768" y="3351807"/>
            <a:ext cx="2029968" cy="14869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82968" y="1273686"/>
            <a:ext cx="2026920" cy="165152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0" y="0"/>
            <a:ext cx="9144000" cy="256540"/>
            <a:chOff x="0" y="0"/>
            <a:chExt cx="9144000" cy="256540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9144000" cy="25595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9144000" cy="255956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96696" y="1803881"/>
            <a:ext cx="301752" cy="14016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08888" y="3836295"/>
            <a:ext cx="310896" cy="149307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56104" y="2794187"/>
            <a:ext cx="371856" cy="15540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359151" y="3010532"/>
            <a:ext cx="283463" cy="15235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096767" y="2678398"/>
            <a:ext cx="301752" cy="17368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68111" y="1432135"/>
            <a:ext cx="274320" cy="14321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717535" y="1496124"/>
            <a:ext cx="307848" cy="149307"/>
          </a:xfrm>
          <a:prstGeom prst="rect">
            <a:avLst/>
          </a:prstGeom>
        </p:spPr>
      </p:pic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234573" y="225735"/>
            <a:ext cx="595122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45" dirty="0">
                <a:solidFill>
                  <a:srgbClr val="606060"/>
                </a:solidFill>
              </a:rPr>
              <a:t>Hypothetical</a:t>
            </a:r>
            <a:r>
              <a:rPr sz="2250" spc="-55" dirty="0">
                <a:solidFill>
                  <a:srgbClr val="606060"/>
                </a:solidFill>
              </a:rPr>
              <a:t> </a:t>
            </a:r>
            <a:r>
              <a:rPr sz="2250" spc="-40" dirty="0">
                <a:solidFill>
                  <a:srgbClr val="606060"/>
                </a:solidFill>
              </a:rPr>
              <a:t>results</a:t>
            </a:r>
            <a:r>
              <a:rPr sz="2250" spc="-50" dirty="0">
                <a:solidFill>
                  <a:srgbClr val="606060"/>
                </a:solidFill>
              </a:rPr>
              <a:t> </a:t>
            </a:r>
            <a:r>
              <a:rPr sz="2250" spc="-60" dirty="0">
                <a:solidFill>
                  <a:srgbClr val="666666"/>
                </a:solidFill>
              </a:rPr>
              <a:t>from</a:t>
            </a:r>
            <a:r>
              <a:rPr sz="2250" spc="-15" dirty="0">
                <a:solidFill>
                  <a:srgbClr val="666666"/>
                </a:solidFill>
              </a:rPr>
              <a:t> </a:t>
            </a:r>
            <a:r>
              <a:rPr sz="2250" spc="-80" dirty="0">
                <a:solidFill>
                  <a:srgbClr val="707070"/>
                </a:solidFill>
              </a:rPr>
              <a:t>our</a:t>
            </a:r>
            <a:r>
              <a:rPr sz="2250" spc="-50" dirty="0">
                <a:solidFill>
                  <a:srgbClr val="707070"/>
                </a:solidFill>
              </a:rPr>
              <a:t> </a:t>
            </a:r>
            <a:r>
              <a:rPr sz="2250" spc="-45" dirty="0">
                <a:solidFill>
                  <a:srgbClr val="666666"/>
                </a:solidFill>
              </a:rPr>
              <a:t>classification</a:t>
            </a:r>
            <a:r>
              <a:rPr sz="2250" spc="-85" dirty="0">
                <a:solidFill>
                  <a:srgbClr val="666666"/>
                </a:solidFill>
              </a:rPr>
              <a:t> </a:t>
            </a:r>
            <a:r>
              <a:rPr sz="2250" dirty="0">
                <a:solidFill>
                  <a:srgbClr val="696969"/>
                </a:solidFill>
              </a:rPr>
              <a:t>ML</a:t>
            </a:r>
            <a:r>
              <a:rPr sz="2250" spc="-45" dirty="0">
                <a:solidFill>
                  <a:srgbClr val="696969"/>
                </a:solidFill>
              </a:rPr>
              <a:t> </a:t>
            </a:r>
            <a:r>
              <a:rPr sz="2250" spc="-10" dirty="0">
                <a:solidFill>
                  <a:srgbClr val="6B6B6B"/>
                </a:solidFill>
              </a:rPr>
              <a:t>model</a:t>
            </a:r>
            <a:endParaRPr sz="2250"/>
          </a:p>
        </p:txBody>
      </p:sp>
      <p:sp>
        <p:nvSpPr>
          <p:cNvPr id="18" name="object 18"/>
          <p:cNvSpPr txBox="1"/>
          <p:nvPr/>
        </p:nvSpPr>
        <p:spPr>
          <a:xfrm>
            <a:off x="3071498" y="2812212"/>
            <a:ext cx="31940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39"/>
              </a:lnSpc>
              <a:spcBef>
                <a:spcPts val="100"/>
              </a:spcBef>
            </a:pPr>
            <a:r>
              <a:rPr sz="1750" spc="-25" dirty="0">
                <a:solidFill>
                  <a:srgbClr val="030303"/>
                </a:solidFill>
                <a:latin typeface="Calibri"/>
                <a:cs typeface="Calibri"/>
              </a:rPr>
              <a:t>No</a:t>
            </a:r>
            <a:endParaRPr sz="1750">
              <a:latin typeface="Calibri"/>
              <a:cs typeface="Calibri"/>
            </a:endParaRPr>
          </a:p>
          <a:p>
            <a:pPr marL="13335">
              <a:lnSpc>
                <a:spcPts val="2160"/>
              </a:lnSpc>
            </a:pPr>
            <a:r>
              <a:rPr sz="2100" spc="-85" dirty="0">
                <a:solidFill>
                  <a:srgbClr val="60851C"/>
                </a:solidFill>
                <a:latin typeface="Calibri"/>
                <a:cs typeface="Calibri"/>
              </a:rPr>
              <a:t>cæ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34906" y="3056488"/>
            <a:ext cx="87693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840" algn="l"/>
              </a:tabLst>
            </a:pPr>
            <a:r>
              <a:rPr sz="1650" spc="-25" dirty="0">
                <a:solidFill>
                  <a:srgbClr val="082300"/>
                </a:solidFill>
                <a:latin typeface="Arial MT"/>
                <a:cs typeface="Arial MT"/>
              </a:rPr>
              <a:t>Nb</a:t>
            </a:r>
            <a:r>
              <a:rPr sz="1650" dirty="0">
                <a:solidFill>
                  <a:srgbClr val="082300"/>
                </a:solidFill>
                <a:latin typeface="Arial MT"/>
                <a:cs typeface="Arial MT"/>
              </a:rPr>
              <a:t>	</a:t>
            </a:r>
            <a:r>
              <a:rPr sz="1650" spc="-90" dirty="0">
                <a:solidFill>
                  <a:srgbClr val="052300"/>
                </a:solidFill>
                <a:latin typeface="Arial MT"/>
                <a:cs typeface="Arial MT"/>
              </a:rPr>
              <a:t>Nb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88762" y="1278760"/>
            <a:ext cx="407670" cy="74866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700" marR="5080" indent="2540">
              <a:lnSpc>
                <a:spcPct val="80200"/>
              </a:lnSpc>
              <a:spcBef>
                <a:spcPts val="550"/>
              </a:spcBef>
            </a:pPr>
            <a:r>
              <a:rPr sz="1900" spc="-130" dirty="0">
                <a:latin typeface="Calibri"/>
                <a:cs typeface="Calibri"/>
              </a:rPr>
              <a:t>You: </a:t>
            </a:r>
            <a:r>
              <a:rPr sz="1750" spc="-25" dirty="0">
                <a:solidFill>
                  <a:srgbClr val="3D5E00"/>
                </a:solidFill>
                <a:latin typeface="Calibri"/>
                <a:cs typeface="Calibri"/>
              </a:rPr>
              <a:t>No </a:t>
            </a:r>
            <a:r>
              <a:rPr sz="1800" spc="-25" dirty="0">
                <a:solidFill>
                  <a:srgbClr val="597921"/>
                </a:solidFill>
                <a:latin typeface="Calibri"/>
                <a:cs typeface="Calibri"/>
              </a:rPr>
              <a:t>Cët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21459" y="3476734"/>
            <a:ext cx="31623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050505"/>
                </a:solidFill>
                <a:latin typeface="Calibri"/>
                <a:cs typeface="Calibri"/>
              </a:rPr>
              <a:t>Cat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984" y="3619950"/>
            <a:ext cx="1566672" cy="117008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535" y="1657620"/>
            <a:ext cx="1975104" cy="172465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37232" y="840999"/>
            <a:ext cx="4431792" cy="40160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37247" y="3345712"/>
            <a:ext cx="2060448" cy="15113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010400" y="1249310"/>
            <a:ext cx="2048255" cy="166980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6864095" y="3103468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4">
                <a:moveTo>
                  <a:pt x="0" y="0"/>
                </a:moveTo>
                <a:lnTo>
                  <a:pt x="649224" y="0"/>
                </a:lnTo>
              </a:path>
            </a:pathLst>
          </a:custGeom>
          <a:ln w="91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620000" y="3097373"/>
            <a:ext cx="649605" cy="0"/>
          </a:xfrm>
          <a:custGeom>
            <a:avLst/>
            <a:gdLst/>
            <a:ahLst/>
            <a:cxnLst/>
            <a:rect l="l" t="t" r="r" b="b"/>
            <a:pathLst>
              <a:path w="649604">
                <a:moveTo>
                  <a:pt x="0" y="0"/>
                </a:moveTo>
                <a:lnTo>
                  <a:pt x="649224" y="0"/>
                </a:lnTo>
              </a:path>
            </a:pathLst>
          </a:custGeom>
          <a:ln w="91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0" y="0"/>
            <a:ext cx="9144000" cy="207645"/>
            <a:chOff x="0" y="0"/>
            <a:chExt cx="9144000" cy="20764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9144000" cy="20720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9144000" cy="207202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14400" y="1276733"/>
            <a:ext cx="518159" cy="14930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439" y="3598621"/>
            <a:ext cx="1176528" cy="74653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13319" y="3360948"/>
            <a:ext cx="417575" cy="262050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177194" y="146765"/>
            <a:ext cx="61423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626262"/>
                </a:solidFill>
              </a:rPr>
              <a:t>Hypothetical</a:t>
            </a:r>
            <a:r>
              <a:rPr sz="2200" spc="105" dirty="0">
                <a:solidFill>
                  <a:srgbClr val="626262"/>
                </a:solidFill>
              </a:rPr>
              <a:t> </a:t>
            </a:r>
            <a:r>
              <a:rPr sz="2200" dirty="0">
                <a:solidFill>
                  <a:srgbClr val="696969"/>
                </a:solidFill>
              </a:rPr>
              <a:t>results</a:t>
            </a:r>
            <a:r>
              <a:rPr sz="2200" spc="45" dirty="0">
                <a:solidFill>
                  <a:srgbClr val="696969"/>
                </a:solidFill>
              </a:rPr>
              <a:t> </a:t>
            </a:r>
            <a:r>
              <a:rPr sz="2200" dirty="0">
                <a:solidFill>
                  <a:srgbClr val="696969"/>
                </a:solidFill>
              </a:rPr>
              <a:t>from</a:t>
            </a:r>
            <a:r>
              <a:rPr sz="2200" spc="70" dirty="0">
                <a:solidFill>
                  <a:srgbClr val="696969"/>
                </a:solidFill>
              </a:rPr>
              <a:t> </a:t>
            </a:r>
            <a:r>
              <a:rPr sz="2200" dirty="0">
                <a:solidFill>
                  <a:srgbClr val="666666"/>
                </a:solidFill>
              </a:rPr>
              <a:t>our </a:t>
            </a:r>
            <a:r>
              <a:rPr sz="2200" dirty="0">
                <a:solidFill>
                  <a:srgbClr val="646464"/>
                </a:solidFill>
              </a:rPr>
              <a:t>classification</a:t>
            </a:r>
            <a:r>
              <a:rPr sz="2200" spc="-80" dirty="0">
                <a:solidFill>
                  <a:srgbClr val="646464"/>
                </a:solidFill>
              </a:rPr>
              <a:t> </a:t>
            </a:r>
            <a:r>
              <a:rPr sz="2200" dirty="0">
                <a:solidFill>
                  <a:srgbClr val="676767"/>
                </a:solidFill>
              </a:rPr>
              <a:t>ML</a:t>
            </a:r>
            <a:r>
              <a:rPr sz="2200" spc="-15" dirty="0">
                <a:solidFill>
                  <a:srgbClr val="676767"/>
                </a:solidFill>
              </a:rPr>
              <a:t> </a:t>
            </a:r>
            <a:r>
              <a:rPr sz="2200" spc="-10" dirty="0">
                <a:solidFill>
                  <a:srgbClr val="646464"/>
                </a:solidFill>
              </a:rPr>
              <a:t>model</a:t>
            </a:r>
            <a:endParaRPr sz="2200"/>
          </a:p>
        </p:txBody>
      </p:sp>
      <p:sp>
        <p:nvSpPr>
          <p:cNvPr id="16" name="object 16"/>
          <p:cNvSpPr txBox="1"/>
          <p:nvPr/>
        </p:nvSpPr>
        <p:spPr>
          <a:xfrm>
            <a:off x="171545" y="2013619"/>
            <a:ext cx="31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2F2A00"/>
                </a:solidFill>
                <a:latin typeface="Calibri"/>
                <a:cs typeface="Calibri"/>
              </a:rPr>
              <a:t>Cat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14891" y="2925209"/>
            <a:ext cx="30734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25" dirty="0">
                <a:solidFill>
                  <a:srgbClr val="362F00"/>
                </a:solidFill>
                <a:latin typeface="Calibri"/>
                <a:cs typeface="Calibri"/>
              </a:rPr>
              <a:t>Cat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05714" y="1244735"/>
            <a:ext cx="1885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232600"/>
                </a:solidFill>
                <a:latin typeface="Calibri"/>
                <a:cs typeface="Calibri"/>
              </a:rPr>
              <a:t>6t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97998" y="1193950"/>
            <a:ext cx="189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0" dirty="0">
                <a:solidFill>
                  <a:srgbClr val="1A1100"/>
                </a:solidFill>
                <a:latin typeface="Calibri"/>
                <a:cs typeface="Calibri"/>
              </a:rPr>
              <a:t>at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26515" y="3457435"/>
            <a:ext cx="10388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2759" algn="l"/>
              </a:tabLst>
            </a:pPr>
            <a:r>
              <a:rPr sz="1700" spc="-25" dirty="0">
                <a:solidFill>
                  <a:srgbClr val="1F1F1F"/>
                </a:solidFill>
                <a:latin typeface="Calibri"/>
                <a:cs typeface="Calibri"/>
              </a:rPr>
              <a:t>Cat</a:t>
            </a:r>
            <a:r>
              <a:rPr sz="1700" dirty="0">
                <a:solidFill>
                  <a:srgbClr val="1F1F1F"/>
                </a:solidFill>
                <a:latin typeface="Calibri"/>
                <a:cs typeface="Calibri"/>
              </a:rPr>
              <a:t>	</a:t>
            </a:r>
            <a:r>
              <a:rPr sz="1900" spc="-110" dirty="0">
                <a:solidFill>
                  <a:srgbClr val="50D405"/>
                </a:solidFill>
                <a:latin typeface="Cambria"/>
                <a:cs typeface="Cambria"/>
              </a:rPr>
              <a:t>s@’.at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40029" y="1415372"/>
            <a:ext cx="309880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>
              <a:lnSpc>
                <a:spcPts val="1575"/>
              </a:lnSpc>
              <a:spcBef>
                <a:spcPts val="100"/>
              </a:spcBef>
            </a:pPr>
            <a:r>
              <a:rPr sz="1400" spc="-25" dirty="0">
                <a:latin typeface="Calibri"/>
                <a:cs typeface="Calibri"/>
              </a:rPr>
              <a:t>L: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ts val="1995"/>
              </a:lnSpc>
            </a:pPr>
            <a:r>
              <a:rPr sz="1750" spc="-30" dirty="0">
                <a:solidFill>
                  <a:srgbClr val="594F0F"/>
                </a:solidFill>
                <a:latin typeface="Calibri"/>
                <a:cs typeface="Calibri"/>
              </a:rPr>
              <a:t>Cat</a:t>
            </a:r>
            <a:endParaRPr sz="17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6719" y="3671751"/>
            <a:ext cx="1633727" cy="9903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86016" y="3223828"/>
            <a:ext cx="1993392" cy="150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83407" y="1005541"/>
            <a:ext cx="3846576" cy="17307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98207" y="1499171"/>
            <a:ext cx="2042159" cy="13590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47" y="0"/>
            <a:ext cx="9137904" cy="35346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62947" y="317655"/>
            <a:ext cx="3718560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79450" algn="l"/>
                <a:tab pos="3308985" algn="l"/>
              </a:tabLst>
            </a:pPr>
            <a:r>
              <a:rPr sz="2150" spc="-20" dirty="0">
                <a:solidFill>
                  <a:srgbClr val="4F4F4F"/>
                </a:solidFill>
                <a:latin typeface="Calibri"/>
                <a:cs typeface="Calibri"/>
              </a:rPr>
              <a:t>Quiz</a:t>
            </a:r>
            <a:r>
              <a:rPr sz="2150" dirty="0">
                <a:solidFill>
                  <a:srgbClr val="4F4F4F"/>
                </a:solidFill>
                <a:latin typeface="Calibri"/>
                <a:cs typeface="Calibri"/>
              </a:rPr>
              <a:t>	</a:t>
            </a:r>
            <a:r>
              <a:rPr sz="2150" spc="-95" dirty="0">
                <a:solidFill>
                  <a:srgbClr val="4F4F4F"/>
                </a:solidFill>
                <a:latin typeface="Calibri"/>
                <a:cs typeface="Calibri"/>
              </a:rPr>
              <a:t>No\’/</a:t>
            </a:r>
            <a:r>
              <a:rPr sz="2150" spc="13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150" spc="65" dirty="0">
                <a:solidFill>
                  <a:srgbClr val="4B4B4B"/>
                </a:solidFill>
                <a:latin typeface="Calibri"/>
                <a:cs typeface="Calibri"/>
              </a:rPr>
              <a:t>precise</a:t>
            </a:r>
            <a:r>
              <a:rPr sz="215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2150" spc="-165" dirty="0">
                <a:solidFill>
                  <a:srgbClr val="525252"/>
                </a:solidFill>
                <a:latin typeface="Calibri"/>
                <a:cs typeface="Calibri"/>
              </a:rPr>
              <a:t>›x</a:t>
            </a:r>
            <a:r>
              <a:rPr sz="215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150" dirty="0">
                <a:solidFill>
                  <a:srgbClr val="525252"/>
                </a:solidFill>
                <a:latin typeface="Calibri"/>
                <a:cs typeface="Calibri"/>
              </a:rPr>
              <a:t>dS</a:t>
            </a:r>
            <a:r>
              <a:rPr sz="2150" spc="12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646464"/>
                </a:solidFill>
                <a:latin typeface="Calibri"/>
                <a:cs typeface="Calibri"/>
              </a:rPr>
              <a:t>our</a:t>
            </a:r>
            <a:r>
              <a:rPr sz="2150" dirty="0">
                <a:solidFill>
                  <a:srgbClr val="646464"/>
                </a:solidFill>
                <a:latin typeface="Calibri"/>
                <a:cs typeface="Calibri"/>
              </a:rPr>
              <a:t>	</a:t>
            </a:r>
            <a:r>
              <a:rPr sz="2150" spc="-20" dirty="0">
                <a:solidFill>
                  <a:srgbClr val="4B4B4B"/>
                </a:solidFill>
                <a:latin typeface="Calibri"/>
                <a:cs typeface="Calibri"/>
              </a:rPr>
              <a:t>’cat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39415" y="317655"/>
            <a:ext cx="1341755" cy="353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50" spc="50" dirty="0">
                <a:solidFill>
                  <a:srgbClr val="505050"/>
                </a:solidFill>
                <a:latin typeface="Calibri"/>
                <a:cs typeface="Calibri"/>
              </a:rPr>
              <a:t>ML</a:t>
            </a:r>
            <a:r>
              <a:rPr sz="2150" spc="180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545454"/>
                </a:solidFill>
                <a:latin typeface="Calibri"/>
                <a:cs typeface="Calibri"/>
              </a:rPr>
              <a:t>nzod«l*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7141" y="3390146"/>
            <a:ext cx="1219200" cy="41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-10" dirty="0">
                <a:solidFill>
                  <a:srgbClr val="3A3A3A"/>
                </a:solidFill>
                <a:latin typeface="Calibri"/>
                <a:cs typeface="Calibri"/>
              </a:rPr>
              <a:t>Precision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83774" y="3390146"/>
            <a:ext cx="1864360" cy="824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spc="70" dirty="0">
                <a:solidFill>
                  <a:srgbClr val="3B3B3B"/>
                </a:solidFill>
                <a:latin typeface="Calibri"/>
                <a:cs typeface="Calibri"/>
              </a:rPr>
              <a:t>TP</a:t>
            </a:r>
            <a:r>
              <a:rPr sz="2550" spc="1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50" spc="-280" dirty="0">
                <a:solidFill>
                  <a:srgbClr val="5D5D5D"/>
                </a:solidFill>
                <a:latin typeface="Calibri"/>
                <a:cs typeface="Calibri"/>
              </a:rPr>
              <a:t>/</a:t>
            </a:r>
            <a:r>
              <a:rPr sz="2550" spc="150" dirty="0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sz="2550" spc="70" dirty="0">
                <a:solidFill>
                  <a:srgbClr val="424242"/>
                </a:solidFill>
                <a:latin typeface="Calibri"/>
                <a:cs typeface="Calibri"/>
              </a:rPr>
              <a:t>(TP</a:t>
            </a:r>
            <a:r>
              <a:rPr sz="2550" spc="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63636"/>
                </a:solidFill>
                <a:latin typeface="Calibri"/>
                <a:cs typeface="Calibri"/>
              </a:rPr>
              <a:t>+</a:t>
            </a:r>
            <a:r>
              <a:rPr sz="2550" spc="5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550" spc="45" dirty="0">
                <a:solidFill>
                  <a:srgbClr val="313131"/>
                </a:solidFill>
                <a:latin typeface="Calibri"/>
                <a:cs typeface="Calibri"/>
              </a:rPr>
              <a:t>FP)</a:t>
            </a:r>
            <a:endParaRPr sz="255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55"/>
              </a:spcBef>
              <a:tabLst>
                <a:tab pos="935355" algn="l"/>
              </a:tabLst>
            </a:pPr>
            <a:r>
              <a:rPr sz="2650" dirty="0">
                <a:solidFill>
                  <a:srgbClr val="383838"/>
                </a:solidFill>
                <a:latin typeface="Calibri"/>
                <a:cs typeface="Calibri"/>
              </a:rPr>
              <a:t>2</a:t>
            </a:r>
            <a:r>
              <a:rPr sz="2650" spc="9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650" spc="-320" dirty="0">
                <a:solidFill>
                  <a:srgbClr val="595959"/>
                </a:solidFill>
                <a:latin typeface="Calibri"/>
                <a:cs typeface="Calibri"/>
              </a:rPr>
              <a:t>/</a:t>
            </a:r>
            <a:r>
              <a:rPr sz="2650" spc="1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2650" spc="-50" dirty="0">
                <a:solidFill>
                  <a:srgbClr val="575757"/>
                </a:solidFill>
                <a:latin typeface="Calibri"/>
                <a:cs typeface="Calibri"/>
              </a:rPr>
              <a:t>5</a:t>
            </a:r>
            <a:r>
              <a:rPr sz="2650" dirty="0">
                <a:solidFill>
                  <a:srgbClr val="575757"/>
                </a:solidFill>
                <a:latin typeface="Calibri"/>
                <a:cs typeface="Calibri"/>
              </a:rPr>
              <a:t>	</a:t>
            </a:r>
            <a:r>
              <a:rPr sz="2650" dirty="0">
                <a:solidFill>
                  <a:srgbClr val="282828"/>
                </a:solidFill>
                <a:latin typeface="Calibri"/>
                <a:cs typeface="Calibri"/>
              </a:rPr>
              <a:t>0</a:t>
            </a:r>
            <a:r>
              <a:rPr sz="2650" spc="-4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650" spc="-25" dirty="0">
                <a:solidFill>
                  <a:srgbClr val="282828"/>
                </a:solidFill>
                <a:latin typeface="Calibri"/>
                <a:cs typeface="Calibri"/>
              </a:rPr>
              <a:t>40</a:t>
            </a:r>
            <a:endParaRPr sz="26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" y="1791693"/>
            <a:ext cx="4248912" cy="31659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58000" y="3010532"/>
            <a:ext cx="2170176" cy="143822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34696" y="18282"/>
            <a:ext cx="8909685" cy="15240"/>
          </a:xfrm>
          <a:custGeom>
            <a:avLst/>
            <a:gdLst/>
            <a:ahLst/>
            <a:cxnLst/>
            <a:rect l="l" t="t" r="r" b="b"/>
            <a:pathLst>
              <a:path w="8909685" h="15240">
                <a:moveTo>
                  <a:pt x="8909304" y="15239"/>
                </a:moveTo>
                <a:lnTo>
                  <a:pt x="0" y="15239"/>
                </a:lnTo>
                <a:lnTo>
                  <a:pt x="0" y="0"/>
                </a:lnTo>
                <a:lnTo>
                  <a:pt x="8909304" y="0"/>
                </a:lnTo>
                <a:lnTo>
                  <a:pt x="8909304" y="15239"/>
                </a:lnTo>
                <a:close/>
              </a:path>
            </a:pathLst>
          </a:custGeom>
          <a:solidFill>
            <a:srgbClr val="384F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8731" y="36307"/>
            <a:ext cx="5151755" cy="38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50" spc="-20" dirty="0">
                <a:solidFill>
                  <a:srgbClr val="494949"/>
                </a:solidFill>
                <a:latin typeface="Arial MT"/>
                <a:cs typeface="Arial MT"/>
              </a:rPr>
              <a:t>Quiz:</a:t>
            </a:r>
            <a:r>
              <a:rPr sz="2350" spc="13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350" spc="-150" dirty="0">
                <a:solidFill>
                  <a:srgbClr val="444444"/>
                </a:solidFill>
                <a:latin typeface="Arial MT"/>
                <a:cs typeface="Arial MT"/>
              </a:rPr>
              <a:t>Wha1</a:t>
            </a:r>
            <a:r>
              <a:rPr sz="2350" spc="-16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494949"/>
                </a:solidFill>
                <a:latin typeface="Arial MT"/>
                <a:cs typeface="Arial MT"/>
              </a:rPr>
              <a:t>recall</a:t>
            </a:r>
            <a:r>
              <a:rPr sz="2350" spc="12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565656"/>
                </a:solidFill>
                <a:latin typeface="Arial MT"/>
                <a:cs typeface="Arial MT"/>
              </a:rPr>
              <a:t>did</a:t>
            </a:r>
            <a:r>
              <a:rPr sz="2350" spc="70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505050"/>
                </a:solidFill>
                <a:latin typeface="Arial MT"/>
                <a:cs typeface="Arial MT"/>
              </a:rPr>
              <a:t>our</a:t>
            </a:r>
            <a:r>
              <a:rPr sz="2350" spc="125" dirty="0">
                <a:solidFill>
                  <a:srgbClr val="505050"/>
                </a:solidFill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525252"/>
                </a:solidFill>
                <a:latin typeface="Arial MT"/>
                <a:cs typeface="Arial MT"/>
              </a:rPr>
              <a:t>model</a:t>
            </a:r>
            <a:r>
              <a:rPr sz="2350" spc="14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2350" spc="-10" dirty="0">
                <a:solidFill>
                  <a:srgbClr val="4D4D4D"/>
                </a:solidFill>
                <a:latin typeface="Arial MT"/>
                <a:cs typeface="Arial MT"/>
              </a:rPr>
              <a:t>have?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0258" y="1416920"/>
            <a:ext cx="2848610" cy="82423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2300" spc="-70" dirty="0">
                <a:solidFill>
                  <a:srgbClr val="3D3D3D"/>
                </a:solidFill>
                <a:latin typeface="Arial MT"/>
                <a:cs typeface="Arial MT"/>
              </a:rPr>
              <a:t>Recall</a:t>
            </a:r>
            <a:r>
              <a:rPr sz="2300" spc="4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300" spc="-310" dirty="0">
                <a:solidFill>
                  <a:srgbClr val="484848"/>
                </a:solidFill>
                <a:latin typeface="Arial MT"/>
                <a:cs typeface="Arial MT"/>
              </a:rPr>
              <a:t>=</a:t>
            </a:r>
            <a:r>
              <a:rPr sz="2300" spc="5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2300" spc="-135" dirty="0">
                <a:solidFill>
                  <a:srgbClr val="3D3D3D"/>
                </a:solidFill>
                <a:latin typeface="Arial MT"/>
                <a:cs typeface="Arial MT"/>
              </a:rPr>
              <a:t>TP</a:t>
            </a:r>
            <a:r>
              <a:rPr sz="2300" spc="1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5D5D5D"/>
                </a:solidFill>
                <a:latin typeface="Arial MT"/>
                <a:cs typeface="Arial MT"/>
              </a:rPr>
              <a:t>/</a:t>
            </a:r>
            <a:r>
              <a:rPr sz="2300" spc="10" dirty="0">
                <a:solidFill>
                  <a:srgbClr val="5D5D5D"/>
                </a:solidFill>
                <a:latin typeface="Arial MT"/>
                <a:cs typeface="Arial MT"/>
              </a:rPr>
              <a:t> </a:t>
            </a:r>
            <a:r>
              <a:rPr sz="2300" spc="-90" dirty="0">
                <a:solidFill>
                  <a:srgbClr val="4D4D4D"/>
                </a:solidFill>
                <a:latin typeface="Arial MT"/>
                <a:cs typeface="Arial MT"/>
              </a:rPr>
              <a:t>(TP</a:t>
            </a:r>
            <a:r>
              <a:rPr sz="2300" spc="-4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2300" spc="-100" dirty="0">
                <a:solidFill>
                  <a:srgbClr val="444444"/>
                </a:solidFill>
                <a:latin typeface="Arial MT"/>
                <a:cs typeface="Arial MT"/>
              </a:rPr>
              <a:t>+</a:t>
            </a:r>
            <a:r>
              <a:rPr sz="2300" spc="-8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2300" spc="-120" dirty="0">
                <a:solidFill>
                  <a:srgbClr val="383838"/>
                </a:solidFill>
                <a:latin typeface="Arial MT"/>
                <a:cs typeface="Arial MT"/>
              </a:rPr>
              <a:t>FN)</a:t>
            </a:r>
            <a:endParaRPr sz="2300">
              <a:latin typeface="Arial MT"/>
              <a:cs typeface="Arial MT"/>
            </a:endParaRPr>
          </a:p>
          <a:p>
            <a:pPr marL="857885">
              <a:lnSpc>
                <a:spcPct val="100000"/>
              </a:lnSpc>
              <a:spcBef>
                <a:spcPts val="434"/>
              </a:spcBef>
            </a:pPr>
            <a:r>
              <a:rPr sz="2200" spc="-325" dirty="0">
                <a:solidFill>
                  <a:srgbClr val="707070"/>
                </a:solidFill>
                <a:latin typeface="Arial MT"/>
                <a:cs typeface="Arial MT"/>
              </a:rPr>
              <a:t>=</a:t>
            </a:r>
            <a:r>
              <a:rPr sz="2200" spc="170" dirty="0">
                <a:solidFill>
                  <a:srgbClr val="707070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94949"/>
                </a:solidFill>
                <a:latin typeface="Arial MT"/>
                <a:cs typeface="Arial MT"/>
              </a:rPr>
              <a:t>2</a:t>
            </a:r>
            <a:r>
              <a:rPr sz="2200" spc="-3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696969"/>
                </a:solidFill>
                <a:latin typeface="Arial MT"/>
                <a:cs typeface="Arial MT"/>
              </a:rPr>
              <a:t>/</a:t>
            </a:r>
            <a:r>
              <a:rPr sz="2200" spc="130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464646"/>
                </a:solidFill>
                <a:latin typeface="Arial MT"/>
                <a:cs typeface="Arial MT"/>
              </a:rPr>
              <a:t>4</a:t>
            </a:r>
            <a:r>
              <a:rPr sz="2200" spc="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2200" spc="-325" dirty="0">
                <a:solidFill>
                  <a:srgbClr val="6E6E6E"/>
                </a:solidFill>
                <a:latin typeface="Arial MT"/>
                <a:cs typeface="Arial MT"/>
              </a:rPr>
              <a:t>=</a:t>
            </a:r>
            <a:r>
              <a:rPr sz="2200" spc="95" dirty="0">
                <a:solidFill>
                  <a:srgbClr val="6E6E6E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565656"/>
                </a:solidFill>
                <a:latin typeface="Arial MT"/>
                <a:cs typeface="Arial MT"/>
              </a:rPr>
              <a:t>0.50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802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Homework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7432" y="1339072"/>
            <a:ext cx="8510270" cy="3308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6235" algn="l"/>
              </a:tabLst>
            </a:pPr>
            <a:r>
              <a:rPr sz="2600" spc="-40" dirty="0">
                <a:latin typeface="Calibri"/>
                <a:cs typeface="Calibri"/>
              </a:rPr>
              <a:t>Your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First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Machine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Learning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Model</a:t>
            </a:r>
            <a:endParaRPr sz="2600">
              <a:latin typeface="Calibri"/>
              <a:cs typeface="Calibri"/>
            </a:endParaRPr>
          </a:p>
          <a:p>
            <a:pPr marL="812165" marR="30480" lvl="1" indent="-354965" algn="just">
              <a:lnSpc>
                <a:spcPct val="100699"/>
              </a:lnSpc>
              <a:spcBef>
                <a:spcPts val="5"/>
              </a:spcBef>
              <a:buClr>
                <a:srgbClr val="000000"/>
              </a:buClr>
              <a:buFont typeface="Arial MT"/>
              <a:buChar char="–"/>
              <a:tabLst>
                <a:tab pos="813435" algn="l"/>
              </a:tabLst>
            </a:pPr>
            <a:r>
              <a:rPr sz="1800" u="heavy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https://www.kaggle.com/dansbecker/your-first-</a:t>
            </a: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machine-learning-</a:t>
            </a: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model?utm_me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 	</a:t>
            </a: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dium=email&amp;utm_source=gamma&amp;utm_campaign=thirty-days-</a:t>
            </a:r>
            <a:r>
              <a:rPr sz="1800" u="heavy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of-</a:t>
            </a: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ml&amp;utm_conten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 	</a:t>
            </a: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t=day-</a:t>
            </a:r>
            <a:r>
              <a:rPr sz="1800" u="heavy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9</a:t>
            </a:r>
            <a:endParaRPr sz="1800">
              <a:latin typeface="Calibri"/>
              <a:cs typeface="Calibri"/>
            </a:endParaRPr>
          </a:p>
          <a:p>
            <a:pPr marL="356235" indent="-343535">
              <a:lnSpc>
                <a:spcPts val="3105"/>
              </a:lnSpc>
              <a:buFont typeface="Arial MT"/>
              <a:buChar char="•"/>
              <a:tabLst>
                <a:tab pos="356235" algn="l"/>
              </a:tabLst>
            </a:pPr>
            <a:r>
              <a:rPr sz="2600" dirty="0">
                <a:latin typeface="Calibri"/>
                <a:cs typeface="Calibri"/>
              </a:rPr>
              <a:t>Model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Validation</a:t>
            </a:r>
            <a:endParaRPr sz="2600">
              <a:latin typeface="Calibri"/>
              <a:cs typeface="Calibri"/>
            </a:endParaRPr>
          </a:p>
          <a:p>
            <a:pPr marL="813435" lvl="1" indent="-355600">
              <a:lnSpc>
                <a:spcPct val="100000"/>
              </a:lnSpc>
              <a:spcBef>
                <a:spcPts val="60"/>
              </a:spcBef>
              <a:buClr>
                <a:srgbClr val="000000"/>
              </a:buClr>
              <a:buFont typeface="Arial MT"/>
              <a:buChar char="–"/>
              <a:tabLst>
                <a:tab pos="813435" algn="l"/>
              </a:tabLst>
            </a:pP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https://www.kaggle.com/dansbecker/model-</a:t>
            </a: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validation?utm_medium=email&amp;utm</a:t>
            </a:r>
            <a:endParaRPr sz="1800">
              <a:latin typeface="Calibri"/>
              <a:cs typeface="Calibri"/>
            </a:endParaRPr>
          </a:p>
          <a:p>
            <a:pPr marL="813435">
              <a:lnSpc>
                <a:spcPct val="100000"/>
              </a:lnSpc>
              <a:spcBef>
                <a:spcPts val="15"/>
              </a:spcBef>
            </a:pP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_source=gamma&amp;utm_campaign=thirty-days-</a:t>
            </a:r>
            <a:r>
              <a:rPr sz="1800" u="heavy" spc="-3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of-</a:t>
            </a: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ml&amp;utm_content=day-</a:t>
            </a:r>
            <a:r>
              <a:rPr sz="1800" u="heavy" spc="-5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3"/>
              </a:rPr>
              <a:t>9</a:t>
            </a:r>
            <a:endParaRPr sz="1800">
              <a:latin typeface="Calibri"/>
              <a:cs typeface="Calibri"/>
            </a:endParaRPr>
          </a:p>
          <a:p>
            <a:pPr marL="812165" marR="5080" lvl="1" indent="-354965" algn="just">
              <a:lnSpc>
                <a:spcPct val="100699"/>
              </a:lnSpc>
              <a:buClr>
                <a:srgbClr val="000000"/>
              </a:buClr>
              <a:buFont typeface="Arial MT"/>
              <a:buChar char="–"/>
              <a:tabLst>
                <a:tab pos="813435" algn="l"/>
              </a:tabLst>
            </a:pP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https://www.kaggle.com/dansbecker/underfitting-</a:t>
            </a:r>
            <a:r>
              <a:rPr sz="18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and-overfitting?utm_medium=e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 	</a:t>
            </a:r>
            <a:r>
              <a:rPr sz="1800" u="heavy" spc="-1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mail&amp;utm_source=gamma&amp;utm_campaign=thirty-</a:t>
            </a: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days-</a:t>
            </a:r>
            <a:r>
              <a:rPr sz="1800" u="heavy" spc="-2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of-</a:t>
            </a:r>
            <a:r>
              <a:rPr sz="1800" u="heavy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ml&amp;utm_content=day-</a:t>
            </a:r>
            <a:r>
              <a:rPr sz="18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1</a:t>
            </a:r>
            <a:r>
              <a:rPr sz="1800" spc="-5" dirty="0">
                <a:solidFill>
                  <a:srgbClr val="0000FF"/>
                </a:solidFill>
                <a:latin typeface="Calibri"/>
                <a:cs typeface="Calibri"/>
              </a:rPr>
              <a:t> 	</a:t>
            </a:r>
            <a:r>
              <a:rPr sz="1800" u="heavy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4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812800" lvl="1" indent="-354965" algn="just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812800" algn="l"/>
              </a:tabLst>
            </a:pPr>
            <a:r>
              <a:rPr sz="1800" dirty="0">
                <a:latin typeface="Calibri"/>
                <a:cs typeface="Calibri"/>
              </a:rPr>
              <a:t>Find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python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implementations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metrics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presented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class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</TotalTime>
  <Words>1386</Words>
  <Application>Microsoft Office PowerPoint</Application>
  <PresentationFormat>Presentación en pantalla (16:9)</PresentationFormat>
  <Paragraphs>190</Paragraphs>
  <Slides>47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5" baseType="lpstr">
      <vt:lpstr>Aptos</vt:lpstr>
      <vt:lpstr>Arial</vt:lpstr>
      <vt:lpstr>Arial MT</vt:lpstr>
      <vt:lpstr>Calibri</vt:lpstr>
      <vt:lpstr>Cambria</vt:lpstr>
      <vt:lpstr>Lucida Sans Unicode</vt:lpstr>
      <vt:lpstr>Trebuchet MS</vt:lpstr>
      <vt:lpstr>Office Theme</vt:lpstr>
      <vt:lpstr>Presentación de PowerPoint</vt:lpstr>
      <vt:lpstr>Classification and Regression</vt:lpstr>
      <vt:lpstr>A first application: Classifying Iris Species Example taken from Introduction to machine learning with Python by Andreas Muller</vt:lpstr>
      <vt:lpstr>A first application: Classifying Iris Species</vt:lpstr>
      <vt:lpstr>Classifying Iris Species: Type of ML task</vt:lpstr>
      <vt:lpstr>Load the data</vt:lpstr>
      <vt:lpstr>Data exploration</vt:lpstr>
      <vt:lpstr>Look at your data</vt:lpstr>
      <vt:lpstr>Measuring performance: training and testing data</vt:lpstr>
      <vt:lpstr>Performance of a ML model</vt:lpstr>
      <vt:lpstr>Training and testing data</vt:lpstr>
      <vt:lpstr>The k-Nearest Neighbors (k-NN) algorithm</vt:lpstr>
      <vt:lpstr>k-Neighbors classification</vt:lpstr>
      <vt:lpstr>3-Neighbors classification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Building your first model: k nearest neighbors</vt:lpstr>
      <vt:lpstr>Making predictions</vt:lpstr>
      <vt:lpstr>Performance of a ML model: Generalisation</vt:lpstr>
      <vt:lpstr>Evaluating the model</vt:lpstr>
      <vt:lpstr>Performance of a ML model: Overfitting</vt:lpstr>
      <vt:lpstr>Performance of a ML model: Underfitting</vt:lpstr>
      <vt:lpstr>Analysing KNeighborsClassifier</vt:lpstr>
      <vt:lpstr>Presentación de PowerPoint</vt:lpstr>
      <vt:lpstr>Relation of model complexity to dataset size</vt:lpstr>
      <vt:lpstr>The Wisconsin breast cancer dataset</vt:lpstr>
      <vt:lpstr>Analysing KNeighborsClassifier</vt:lpstr>
      <vt:lpstr>Other performance metrics</vt:lpstr>
      <vt:lpstr>Confusion Matrix</vt:lpstr>
      <vt:lpstr>Precision: ti ue positives / total Classified as positive</vt:lpstr>
      <vt:lpstr>Presentación de PowerPoint</vt:lpstr>
      <vt:lpstr>Presentación de PowerPoint</vt:lpstr>
      <vt:lpstr>Presentación de PowerPoint</vt:lpstr>
      <vt:lpstr>Your turn: classify each image below as either"cat" or"not cat"</vt:lpstr>
      <vt:lpstr>Presentación de PowerPoint</vt:lpstr>
      <vt:lpstr>Hypothetical results from our classification ML model</vt:lpstr>
      <vt:lpstr>Hypothetical results from our classification ML model</vt:lpstr>
      <vt:lpstr>Presentación de PowerPoint</vt:lpstr>
      <vt:lpstr>Quiz: Wha1 recall did our model have?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MLS2 - Generalization and KNN</dc:title>
  <cp:lastModifiedBy>Carlos Andres Ferro Sánchez</cp:lastModifiedBy>
  <cp:revision>3</cp:revision>
  <dcterms:created xsi:type="dcterms:W3CDTF">2025-10-03T23:31:06Z</dcterms:created>
  <dcterms:modified xsi:type="dcterms:W3CDTF">2025-10-04T05:59:28Z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2025-10-03T00:00:00Z</vt:filetime>
  </property>
  <property fmtid="{D5CDD505-2E9C-101B-9397-08002B2CF9AE}" pid="3" name="Creator">
    <vt:lpwstr>Google</vt:lpwstr>
  </property>
  <property fmtid="{D5CDD505-2E9C-101B-9397-08002B2CF9AE}" pid="4" name="LastSaved">
    <vt:filetime>2025-10-03T00:00:00Z</vt:filetime>
  </property>
</Properties>
</file>