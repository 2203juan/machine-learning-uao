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5" r:id="rId14"/>
    <p:sldId id="269" r:id="rId15"/>
    <p:sldId id="270" r:id="rId16"/>
    <p:sldId id="286" r:id="rId17"/>
    <p:sldId id="292" r:id="rId18"/>
    <p:sldId id="293" r:id="rId19"/>
    <p:sldId id="294" r:id="rId20"/>
    <p:sldId id="295" r:id="rId21"/>
    <p:sldId id="296" r:id="rId22"/>
    <p:sldId id="297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0BE2C-FD1D-4972-B9C5-12FBC145A913}" type="datetimeFigureOut">
              <a:rPr lang="es-CO" smtClean="0"/>
              <a:t>3/10/2025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C1947-F110-4C2E-8EE2-5CED7A4FB2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760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9" y="4663"/>
            <a:ext cx="9135539" cy="51341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9975" y="1984005"/>
            <a:ext cx="64496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24968" y="350877"/>
            <a:ext cx="46151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637" y="909346"/>
            <a:ext cx="8426725" cy="3308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www.youtube.com/watch?v=inN8seMm7UI&amp;feature=youtu.b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sorflow.org/overview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tpocket.com/explore/item/this-is-how-the-robot-uprising-finally-begin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arper.ai/wp-content/uploads/2018/10/Ma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thinkwik.com/insights-of-the-machine-learning-and-the-deep-learning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theedugarage.com/2020/05/25/artificial-intelligence/" TargetMode="Externa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nsbecker/how-models-work?utm_medium=email&amp;utm_source=gamma&amp;utm_campaign=thirty-days-of-ml&amp;utm_content=day-8" TargetMode="External"/><Relationship Id="rId2" Type="http://schemas.openxmlformats.org/officeDocument/2006/relationships/hyperlink" Target="https://www.kaggle.com/alexisbcook/getting-started-with-kaggle?utm_medium=email&amp;utm_source=gamma&amp;utm_campaign=thirty-days-of-ml&amp;utm_content=day-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nsbecker/basic-data-exploration?utm_medium=email&amp;utm_source=gamma&amp;utm_campaign=thirty-days-of-ml&amp;utm_content=day-8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saving-the-scranton-branch-with-lead-scoring-8599ed4a874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8800" y="4019550"/>
            <a:ext cx="58580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dirty="0">
                <a:solidFill>
                  <a:srgbClr val="262626"/>
                </a:solidFill>
                <a:latin typeface="Calibri"/>
                <a:cs typeface="Calibri"/>
              </a:rPr>
              <a:t>Carlos Andres Ferro Sanchez</a:t>
            </a:r>
            <a:r>
              <a:rPr sz="3200" dirty="0">
                <a:solidFill>
                  <a:srgbClr val="262626"/>
                </a:solidFill>
                <a:latin typeface="Calibri"/>
                <a:cs typeface="Calibri"/>
              </a:rPr>
              <a:t>,</a:t>
            </a:r>
            <a:r>
              <a:rPr sz="3200" spc="-1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262626"/>
                </a:solidFill>
                <a:latin typeface="Calibri"/>
                <a:cs typeface="Calibri"/>
              </a:rPr>
              <a:t>PhD.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995634" y="2190750"/>
            <a:ext cx="752442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70" dirty="0">
                <a:solidFill>
                  <a:srgbClr val="395364"/>
                </a:solidFill>
                <a:latin typeface="Times New Roman"/>
                <a:cs typeface="Times New Roman"/>
              </a:rPr>
              <a:t>A</a:t>
            </a:r>
            <a:r>
              <a:rPr lang="es-ES" sz="4000" spc="170" dirty="0">
                <a:solidFill>
                  <a:srgbClr val="395364"/>
                </a:solidFill>
                <a:latin typeface="Times New Roman"/>
                <a:cs typeface="Times New Roman"/>
              </a:rPr>
              <a:t>PR</a:t>
            </a:r>
            <a:r>
              <a:rPr sz="4000" spc="170" dirty="0">
                <a:solidFill>
                  <a:srgbClr val="395364"/>
                </a:solidFill>
                <a:latin typeface="Times New Roman"/>
                <a:cs typeface="Times New Roman"/>
              </a:rPr>
              <a:t>ENDIZ</a:t>
            </a:r>
            <a:r>
              <a:rPr lang="es-ES" sz="4000" spc="170" dirty="0">
                <a:solidFill>
                  <a:srgbClr val="395364"/>
                </a:solidFill>
                <a:latin typeface="Times New Roman"/>
                <a:cs typeface="Times New Roman"/>
              </a:rPr>
              <a:t>AJ</a:t>
            </a:r>
            <a:r>
              <a:rPr sz="4000" spc="170" dirty="0">
                <a:solidFill>
                  <a:srgbClr val="395364"/>
                </a:solidFill>
                <a:latin typeface="Times New Roman"/>
                <a:cs typeface="Times New Roman"/>
              </a:rPr>
              <a:t>E</a:t>
            </a:r>
            <a:r>
              <a:rPr sz="4000" spc="10" dirty="0">
                <a:solidFill>
                  <a:srgbClr val="395364"/>
                </a:solidFill>
                <a:latin typeface="Times New Roman"/>
                <a:cs typeface="Times New Roman"/>
              </a:rPr>
              <a:t> </a:t>
            </a:r>
            <a:r>
              <a:rPr sz="4000" spc="-185" dirty="0">
                <a:solidFill>
                  <a:srgbClr val="395364"/>
                </a:solidFill>
                <a:latin typeface="Times New Roman"/>
                <a:cs typeface="Times New Roman"/>
              </a:rPr>
              <a:t>AUTOMÁTI</a:t>
            </a:r>
            <a:r>
              <a:rPr lang="es-ES" sz="4000" spc="-185" dirty="0">
                <a:solidFill>
                  <a:srgbClr val="395364"/>
                </a:solidFill>
                <a:latin typeface="Times New Roman"/>
                <a:cs typeface="Times New Roman"/>
              </a:rPr>
              <a:t>C</a:t>
            </a:r>
            <a:r>
              <a:rPr sz="4000" spc="-185" dirty="0">
                <a:solidFill>
                  <a:srgbClr val="395364"/>
                </a:solidFill>
                <a:latin typeface="Times New Roman"/>
                <a:cs typeface="Times New Roman"/>
              </a:rPr>
              <a:t>O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9761" y="198477"/>
            <a:ext cx="29419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9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851" y="702631"/>
            <a:ext cx="5125720" cy="381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 indent="-448945">
              <a:lnSpc>
                <a:spcPts val="2960"/>
              </a:lnSpc>
              <a:spcBef>
                <a:spcPts val="100"/>
              </a:spcBef>
              <a:buFont typeface="Arial MT"/>
              <a:buChar char="●"/>
              <a:tabLst>
                <a:tab pos="461645" algn="l"/>
              </a:tabLst>
            </a:pPr>
            <a:r>
              <a:rPr sz="2600" spc="-10" dirty="0">
                <a:latin typeface="Calibri"/>
                <a:cs typeface="Calibri"/>
              </a:rPr>
              <a:t>Lectures:</a:t>
            </a:r>
            <a:endParaRPr sz="2600">
              <a:latin typeface="Calibri"/>
              <a:cs typeface="Calibri"/>
            </a:endParaRPr>
          </a:p>
          <a:p>
            <a:pPr marL="893444" lvl="1" indent="-374650">
              <a:lnSpc>
                <a:spcPts val="2595"/>
              </a:lnSpc>
              <a:buFont typeface="Lucida Sans Unicode"/>
              <a:buChar char="–"/>
              <a:tabLst>
                <a:tab pos="893444" algn="l"/>
              </a:tabLst>
            </a:pPr>
            <a:r>
              <a:rPr sz="2400" spc="-10" dirty="0">
                <a:latin typeface="Calibri"/>
                <a:cs typeface="Calibri"/>
              </a:rPr>
              <a:t>Presentación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español</a:t>
            </a:r>
            <a:endParaRPr sz="2400">
              <a:latin typeface="Calibri"/>
              <a:cs typeface="Calibri"/>
            </a:endParaRPr>
          </a:p>
          <a:p>
            <a:pPr marL="893444" lvl="1" indent="-374650">
              <a:lnSpc>
                <a:spcPts val="2610"/>
              </a:lnSpc>
              <a:buFont typeface="Lucida Sans Unicode"/>
              <a:buChar char="–"/>
              <a:tabLst>
                <a:tab pos="893444" algn="l"/>
              </a:tabLst>
            </a:pPr>
            <a:r>
              <a:rPr sz="2400" dirty="0">
                <a:latin typeface="Calibri"/>
                <a:cs typeface="Calibri"/>
              </a:rPr>
              <a:t>Slides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English</a:t>
            </a:r>
            <a:endParaRPr sz="2400">
              <a:latin typeface="Calibri"/>
              <a:cs typeface="Calibri"/>
            </a:endParaRPr>
          </a:p>
          <a:p>
            <a:pPr marL="461645" indent="-448945">
              <a:lnSpc>
                <a:spcPts val="2805"/>
              </a:lnSpc>
              <a:buFont typeface="Arial MT"/>
              <a:buChar char="●"/>
              <a:tabLst>
                <a:tab pos="461645" algn="l"/>
              </a:tabLst>
            </a:pPr>
            <a:r>
              <a:rPr sz="2600" dirty="0">
                <a:latin typeface="Calibri"/>
                <a:cs typeface="Calibri"/>
              </a:rPr>
              <a:t>UAO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virtual</a:t>
            </a:r>
            <a:endParaRPr sz="2600">
              <a:latin typeface="Calibri"/>
              <a:cs typeface="Calibri"/>
            </a:endParaRPr>
          </a:p>
          <a:p>
            <a:pPr marL="461645" indent="-449580">
              <a:lnSpc>
                <a:spcPts val="2790"/>
              </a:lnSpc>
              <a:buFont typeface="Arial MT"/>
              <a:buChar char="●"/>
              <a:tabLst>
                <a:tab pos="461645" algn="l"/>
                <a:tab pos="518795" algn="l"/>
              </a:tabLst>
            </a:pPr>
            <a:r>
              <a:rPr sz="2600" spc="-10" dirty="0">
                <a:latin typeface="Calibri"/>
                <a:cs typeface="Calibri"/>
              </a:rPr>
              <a:t>Software:</a:t>
            </a:r>
            <a:endParaRPr sz="2600">
              <a:latin typeface="Calibri"/>
              <a:cs typeface="Calibri"/>
            </a:endParaRPr>
          </a:p>
          <a:p>
            <a:pPr marL="893444" lvl="1" indent="-374650">
              <a:lnSpc>
                <a:spcPts val="2575"/>
              </a:lnSpc>
              <a:buFont typeface="Lucida Sans Unicode"/>
              <a:buChar char="–"/>
              <a:tabLst>
                <a:tab pos="893444" algn="l"/>
              </a:tabLst>
            </a:pPr>
            <a:r>
              <a:rPr sz="2400" spc="-10" dirty="0">
                <a:latin typeface="Calibri"/>
                <a:cs typeface="Calibri"/>
              </a:rPr>
              <a:t>Python</a:t>
            </a:r>
            <a:endParaRPr sz="2400">
              <a:latin typeface="Calibri"/>
              <a:cs typeface="Calibri"/>
            </a:endParaRPr>
          </a:p>
          <a:p>
            <a:pPr marL="1325880" lvl="2" indent="-303530">
              <a:lnSpc>
                <a:spcPts val="2800"/>
              </a:lnSpc>
              <a:buSzPct val="44230"/>
              <a:buFont typeface="Arial MT"/>
              <a:buChar char="●"/>
              <a:tabLst>
                <a:tab pos="1325880" algn="l"/>
              </a:tabLst>
            </a:pPr>
            <a:r>
              <a:rPr sz="2600" dirty="0">
                <a:latin typeface="Calibri"/>
                <a:cs typeface="Calibri"/>
              </a:rPr>
              <a:t>Google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Colaboratory</a:t>
            </a:r>
            <a:r>
              <a:rPr sz="26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(Colab)</a:t>
            </a:r>
            <a:endParaRPr sz="2600">
              <a:latin typeface="Calibri"/>
              <a:cs typeface="Calibri"/>
            </a:endParaRPr>
          </a:p>
          <a:p>
            <a:pPr marL="1325880" lvl="2" indent="-303530">
              <a:lnSpc>
                <a:spcPts val="2805"/>
              </a:lnSpc>
              <a:buClr>
                <a:srgbClr val="000000"/>
              </a:buClr>
              <a:buSzPct val="44230"/>
              <a:buFont typeface="Arial"/>
              <a:buChar char="●"/>
              <a:tabLst>
                <a:tab pos="1325880" algn="l"/>
              </a:tabLst>
            </a:pPr>
            <a:r>
              <a:rPr sz="2600" b="1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Scikit-</a:t>
            </a:r>
            <a:r>
              <a:rPr sz="26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learn</a:t>
            </a:r>
            <a:r>
              <a:rPr sz="26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library</a:t>
            </a:r>
            <a:endParaRPr sz="2600">
              <a:latin typeface="Calibri"/>
              <a:cs typeface="Calibri"/>
            </a:endParaRPr>
          </a:p>
          <a:p>
            <a:pPr marL="1325880" lvl="2" indent="-303530">
              <a:lnSpc>
                <a:spcPts val="2350"/>
              </a:lnSpc>
              <a:buClr>
                <a:srgbClr val="000000"/>
              </a:buClr>
              <a:buSzPct val="52272"/>
              <a:buFont typeface="Arial"/>
              <a:buChar char="●"/>
              <a:tabLst>
                <a:tab pos="1325880" algn="l"/>
              </a:tabLst>
            </a:pP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TensorFlow</a:t>
            </a:r>
            <a:endParaRPr sz="2200">
              <a:latin typeface="Calibri"/>
              <a:cs typeface="Calibri"/>
            </a:endParaRPr>
          </a:p>
          <a:p>
            <a:pPr marL="461645" indent="-448945">
              <a:lnSpc>
                <a:spcPts val="2815"/>
              </a:lnSpc>
              <a:buFont typeface="Arial MT"/>
              <a:buChar char="●"/>
              <a:tabLst>
                <a:tab pos="461645" algn="l"/>
              </a:tabLst>
            </a:pPr>
            <a:r>
              <a:rPr sz="2600" spc="-10" dirty="0">
                <a:latin typeface="Calibri"/>
                <a:cs typeface="Calibri"/>
              </a:rPr>
              <a:t>Projects</a:t>
            </a:r>
            <a:endParaRPr sz="2600">
              <a:latin typeface="Calibri"/>
              <a:cs typeface="Calibri"/>
            </a:endParaRPr>
          </a:p>
          <a:p>
            <a:pPr marL="893444" lvl="1" indent="-374650">
              <a:lnSpc>
                <a:spcPts val="2720"/>
              </a:lnSpc>
              <a:buFont typeface="Lucida Sans Unicode"/>
              <a:buChar char="–"/>
              <a:tabLst>
                <a:tab pos="893444" algn="l"/>
              </a:tabLst>
            </a:pP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100"/>
              </a:spcBef>
            </a:pPr>
            <a:r>
              <a:rPr dirty="0"/>
              <a:t>Syllabus</a:t>
            </a:r>
            <a:r>
              <a:rPr spc="-8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time-</a:t>
            </a:r>
            <a:r>
              <a:rPr spc="-20" dirty="0"/>
              <a:t>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149" y="1268721"/>
            <a:ext cx="7903845" cy="30784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2225" marR="5574665">
              <a:lnSpc>
                <a:spcPct val="78100"/>
              </a:lnSpc>
              <a:spcBef>
                <a:spcPts val="520"/>
              </a:spcBef>
            </a:pP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First</a:t>
            </a:r>
            <a:r>
              <a:rPr sz="1600" b="1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1600" b="1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delivery:</a:t>
            </a:r>
            <a:r>
              <a:rPr sz="1600" b="1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Day</a:t>
            </a:r>
            <a:r>
              <a:rPr sz="1600" b="1" u="heavy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Final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test: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Day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15</a:t>
            </a:r>
            <a:endParaRPr sz="1600">
              <a:latin typeface="Calibri"/>
              <a:cs typeface="Calibri"/>
            </a:endParaRPr>
          </a:p>
          <a:p>
            <a:pPr marL="22225">
              <a:lnSpc>
                <a:spcPts val="1500"/>
              </a:lnSpc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Delivery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presentation: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Day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16</a:t>
            </a:r>
            <a:endParaRPr sz="1600">
              <a:latin typeface="Calibri"/>
              <a:cs typeface="Calibri"/>
            </a:endParaRPr>
          </a:p>
          <a:p>
            <a:pPr marL="346075" marR="353060" indent="-334010">
              <a:lnSpc>
                <a:spcPct val="79500"/>
              </a:lnSpc>
              <a:spcBef>
                <a:spcPts val="1570"/>
              </a:spcBef>
              <a:buSzPct val="45454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3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1:</a:t>
            </a:r>
            <a:r>
              <a:rPr sz="1650" b="1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Introduction.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Why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ML?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Why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Python?.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Fundamental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concepts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machine </a:t>
            </a:r>
            <a:r>
              <a:rPr sz="1650" dirty="0">
                <a:latin typeface="Calibri"/>
                <a:cs typeface="Calibri"/>
              </a:rPr>
              <a:t>learning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applications.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first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application: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Classifying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Iris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species</a:t>
            </a:r>
            <a:endParaRPr sz="1650">
              <a:latin typeface="Calibri"/>
              <a:cs typeface="Calibri"/>
            </a:endParaRPr>
          </a:p>
          <a:p>
            <a:pPr marL="346075" marR="739140" indent="-334010">
              <a:lnSpc>
                <a:spcPct val="79500"/>
              </a:lnSpc>
              <a:buSzPct val="45454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3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2</a:t>
            </a:r>
            <a:r>
              <a:rPr sz="1650" dirty="0">
                <a:latin typeface="Calibri"/>
                <a:cs typeface="Calibri"/>
              </a:rPr>
              <a:t>: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Supervised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learning,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Generalization,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Overfitting,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Underfitting. </a:t>
            </a:r>
            <a:r>
              <a:rPr sz="1650" dirty="0">
                <a:latin typeface="Calibri"/>
                <a:cs typeface="Calibri"/>
              </a:rPr>
              <a:t>Suppervised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machine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learning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algorithms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-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spc="-35" dirty="0">
                <a:latin typeface="Calibri"/>
                <a:cs typeface="Calibri"/>
              </a:rPr>
              <a:t>k-</a:t>
            </a:r>
            <a:r>
              <a:rPr sz="1650" dirty="0">
                <a:latin typeface="Calibri"/>
                <a:cs typeface="Calibri"/>
              </a:rPr>
              <a:t>Nearest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Neighbors,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Linear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models</a:t>
            </a:r>
            <a:endParaRPr sz="1650">
              <a:latin typeface="Calibri"/>
              <a:cs typeface="Calibri"/>
            </a:endParaRPr>
          </a:p>
          <a:p>
            <a:pPr marL="371475" lvl="1" indent="-286385">
              <a:lnSpc>
                <a:spcPts val="1480"/>
              </a:lnSpc>
              <a:buSzPct val="45454"/>
              <a:buFont typeface="Arial"/>
              <a:buChar char="●"/>
              <a:tabLst>
                <a:tab pos="3714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10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3:</a:t>
            </a:r>
            <a:r>
              <a:rPr sz="1650" b="1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Unsupervised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learning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preprocessing.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Types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unsupervised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learning,</a:t>
            </a:r>
            <a:endParaRPr sz="1800">
              <a:latin typeface="Calibri"/>
              <a:cs typeface="Calibri"/>
            </a:endParaRPr>
          </a:p>
          <a:p>
            <a:pPr marL="371475">
              <a:lnSpc>
                <a:spcPts val="1900"/>
              </a:lnSpc>
            </a:pPr>
            <a:r>
              <a:rPr sz="1800" spc="-10" dirty="0">
                <a:latin typeface="Calibri"/>
                <a:cs typeface="Calibri"/>
              </a:rPr>
              <a:t>challenges,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preprocessing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scaling.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Dimensionality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reduction,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feature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extraction</a:t>
            </a:r>
            <a:endParaRPr sz="1650">
              <a:latin typeface="Calibri"/>
              <a:cs typeface="Calibri"/>
            </a:endParaRPr>
          </a:p>
          <a:p>
            <a:pPr marL="346075" lvl="1" indent="-300990">
              <a:lnSpc>
                <a:spcPts val="1935"/>
              </a:lnSpc>
              <a:buSzPct val="36363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-40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4:</a:t>
            </a:r>
            <a:r>
              <a:rPr sz="1650" b="1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Representing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data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engineering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features</a:t>
            </a:r>
            <a:endParaRPr sz="1650">
              <a:latin typeface="Calibri"/>
              <a:cs typeface="Calibri"/>
            </a:endParaRPr>
          </a:p>
          <a:p>
            <a:pPr marL="346075" lvl="1" indent="-304165">
              <a:lnSpc>
                <a:spcPts val="1980"/>
              </a:lnSpc>
              <a:buSzPct val="36363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 5</a:t>
            </a:r>
            <a:r>
              <a:rPr sz="1650" dirty="0">
                <a:latin typeface="Calibri"/>
                <a:cs typeface="Calibri"/>
              </a:rPr>
              <a:t>: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Decision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trees</a:t>
            </a:r>
            <a:r>
              <a:rPr sz="1400" dirty="0">
                <a:latin typeface="Arial MT"/>
                <a:cs typeface="Arial MT"/>
              </a:rPr>
              <a:t>, </a:t>
            </a:r>
            <a:r>
              <a:rPr sz="1650" dirty="0">
                <a:latin typeface="Calibri"/>
                <a:cs typeface="Calibri"/>
              </a:rPr>
              <a:t>Ensembles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decision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trees,</a:t>
            </a:r>
            <a:endParaRPr sz="1650">
              <a:latin typeface="Calibri"/>
              <a:cs typeface="Calibri"/>
            </a:endParaRPr>
          </a:p>
          <a:p>
            <a:pPr marL="346075" lvl="1" indent="-300990">
              <a:lnSpc>
                <a:spcPts val="1964"/>
              </a:lnSpc>
              <a:spcBef>
                <a:spcPts val="20"/>
              </a:spcBef>
              <a:buSzPct val="36363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-2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6</a:t>
            </a:r>
            <a:r>
              <a:rPr sz="1650" dirty="0">
                <a:latin typeface="Calibri"/>
                <a:cs typeface="Calibri"/>
              </a:rPr>
              <a:t>: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30" dirty="0">
                <a:latin typeface="Calibri"/>
                <a:cs typeface="Calibri"/>
              </a:rPr>
              <a:t>K-</a:t>
            </a:r>
            <a:r>
              <a:rPr sz="1650" dirty="0">
                <a:latin typeface="Calibri"/>
                <a:cs typeface="Calibri"/>
              </a:rPr>
              <a:t>means,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Agglomerative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clustering,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DB-</a:t>
            </a:r>
            <a:r>
              <a:rPr sz="1650" spc="-20" dirty="0">
                <a:latin typeface="Calibri"/>
                <a:cs typeface="Calibri"/>
              </a:rPr>
              <a:t>SCAN</a:t>
            </a:r>
            <a:endParaRPr sz="1650">
              <a:latin typeface="Calibri"/>
              <a:cs typeface="Calibri"/>
            </a:endParaRPr>
          </a:p>
          <a:p>
            <a:pPr marL="346075" lvl="1" indent="-300990">
              <a:lnSpc>
                <a:spcPts val="1964"/>
              </a:lnSpc>
              <a:buSzPct val="36363"/>
              <a:buFont typeface="Arial"/>
              <a:buChar char="●"/>
              <a:tabLst>
                <a:tab pos="346075" algn="l"/>
              </a:tabLst>
            </a:pPr>
            <a:r>
              <a:rPr sz="1650" b="1" dirty="0">
                <a:latin typeface="Calibri"/>
                <a:cs typeface="Calibri"/>
              </a:rPr>
              <a:t>Lecture</a:t>
            </a:r>
            <a:r>
              <a:rPr sz="1650" b="1" spc="-3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7</a:t>
            </a:r>
            <a:r>
              <a:rPr sz="1650" dirty="0">
                <a:latin typeface="Calibri"/>
                <a:cs typeface="Calibri"/>
              </a:rPr>
              <a:t>: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Intro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DL,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machine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learning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projects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pipelines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6783" y="350877"/>
            <a:ext cx="1633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175" y="1670142"/>
            <a:ext cx="4482949" cy="197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829"/>
              </a:lnSpc>
              <a:spcBef>
                <a:spcPts val="100"/>
              </a:spcBef>
              <a:buSzPct val="43750"/>
              <a:buFont typeface="Arial MT"/>
              <a:buChar char="●"/>
              <a:tabLst>
                <a:tab pos="354965" algn="l"/>
              </a:tabLst>
            </a:pPr>
            <a:r>
              <a:rPr sz="3200" spc="-10" dirty="0" err="1">
                <a:latin typeface="Calibri"/>
                <a:cs typeface="Calibri"/>
              </a:rPr>
              <a:t>Homeworks</a:t>
            </a:r>
            <a:r>
              <a:rPr lang="es-ES" sz="3200" spc="-10" dirty="0">
                <a:latin typeface="Calibri"/>
                <a:cs typeface="Calibri"/>
              </a:rPr>
              <a:t> and </a:t>
            </a:r>
            <a:r>
              <a:rPr lang="es-ES" sz="3200" spc="-10" dirty="0" err="1">
                <a:latin typeface="Calibri"/>
                <a:cs typeface="Calibri"/>
              </a:rPr>
              <a:t>quizzes</a:t>
            </a:r>
            <a:endParaRPr lang="es-ES" sz="3200" spc="-10" dirty="0">
              <a:latin typeface="Calibri"/>
              <a:cs typeface="Calibri"/>
            </a:endParaRPr>
          </a:p>
          <a:p>
            <a:pPr marL="354965" indent="-342265">
              <a:lnSpc>
                <a:spcPts val="3829"/>
              </a:lnSpc>
              <a:spcBef>
                <a:spcPts val="100"/>
              </a:spcBef>
              <a:buSzPct val="43750"/>
              <a:buFont typeface="Arial MT"/>
              <a:buChar char="●"/>
              <a:tabLst>
                <a:tab pos="354965" algn="l"/>
              </a:tabLst>
            </a:pPr>
            <a:r>
              <a:rPr lang="es-ES" sz="3200" dirty="0">
                <a:latin typeface="Calibri"/>
                <a:cs typeface="Calibri"/>
              </a:rPr>
              <a:t>Test</a:t>
            </a:r>
            <a:endParaRPr sz="3200" dirty="0">
              <a:latin typeface="Calibri"/>
              <a:cs typeface="Calibri"/>
            </a:endParaRPr>
          </a:p>
          <a:p>
            <a:pPr marL="380365" indent="-339090">
              <a:lnSpc>
                <a:spcPts val="3825"/>
              </a:lnSpc>
              <a:buSzPct val="43750"/>
              <a:buFont typeface="Arial MT"/>
              <a:buChar char="●"/>
              <a:tabLst>
                <a:tab pos="380365" algn="l"/>
              </a:tabLst>
            </a:pP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delivery</a:t>
            </a:r>
            <a:endParaRPr sz="3200" dirty="0">
              <a:latin typeface="Calibri"/>
              <a:cs typeface="Calibri"/>
            </a:endParaRPr>
          </a:p>
          <a:p>
            <a:pPr marL="380365" indent="-339090">
              <a:lnSpc>
                <a:spcPts val="3829"/>
              </a:lnSpc>
              <a:buSzPct val="43750"/>
              <a:buFont typeface="Arial MT"/>
              <a:buChar char="●"/>
              <a:tabLst>
                <a:tab pos="380365" algn="l"/>
              </a:tabLst>
            </a:pP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delivery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4125" y="1670142"/>
            <a:ext cx="819150" cy="19620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lang="es-ES" sz="3200" spc="-25" dirty="0">
                <a:latin typeface="Calibri"/>
                <a:cs typeface="Calibri"/>
              </a:rPr>
              <a:t>1</a:t>
            </a:r>
            <a:r>
              <a:rPr sz="3200" spc="-25" dirty="0">
                <a:latin typeface="Calibri"/>
                <a:cs typeface="Calibri"/>
              </a:rPr>
              <a:t>0%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lang="es-ES" sz="3200" dirty="0">
                <a:latin typeface="Calibri"/>
                <a:cs typeface="Calibri"/>
              </a:rPr>
              <a:t>3</a:t>
            </a:r>
            <a:r>
              <a:rPr sz="3200" dirty="0">
                <a:latin typeface="Calibri"/>
                <a:cs typeface="Calibri"/>
              </a:rPr>
              <a:t>0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%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lang="es-ES" sz="3200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0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%</a:t>
            </a:r>
            <a:endParaRPr lang="es-ES" sz="3200" spc="-50" dirty="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lang="es-CO" sz="3200" spc="-50" dirty="0">
                <a:latin typeface="Calibri"/>
                <a:cs typeface="Calibri"/>
              </a:rPr>
              <a:t>30 %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9584" y="350877"/>
            <a:ext cx="1946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Bibliography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52" y="1102641"/>
            <a:ext cx="6795134" cy="322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 indent="-42799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80695" algn="l"/>
              </a:tabLst>
            </a:pPr>
            <a:r>
              <a:rPr sz="2600" spc="-10" dirty="0">
                <a:latin typeface="Calibri"/>
                <a:cs typeface="Calibri"/>
              </a:rPr>
              <a:t>Introduction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python</a:t>
            </a:r>
            <a:endParaRPr sz="2600">
              <a:latin typeface="Calibri"/>
              <a:cs typeface="Calibri"/>
            </a:endParaRPr>
          </a:p>
          <a:p>
            <a:pPr marL="455930" marR="162560" indent="-443865">
              <a:lnSpc>
                <a:spcPct val="101000"/>
              </a:lnSpc>
              <a:spcBef>
                <a:spcPts val="3145"/>
              </a:spcBef>
              <a:buFont typeface="Arial MT"/>
              <a:buChar char="●"/>
              <a:tabLst>
                <a:tab pos="455930" algn="l"/>
              </a:tabLst>
            </a:pPr>
            <a:r>
              <a:rPr sz="2600" spc="-25" dirty="0">
                <a:latin typeface="Calibri"/>
                <a:cs typeface="Calibri"/>
              </a:rPr>
              <a:t>Hands-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Scikit-</a:t>
            </a:r>
            <a:r>
              <a:rPr sz="2600" spc="-10" dirty="0">
                <a:latin typeface="Calibri"/>
                <a:cs typeface="Calibri"/>
              </a:rPr>
              <a:t>Learn, Keras,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TensorFlow: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Concepts,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Tools,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Techniques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Intelligent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</a:t>
            </a:r>
            <a:endParaRPr sz="2600">
              <a:latin typeface="Calibri"/>
              <a:cs typeface="Calibri"/>
            </a:endParaRPr>
          </a:p>
          <a:p>
            <a:pPr marL="455930" marR="5080" indent="-443865">
              <a:lnSpc>
                <a:spcPct val="101000"/>
              </a:lnSpc>
              <a:spcBef>
                <a:spcPts val="3150"/>
              </a:spcBef>
              <a:buFont typeface="Arial MT"/>
              <a:buChar char="●"/>
              <a:tabLst>
                <a:tab pos="455930" algn="l"/>
              </a:tabLst>
            </a:pPr>
            <a:r>
              <a:rPr sz="2600" spc="-20" dirty="0">
                <a:latin typeface="Calibri"/>
                <a:cs typeface="Calibri"/>
              </a:rPr>
              <a:t>Statistical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Pattern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Recognition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Andrew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R.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Webb </a:t>
            </a:r>
            <a:r>
              <a:rPr sz="2600" dirty="0">
                <a:latin typeface="Calibri"/>
                <a:cs typeface="Calibri"/>
              </a:rPr>
              <a:t>John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Wiley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Sons.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2004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1905" y="3539880"/>
            <a:ext cx="923399" cy="1371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2315" y="293345"/>
            <a:ext cx="1042559" cy="1371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2325" y="1918900"/>
            <a:ext cx="1042549" cy="1367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9" y="4663"/>
            <a:ext cx="9135539" cy="51341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343150"/>
            <a:ext cx="746143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4000" spc="-90" dirty="0">
                <a:solidFill>
                  <a:srgbClr val="395364"/>
                </a:solidFill>
                <a:latin typeface="Times New Roman"/>
                <a:cs typeface="Times New Roman"/>
              </a:rPr>
              <a:t>INTRODUCTION</a:t>
            </a:r>
            <a:r>
              <a:rPr sz="4000" spc="-150" dirty="0">
                <a:solidFill>
                  <a:srgbClr val="395364"/>
                </a:solidFill>
                <a:latin typeface="Times New Roman"/>
                <a:cs typeface="Times New Roman"/>
              </a:rPr>
              <a:t> </a:t>
            </a:r>
            <a:r>
              <a:rPr lang="es-CO" sz="4000" spc="-25" dirty="0">
                <a:solidFill>
                  <a:srgbClr val="395364"/>
                </a:solidFill>
                <a:latin typeface="Times New Roman"/>
                <a:cs typeface="Times New Roman"/>
              </a:rPr>
              <a:t>TO</a:t>
            </a:r>
            <a:br>
              <a:rPr lang="es-CO" sz="4000" dirty="0">
                <a:latin typeface="Times New Roman"/>
                <a:cs typeface="Times New Roman"/>
              </a:rPr>
            </a:br>
            <a:r>
              <a:rPr lang="es-CO" sz="4000" spc="125" dirty="0">
                <a:solidFill>
                  <a:srgbClr val="395364"/>
                </a:solidFill>
                <a:latin typeface="Times New Roman"/>
                <a:cs typeface="Times New Roman"/>
              </a:rPr>
              <a:t>MACHINE</a:t>
            </a:r>
            <a:r>
              <a:rPr lang="es-CO" sz="4000" spc="5" dirty="0">
                <a:solidFill>
                  <a:srgbClr val="395364"/>
                </a:solidFill>
                <a:latin typeface="Times New Roman"/>
                <a:cs typeface="Times New Roman"/>
              </a:rPr>
              <a:t> </a:t>
            </a:r>
            <a:r>
              <a:rPr lang="es-CO" sz="4000" spc="325" dirty="0">
                <a:solidFill>
                  <a:srgbClr val="395364"/>
                </a:solidFill>
                <a:latin typeface="Times New Roman"/>
                <a:cs typeface="Times New Roman"/>
              </a:rPr>
              <a:t>LEARNING</a:t>
            </a:r>
            <a:r>
              <a:rPr lang="es-CO" sz="4000" spc="10" dirty="0">
                <a:solidFill>
                  <a:srgbClr val="395364"/>
                </a:solidFill>
                <a:latin typeface="Times New Roman"/>
                <a:cs typeface="Times New Roman"/>
              </a:rPr>
              <a:t> </a:t>
            </a:r>
            <a:r>
              <a:rPr lang="es-CO" sz="4000" spc="-100" dirty="0">
                <a:solidFill>
                  <a:srgbClr val="395364"/>
                </a:solidFill>
                <a:latin typeface="Times New Roman"/>
                <a:cs typeface="Times New Roman"/>
              </a:rPr>
              <a:t>(ML)</a:t>
            </a:r>
            <a:endParaRPr lang="es-CO"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5585" y="543633"/>
            <a:ext cx="1772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spc="-25" dirty="0"/>
              <a:t>AI?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632" y="1257922"/>
            <a:ext cx="4485005" cy="32169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6235" marR="5080" indent="-344170">
              <a:lnSpc>
                <a:spcPct val="100699"/>
              </a:lnSpc>
              <a:spcBef>
                <a:spcPts val="7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study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"intelligent </a:t>
            </a:r>
            <a:r>
              <a:rPr sz="2600" dirty="0">
                <a:latin typeface="Calibri"/>
                <a:cs typeface="Calibri"/>
              </a:rPr>
              <a:t>agents":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device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 </a:t>
            </a:r>
            <a:r>
              <a:rPr sz="2600" b="1" spc="-10" dirty="0">
                <a:latin typeface="Calibri"/>
                <a:cs typeface="Calibri"/>
              </a:rPr>
              <a:t>perceives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its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environment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b="1" spc="-10" dirty="0">
                <a:latin typeface="Calibri"/>
                <a:cs typeface="Calibri"/>
              </a:rPr>
              <a:t>takes</a:t>
            </a:r>
            <a:r>
              <a:rPr sz="2600" b="1" spc="-10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actions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maximize</a:t>
            </a:r>
            <a:r>
              <a:rPr sz="2600" spc="6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chance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successfully </a:t>
            </a:r>
            <a:r>
              <a:rPr sz="2600" dirty="0">
                <a:latin typeface="Calibri"/>
                <a:cs typeface="Calibri"/>
              </a:rPr>
              <a:t>achieving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goals.</a:t>
            </a:r>
            <a:endParaRPr sz="2600">
              <a:latin typeface="Calibri"/>
              <a:cs typeface="Calibri"/>
            </a:endParaRPr>
          </a:p>
          <a:p>
            <a:pPr marL="356235" marR="168275" indent="-344170">
              <a:lnSpc>
                <a:spcPts val="315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10" dirty="0">
                <a:latin typeface="Calibri"/>
                <a:cs typeface="Calibri"/>
              </a:rPr>
              <a:t>Intelligent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agents/machines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= </a:t>
            </a:r>
            <a:r>
              <a:rPr sz="2600" spc="-25" dirty="0">
                <a:latin typeface="Calibri"/>
                <a:cs typeface="Calibri"/>
              </a:rPr>
              <a:t>human-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machines?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9675" y="1479099"/>
            <a:ext cx="1387118" cy="2185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975" y="1479100"/>
            <a:ext cx="1728874" cy="2185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888" y="605004"/>
            <a:ext cx="6035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Human-</a:t>
            </a:r>
            <a:r>
              <a:rPr sz="3600" dirty="0"/>
              <a:t>like</a:t>
            </a:r>
            <a:r>
              <a:rPr sz="3600" spc="-90" dirty="0"/>
              <a:t> </a:t>
            </a:r>
            <a:r>
              <a:rPr sz="3600" dirty="0"/>
              <a:t>Artificial</a:t>
            </a:r>
            <a:r>
              <a:rPr sz="3600" spc="-85" dirty="0"/>
              <a:t> </a:t>
            </a:r>
            <a:r>
              <a:rPr sz="3600" spc="-10" dirty="0"/>
              <a:t>Intelligence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1657" y="1488721"/>
            <a:ext cx="8242934" cy="281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Experts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Yann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LeCun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expect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AI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more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than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and </a:t>
            </a:r>
            <a:r>
              <a:rPr sz="2600" b="1" dirty="0">
                <a:latin typeface="Calibri"/>
                <a:cs typeface="Calibri"/>
              </a:rPr>
              <a:t>hear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Reason</a:t>
            </a:r>
            <a:r>
              <a:rPr sz="2600" b="1" spc="-9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and</a:t>
            </a:r>
            <a:r>
              <a:rPr sz="2600" b="1" spc="-9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1F497D"/>
                </a:solidFill>
                <a:latin typeface="Calibri"/>
                <a:cs typeface="Calibri"/>
              </a:rPr>
              <a:t>take</a:t>
            </a:r>
            <a:r>
              <a:rPr sz="2600" b="1" spc="-9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action</a:t>
            </a:r>
            <a:r>
              <a:rPr sz="2600" b="1" spc="-7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autonomously</a:t>
            </a:r>
            <a:endParaRPr sz="2600">
              <a:latin typeface="Calibri"/>
              <a:cs typeface="Calibri"/>
            </a:endParaRPr>
          </a:p>
          <a:p>
            <a:pPr marL="813435" lvl="1" indent="-412115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 MT"/>
              <a:buChar char="–"/>
              <a:tabLst>
                <a:tab pos="813435" algn="l"/>
                <a:tab pos="2465070" algn="l"/>
              </a:tabLst>
            </a:pPr>
            <a:r>
              <a:rPr sz="2600" b="1" spc="-10" dirty="0">
                <a:solidFill>
                  <a:srgbClr val="1F497D"/>
                </a:solidFill>
                <a:latin typeface="Calibri"/>
                <a:cs typeface="Calibri"/>
              </a:rPr>
              <a:t>Reasoning:</a:t>
            </a: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	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the</a:t>
            </a:r>
            <a:r>
              <a:rPr sz="2600" spc="-8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ability</a:t>
            </a:r>
            <a:r>
              <a:rPr sz="2600" spc="-8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to</a:t>
            </a:r>
            <a:r>
              <a:rPr sz="2600" spc="-8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make</a:t>
            </a:r>
            <a:r>
              <a:rPr sz="2600" spc="-8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inferences</a:t>
            </a:r>
            <a:endParaRPr sz="2600">
              <a:latin typeface="Calibri"/>
              <a:cs typeface="Calibri"/>
            </a:endParaRPr>
          </a:p>
          <a:p>
            <a:pPr marL="1270635" lvl="2" indent="-3435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1270635" algn="l"/>
              </a:tabLst>
            </a:pPr>
            <a:r>
              <a:rPr sz="2600" b="1" spc="-10" dirty="0">
                <a:solidFill>
                  <a:srgbClr val="1F497D"/>
                </a:solidFill>
                <a:latin typeface="Calibri"/>
                <a:cs typeface="Calibri"/>
              </a:rPr>
              <a:t>Inference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: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</a:t>
            </a:r>
            <a:r>
              <a:rPr sz="26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conclusion</a:t>
            </a:r>
            <a:r>
              <a:rPr sz="260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reached</a:t>
            </a:r>
            <a:r>
              <a:rPr sz="26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on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the</a:t>
            </a:r>
            <a:r>
              <a:rPr sz="26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basis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1F497D"/>
                </a:solidFill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  <a:p>
            <a:pPr marL="1270635">
              <a:lnSpc>
                <a:spcPct val="100000"/>
              </a:lnSpc>
              <a:spcBef>
                <a:spcPts val="30"/>
              </a:spcBef>
            </a:pP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evidence</a:t>
            </a:r>
            <a:r>
              <a:rPr sz="2600" b="1" spc="-114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(from</a:t>
            </a:r>
            <a:r>
              <a:rPr sz="2600" spc="-114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Oxford</a:t>
            </a:r>
            <a:r>
              <a:rPr sz="2600" spc="-12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Languages)</a:t>
            </a:r>
            <a:endParaRPr sz="2600">
              <a:latin typeface="Calibri"/>
              <a:cs typeface="Calibri"/>
            </a:endParaRPr>
          </a:p>
          <a:p>
            <a:pPr marL="813435" marR="484505" lvl="1" indent="-412750">
              <a:lnSpc>
                <a:spcPts val="3150"/>
              </a:lnSpc>
              <a:spcBef>
                <a:spcPts val="100"/>
              </a:spcBef>
              <a:buFont typeface="Arial MT"/>
              <a:buChar char="–"/>
              <a:tabLst>
                <a:tab pos="813435" algn="l"/>
              </a:tabLst>
            </a:pPr>
            <a:r>
              <a:rPr sz="2600" b="1" spc="-30" dirty="0">
                <a:solidFill>
                  <a:srgbClr val="1F497D"/>
                </a:solidFill>
                <a:latin typeface="Calibri"/>
                <a:cs typeface="Calibri"/>
              </a:rPr>
              <a:t>Taking</a:t>
            </a:r>
            <a:r>
              <a:rPr sz="2600" b="1" spc="-9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F497D"/>
                </a:solidFill>
                <a:latin typeface="Calibri"/>
                <a:cs typeface="Calibri"/>
              </a:rPr>
              <a:t>action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:</a:t>
            </a:r>
            <a:r>
              <a:rPr sz="260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do</a:t>
            </a:r>
            <a:r>
              <a:rPr sz="260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something</a:t>
            </a:r>
            <a:r>
              <a:rPr sz="260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official</a:t>
            </a:r>
            <a:r>
              <a:rPr sz="260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or</a:t>
            </a:r>
            <a:r>
              <a:rPr sz="260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1F497D"/>
                </a:solidFill>
                <a:latin typeface="Calibri"/>
                <a:cs typeface="Calibri"/>
              </a:rPr>
              <a:t>concerted</a:t>
            </a:r>
            <a:r>
              <a:rPr sz="2600" b="1" spc="-8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1F497D"/>
                </a:solidFill>
                <a:latin typeface="Calibri"/>
                <a:cs typeface="Calibri"/>
              </a:rPr>
              <a:t>to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achieve</a:t>
            </a:r>
            <a:r>
              <a:rPr sz="260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an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aim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or</a:t>
            </a:r>
            <a:r>
              <a:rPr sz="260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deal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with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a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problem</a:t>
            </a:r>
            <a:r>
              <a:rPr sz="260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1F497D"/>
                </a:solidFill>
                <a:latin typeface="Calibri"/>
                <a:cs typeface="Calibri"/>
              </a:rPr>
              <a:t>(from</a:t>
            </a:r>
            <a:r>
              <a:rPr sz="26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Oxford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3025" y="4283991"/>
            <a:ext cx="15278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1F497D"/>
                </a:solidFill>
                <a:latin typeface="Calibri"/>
                <a:cs typeface="Calibri"/>
              </a:rPr>
              <a:t>Languages)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8950" y="4409787"/>
            <a:ext cx="3713479" cy="364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0"/>
              </a:spcBef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https://getpocket.com/explore/item/this-is-how-the-robot-</a:t>
            </a:r>
            <a:r>
              <a:rPr sz="1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upr</a:t>
            </a:r>
            <a:r>
              <a:rPr sz="11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ising-finally-begins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225" y="605004"/>
            <a:ext cx="307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Causal</a:t>
            </a:r>
            <a:r>
              <a:rPr sz="3600" spc="-125" dirty="0"/>
              <a:t> </a:t>
            </a:r>
            <a:r>
              <a:rPr sz="3600" spc="-10" dirty="0"/>
              <a:t>inference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77147" y="1487706"/>
            <a:ext cx="5236210" cy="1304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 algn="just">
              <a:lnSpc>
                <a:spcPct val="99900"/>
              </a:lnSpc>
              <a:spcBef>
                <a:spcPts val="100"/>
              </a:spcBef>
              <a:buFont typeface="Arial MT"/>
              <a:buChar char="•"/>
              <a:tabLst>
                <a:tab pos="365760" algn="l"/>
              </a:tabLst>
            </a:pPr>
            <a:r>
              <a:rPr sz="2800" dirty="0">
                <a:latin typeface="Calibri"/>
                <a:cs typeface="Calibri"/>
              </a:rPr>
              <a:t>Replace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reasoning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by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association 	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causal</a:t>
            </a:r>
            <a:r>
              <a:rPr sz="28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reasoning:</a:t>
            </a:r>
            <a:r>
              <a:rPr sz="28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Cause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and 	</a:t>
            </a:r>
            <a:r>
              <a:rPr sz="2800" b="1" spc="-10" dirty="0">
                <a:latin typeface="Calibri"/>
                <a:cs typeface="Calibri"/>
              </a:rPr>
              <a:t>effect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25" y="4824413"/>
            <a:ext cx="3139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Source: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why.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Judea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Pearl,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2018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65048" y="102512"/>
            <a:ext cx="3358515" cy="4572635"/>
            <a:chOff x="5765048" y="102512"/>
            <a:chExt cx="3358515" cy="45726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5048" y="102512"/>
              <a:ext cx="3272850" cy="45723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26549" y="3238049"/>
              <a:ext cx="2082800" cy="1177925"/>
            </a:xfrm>
            <a:custGeom>
              <a:avLst/>
              <a:gdLst/>
              <a:ahLst/>
              <a:cxnLst/>
              <a:rect l="l" t="t" r="r" b="b"/>
              <a:pathLst>
                <a:path w="2082800" h="1177925">
                  <a:moveTo>
                    <a:pt x="0" y="196253"/>
                  </a:moveTo>
                  <a:lnTo>
                    <a:pt x="5183" y="151254"/>
                  </a:lnTo>
                  <a:lnTo>
                    <a:pt x="19947" y="109946"/>
                  </a:lnTo>
                  <a:lnTo>
                    <a:pt x="43114" y="73507"/>
                  </a:lnTo>
                  <a:lnTo>
                    <a:pt x="73506" y="43114"/>
                  </a:lnTo>
                  <a:lnTo>
                    <a:pt x="109946" y="19947"/>
                  </a:lnTo>
                  <a:lnTo>
                    <a:pt x="151254" y="5183"/>
                  </a:lnTo>
                  <a:lnTo>
                    <a:pt x="196253" y="0"/>
                  </a:lnTo>
                  <a:lnTo>
                    <a:pt x="1886045" y="0"/>
                  </a:lnTo>
                  <a:lnTo>
                    <a:pt x="1924512" y="3805"/>
                  </a:lnTo>
                  <a:lnTo>
                    <a:pt x="1961149" y="14938"/>
                  </a:lnTo>
                  <a:lnTo>
                    <a:pt x="1994928" y="32972"/>
                  </a:lnTo>
                  <a:lnTo>
                    <a:pt x="2024818" y="57481"/>
                  </a:lnTo>
                  <a:lnTo>
                    <a:pt x="2049327" y="87372"/>
                  </a:lnTo>
                  <a:lnTo>
                    <a:pt x="2067361" y="121150"/>
                  </a:lnTo>
                  <a:lnTo>
                    <a:pt x="2078494" y="157787"/>
                  </a:lnTo>
                  <a:lnTo>
                    <a:pt x="2082299" y="196253"/>
                  </a:lnTo>
                  <a:lnTo>
                    <a:pt x="2082299" y="981245"/>
                  </a:lnTo>
                  <a:lnTo>
                    <a:pt x="2077116" y="1026245"/>
                  </a:lnTo>
                  <a:lnTo>
                    <a:pt x="2062352" y="1067553"/>
                  </a:lnTo>
                  <a:lnTo>
                    <a:pt x="2039185" y="1103992"/>
                  </a:lnTo>
                  <a:lnTo>
                    <a:pt x="2008793" y="1134385"/>
                  </a:lnTo>
                  <a:lnTo>
                    <a:pt x="1972353" y="1157552"/>
                  </a:lnTo>
                  <a:lnTo>
                    <a:pt x="1931045" y="1172316"/>
                  </a:lnTo>
                  <a:lnTo>
                    <a:pt x="1886045" y="1177499"/>
                  </a:lnTo>
                  <a:lnTo>
                    <a:pt x="196253" y="1177499"/>
                  </a:lnTo>
                  <a:lnTo>
                    <a:pt x="151254" y="1172316"/>
                  </a:lnTo>
                  <a:lnTo>
                    <a:pt x="109946" y="1157552"/>
                  </a:lnTo>
                  <a:lnTo>
                    <a:pt x="73506" y="1134385"/>
                  </a:lnTo>
                  <a:lnTo>
                    <a:pt x="43114" y="1103992"/>
                  </a:lnTo>
                  <a:lnTo>
                    <a:pt x="19947" y="1067553"/>
                  </a:lnTo>
                  <a:lnTo>
                    <a:pt x="5183" y="1026245"/>
                  </a:lnTo>
                  <a:lnTo>
                    <a:pt x="0" y="981245"/>
                  </a:lnTo>
                  <a:lnTo>
                    <a:pt x="0" y="196253"/>
                  </a:lnTo>
                  <a:close/>
                </a:path>
              </a:pathLst>
            </a:custGeom>
            <a:ln w="2857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8350" y="4478415"/>
            <a:ext cx="1986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B5394"/>
                </a:solidFill>
                <a:latin typeface="Calibri"/>
                <a:cs typeface="Calibri"/>
              </a:rPr>
              <a:t>Machine</a:t>
            </a:r>
            <a:r>
              <a:rPr sz="2000" b="1" spc="-110" dirty="0">
                <a:solidFill>
                  <a:srgbClr val="0B5394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B5394"/>
                </a:solidFill>
                <a:latin typeface="Calibri"/>
                <a:cs typeface="Calibri"/>
              </a:rPr>
              <a:t>Learning!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078" y="0"/>
            <a:ext cx="6890184" cy="50645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17025" y="4750253"/>
            <a:ext cx="280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  <a:hlinkClick r:id="rId3"/>
              </a:rPr>
              <a:t>https://www.sharper.ai/wp-content/uploads/2018/10/Ma</a:t>
            </a:r>
            <a:r>
              <a:rPr sz="900" spc="-10" dirty="0">
                <a:latin typeface="Arial MT"/>
                <a:cs typeface="Arial MT"/>
              </a:rPr>
              <a:t> chineLearning-BubbleChart-awahid-gleetech.png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18" y="322863"/>
            <a:ext cx="3892901" cy="18937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2625" y="617150"/>
            <a:ext cx="4118078" cy="4508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535"/>
            <a:ext cx="4678699" cy="34920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5164" y="3609850"/>
            <a:ext cx="1768609" cy="1533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675" y="4107076"/>
            <a:ext cx="1078725" cy="4013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4803" y="1481928"/>
            <a:ext cx="1255275" cy="4881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0700" y="2190188"/>
            <a:ext cx="2343149" cy="380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54815" y="2903675"/>
            <a:ext cx="3708659" cy="15336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4;g28673b3666c_0_9">
            <a:extLst>
              <a:ext uri="{FF2B5EF4-FFF2-40B4-BE49-F238E27FC236}">
                <a16:creationId xmlns:a16="http://schemas.microsoft.com/office/drawing/2014/main" id="{BFCF9631-9EDE-2018-AD51-4945CCE66C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76800" y="2190750"/>
            <a:ext cx="4038600" cy="1711898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392"/>
              </a:srgbClr>
            </a:outerShdw>
          </a:effectLst>
        </p:spPr>
      </p:pic>
      <p:sp>
        <p:nvSpPr>
          <p:cNvPr id="3" name="Google Shape;455;g28673b3666c_0_9">
            <a:extLst>
              <a:ext uri="{FF2B5EF4-FFF2-40B4-BE49-F238E27FC236}">
                <a16:creationId xmlns:a16="http://schemas.microsoft.com/office/drawing/2014/main" id="{D1B11D8F-89AF-42F7-A6C0-0237C762F610}"/>
              </a:ext>
            </a:extLst>
          </p:cNvPr>
          <p:cNvSpPr/>
          <p:nvPr/>
        </p:nvSpPr>
        <p:spPr>
          <a:xfrm>
            <a:off x="5369087" y="4043761"/>
            <a:ext cx="3054026" cy="16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http://blog.thinkwik.com/insights-of-the-machine-learning-and-the-deep-learning/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456;g28673b3666c_0_9" descr="Artificial Intelligence (AI) – EduGarage">
            <a:extLst>
              <a:ext uri="{FF2B5EF4-FFF2-40B4-BE49-F238E27FC236}">
                <a16:creationId xmlns:a16="http://schemas.microsoft.com/office/drawing/2014/main" id="{137671D8-21C0-7311-6A94-F06CFD07A5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190750"/>
            <a:ext cx="4038600" cy="1711898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392"/>
              </a:srgbClr>
            </a:outerShdw>
          </a:effectLst>
        </p:spPr>
      </p:pic>
      <p:sp>
        <p:nvSpPr>
          <p:cNvPr id="5" name="Google Shape;457;g28673b3666c_0_9">
            <a:extLst>
              <a:ext uri="{FF2B5EF4-FFF2-40B4-BE49-F238E27FC236}">
                <a16:creationId xmlns:a16="http://schemas.microsoft.com/office/drawing/2014/main" id="{9C3DB18C-33F5-1EB0-2684-1CFC92374ACF}"/>
              </a:ext>
            </a:extLst>
          </p:cNvPr>
          <p:cNvSpPr/>
          <p:nvPr/>
        </p:nvSpPr>
        <p:spPr>
          <a:xfrm>
            <a:off x="368616" y="4019550"/>
            <a:ext cx="3910968" cy="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https://theedugarage.com/2020/05/25/artificial-intelligence/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52;g28673b3666c_0_9">
            <a:extLst>
              <a:ext uri="{FF2B5EF4-FFF2-40B4-BE49-F238E27FC236}">
                <a16:creationId xmlns:a16="http://schemas.microsoft.com/office/drawing/2014/main" id="{B1A52971-5DD1-916E-ADBC-3A22F4F946F7}"/>
              </a:ext>
            </a:extLst>
          </p:cNvPr>
          <p:cNvSpPr txBox="1">
            <a:spLocks/>
          </p:cNvSpPr>
          <p:nvPr/>
        </p:nvSpPr>
        <p:spPr>
          <a:xfrm>
            <a:off x="524667" y="1108026"/>
            <a:ext cx="7552533" cy="47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l" rtl="0">
              <a:buClr>
                <a:schemeClr val="dk1"/>
              </a:buClr>
              <a:buSzPts val="2000"/>
              <a:buFont typeface="Arial"/>
              <a:buNone/>
            </a:pPr>
            <a:r>
              <a:rPr lang="en-US" sz="3600"/>
              <a:t>Artificial Intelligence, Machine Learning and Deep Learning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51827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5735" y="122277"/>
            <a:ext cx="53714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0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dirty="0"/>
              <a:t>(ML)</a:t>
            </a:r>
            <a:r>
              <a:rPr spc="-4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288" y="893827"/>
            <a:ext cx="8151495" cy="14770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0520" marR="5080" indent="-338455">
              <a:lnSpc>
                <a:spcPts val="2850"/>
              </a:lnSpc>
              <a:spcBef>
                <a:spcPts val="220"/>
              </a:spcBef>
              <a:buSzPct val="43750"/>
              <a:buFont typeface="Arial MT"/>
              <a:buChar char="●"/>
              <a:tabLst>
                <a:tab pos="350520" algn="l"/>
              </a:tabLst>
            </a:pP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subfield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gives computers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explicitly programmed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(Arthur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Samuel,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1959).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Taken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wikipedia.</a:t>
            </a:r>
            <a:endParaRPr sz="2400">
              <a:latin typeface="Calibri"/>
              <a:cs typeface="Calibri"/>
            </a:endParaRPr>
          </a:p>
          <a:p>
            <a:pPr marL="350520" indent="-337820">
              <a:lnSpc>
                <a:spcPts val="2760"/>
              </a:lnSpc>
              <a:buSzPct val="43750"/>
              <a:buFont typeface="Arial MT"/>
              <a:buChar char="●"/>
              <a:tabLst>
                <a:tab pos="350520" algn="l"/>
              </a:tabLst>
            </a:pP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extracting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8960" y="2872200"/>
            <a:ext cx="2378075" cy="1188720"/>
          </a:xfrm>
          <a:prstGeom prst="rect">
            <a:avLst/>
          </a:prstGeom>
          <a:solidFill>
            <a:srgbClr val="729FCE"/>
          </a:solidFill>
          <a:ln w="9524">
            <a:solidFill>
              <a:srgbClr val="3465A4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endParaRPr sz="1800">
              <a:latin typeface="Times New Roman"/>
              <a:cs typeface="Times New Roman"/>
            </a:endParaRPr>
          </a:p>
          <a:p>
            <a:pPr marL="718185" marR="311150" indent="-400685">
              <a:lnSpc>
                <a:spcPct val="100699"/>
              </a:lnSpc>
            </a:pP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 algorithm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8944" y="3270775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9185" y="3234775"/>
            <a:ext cx="1118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knowledge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77439" y="3400344"/>
            <a:ext cx="631190" cy="41275"/>
            <a:chOff x="2377439" y="3400344"/>
            <a:chExt cx="631190" cy="41275"/>
          </a:xfrm>
        </p:grpSpPr>
        <p:sp>
          <p:nvSpPr>
            <p:cNvPr id="8" name="object 8"/>
            <p:cNvSpPr/>
            <p:nvPr/>
          </p:nvSpPr>
          <p:spPr>
            <a:xfrm>
              <a:off x="2377439" y="3420839"/>
              <a:ext cx="583565" cy="0"/>
            </a:xfrm>
            <a:custGeom>
              <a:avLst/>
              <a:gdLst/>
              <a:ahLst/>
              <a:cxnLst/>
              <a:rect l="l" t="t" r="r" b="b"/>
              <a:pathLst>
                <a:path w="583564">
                  <a:moveTo>
                    <a:pt x="0" y="0"/>
                  </a:moveTo>
                  <a:lnTo>
                    <a:pt x="5830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60489" y="3405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0489" y="3405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545439" y="3400344"/>
            <a:ext cx="631190" cy="41275"/>
            <a:chOff x="5545439" y="3400344"/>
            <a:chExt cx="631190" cy="41275"/>
          </a:xfrm>
        </p:grpSpPr>
        <p:sp>
          <p:nvSpPr>
            <p:cNvPr id="12" name="object 12"/>
            <p:cNvSpPr/>
            <p:nvPr/>
          </p:nvSpPr>
          <p:spPr>
            <a:xfrm>
              <a:off x="5545439" y="3420839"/>
              <a:ext cx="583565" cy="0"/>
            </a:xfrm>
            <a:custGeom>
              <a:avLst/>
              <a:gdLst/>
              <a:ahLst/>
              <a:cxnLst/>
              <a:rect l="l" t="t" r="r" b="b"/>
              <a:pathLst>
                <a:path w="583564">
                  <a:moveTo>
                    <a:pt x="0" y="0"/>
                  </a:moveTo>
                  <a:lnTo>
                    <a:pt x="5830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28489" y="3405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28489" y="3405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1600" y="3662040"/>
            <a:ext cx="1728359" cy="13715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8959" y="3655200"/>
            <a:ext cx="1755719" cy="13715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42" y="274677"/>
            <a:ext cx="76003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you</a:t>
            </a:r>
            <a:r>
              <a:rPr spc="-70" dirty="0"/>
              <a:t> </a:t>
            </a:r>
            <a:r>
              <a:rPr dirty="0"/>
              <a:t>should</a:t>
            </a:r>
            <a:r>
              <a:rPr spc="-75" dirty="0"/>
              <a:t> </a:t>
            </a:r>
            <a:r>
              <a:rPr dirty="0"/>
              <a:t>use</a:t>
            </a:r>
            <a:r>
              <a:rPr spc="-70" dirty="0"/>
              <a:t> </a:t>
            </a:r>
            <a:r>
              <a:rPr dirty="0"/>
              <a:t>ML?</a:t>
            </a:r>
            <a:r>
              <a:rPr spc="-55" dirty="0"/>
              <a:t> </a:t>
            </a:r>
            <a:r>
              <a:rPr b="1" spc="-10" dirty="0">
                <a:latin typeface="Calibri"/>
                <a:cs typeface="Calibri"/>
              </a:rPr>
              <a:t>Efficiency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accuracy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11" y="922736"/>
            <a:ext cx="3883862" cy="2269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7802" y="900700"/>
            <a:ext cx="3689453" cy="2291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6800" y="3262332"/>
            <a:ext cx="3956518" cy="18049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64;g1e86e1ed209_0_0">
            <a:extLst>
              <a:ext uri="{FF2B5EF4-FFF2-40B4-BE49-F238E27FC236}">
                <a16:creationId xmlns:a16="http://schemas.microsoft.com/office/drawing/2014/main" id="{49DA1917-0128-A8EB-ADB3-00302444D580}"/>
              </a:ext>
            </a:extLst>
          </p:cNvPr>
          <p:cNvSpPr/>
          <p:nvPr/>
        </p:nvSpPr>
        <p:spPr>
          <a:xfrm>
            <a:off x="2590800" y="1504950"/>
            <a:ext cx="3483168" cy="289193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A7E7E7-AAFF-7696-21F3-F8496503357B}"/>
              </a:ext>
            </a:extLst>
          </p:cNvPr>
          <p:cNvSpPr txBox="1"/>
          <p:nvPr/>
        </p:nvSpPr>
        <p:spPr>
          <a:xfrm>
            <a:off x="762000" y="441813"/>
            <a:ext cx="81534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defRPr sz="3000" b="0" i="0">
                <a:solidFill>
                  <a:srgbClr val="17365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s-CO" dirty="0" err="1"/>
              <a:t>Main</a:t>
            </a:r>
            <a:r>
              <a:rPr lang="es-CO" dirty="0"/>
              <a:t> </a:t>
            </a:r>
            <a:r>
              <a:rPr lang="es-CO" dirty="0" err="1"/>
              <a:t>resources</a:t>
            </a:r>
            <a:r>
              <a:rPr lang="es-CO" dirty="0"/>
              <a:t> </a:t>
            </a:r>
            <a:r>
              <a:rPr lang="es-CO" dirty="0" err="1"/>
              <a:t>required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ML </a:t>
            </a:r>
            <a:r>
              <a:rPr lang="es-CO" dirty="0" err="1"/>
              <a:t>implementation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560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86e1ed209_0_10"/>
          <p:cNvSpPr txBox="1">
            <a:spLocks noGrp="1"/>
          </p:cNvSpPr>
          <p:nvPr>
            <p:ph type="title"/>
          </p:nvPr>
        </p:nvSpPr>
        <p:spPr>
          <a:xfrm>
            <a:off x="304800" y="905771"/>
            <a:ext cx="8332425" cy="25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b" anchorCtr="0">
            <a:noAutofit/>
          </a:bodyPr>
          <a:lstStyle/>
          <a:p>
            <a:r>
              <a:rPr lang="en-US" sz="2800" b="1" dirty="0"/>
              <a:t>From Observations to Predictions through Models</a:t>
            </a:r>
            <a:br>
              <a:rPr lang="en-US" sz="2800" b="1" dirty="0"/>
            </a:br>
            <a:r>
              <a:rPr lang="en-US" sz="2800" b="1" dirty="0"/>
              <a:t>Introduction to Machine Learning</a:t>
            </a:r>
            <a:endParaRPr lang="en-US" sz="2800" dirty="0"/>
          </a:p>
        </p:txBody>
      </p:sp>
      <p:pic>
        <p:nvPicPr>
          <p:cNvPr id="471" name="Google Shape;471;g1e86e1ed209_0_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83922" y="1896710"/>
            <a:ext cx="4594650" cy="242724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1176"/>
              </a:srgbClr>
            </a:outerShdw>
          </a:effectLst>
        </p:spPr>
      </p:pic>
      <p:sp>
        <p:nvSpPr>
          <p:cNvPr id="472" name="Google Shape;472;g1e86e1ed209_0_10"/>
          <p:cNvSpPr txBox="1"/>
          <p:nvPr/>
        </p:nvSpPr>
        <p:spPr>
          <a:xfrm>
            <a:off x="4796548" y="1534254"/>
            <a:ext cx="3569400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rtl="0">
              <a:buClr>
                <a:srgbClr val="000000"/>
              </a:buClr>
              <a:buSzPts val="1800"/>
            </a:pPr>
            <a:r>
              <a:rPr lang="es-CO" sz="1400" b="1" dirty="0" err="1"/>
              <a:t>Analytical</a:t>
            </a:r>
            <a:r>
              <a:rPr lang="es-CO" sz="1400" b="1" dirty="0"/>
              <a:t> </a:t>
            </a:r>
            <a:r>
              <a:rPr lang="es-CO" sz="1400" b="1" dirty="0" err="1"/>
              <a:t>Models</a:t>
            </a:r>
            <a:endParaRPr sz="225" b="1" dirty="0">
              <a:solidFill>
                <a:srgbClr val="00AE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1e86e1ed209_0_10"/>
          <p:cNvSpPr txBox="1"/>
          <p:nvPr/>
        </p:nvSpPr>
        <p:spPr>
          <a:xfrm>
            <a:off x="137107" y="3652854"/>
            <a:ext cx="1448550" cy="900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buClr>
                <a:srgbClr val="000000"/>
              </a:buClr>
              <a:buSzPts val="1300"/>
            </a:pPr>
            <a:r>
              <a:rPr lang="en-US" sz="975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endParaRPr sz="975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rtl="0">
              <a:buClr>
                <a:srgbClr val="000000"/>
              </a:buClr>
              <a:buSzPts val="1300"/>
            </a:pPr>
            <a:r>
              <a:rPr lang="en-US" sz="975" b="1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Observations</a:t>
            </a:r>
            <a:endParaRPr sz="975" b="1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/>
              <a:t>Predictor variables</a:t>
            </a: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 err="1"/>
              <a:t>Independent</a:t>
            </a:r>
            <a:r>
              <a:rPr lang="es-CO" sz="1000" dirty="0"/>
              <a:t> variables</a:t>
            </a: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 err="1"/>
              <a:t>Features</a:t>
            </a:r>
            <a:endParaRPr sz="975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4" name="Google Shape;474;g1e86e1ed209_0_10"/>
          <p:cNvSpPr txBox="1"/>
          <p:nvPr/>
        </p:nvSpPr>
        <p:spPr>
          <a:xfrm>
            <a:off x="897681" y="3251173"/>
            <a:ext cx="225000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buClr>
                <a:srgbClr val="000000"/>
              </a:buClr>
              <a:buSzPts val="1400"/>
            </a:pPr>
            <a:r>
              <a:rPr lang="en-US" sz="10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trata de crear modelos</a:t>
            </a:r>
            <a:endParaRPr sz="10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1e86e1ed209_0_10"/>
          <p:cNvSpPr/>
          <p:nvPr/>
        </p:nvSpPr>
        <p:spPr>
          <a:xfrm>
            <a:off x="1732095" y="3551323"/>
            <a:ext cx="581175" cy="47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1e86e1ed209_0_10"/>
          <p:cNvSpPr txBox="1"/>
          <p:nvPr/>
        </p:nvSpPr>
        <p:spPr>
          <a:xfrm>
            <a:off x="2402960" y="3652854"/>
            <a:ext cx="1539450" cy="90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buClr>
                <a:srgbClr val="000000"/>
              </a:buClr>
              <a:buSzPts val="1300"/>
            </a:pPr>
            <a:r>
              <a:rPr lang="en-US" sz="975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endParaRPr sz="975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 err="1"/>
              <a:t>Predictions</a:t>
            </a:r>
            <a:endParaRPr sz="975" b="1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/>
              <a:t>Target variables</a:t>
            </a:r>
          </a:p>
          <a:p>
            <a:pPr algn="ctr" rtl="0">
              <a:buClr>
                <a:srgbClr val="000000"/>
              </a:buClr>
              <a:buSzPts val="1300"/>
            </a:pPr>
            <a:r>
              <a:rPr lang="es-CO" sz="1000" dirty="0" err="1"/>
              <a:t>Dependent</a:t>
            </a:r>
            <a:r>
              <a:rPr lang="es-CO" sz="1000" dirty="0"/>
              <a:t> variables</a:t>
            </a:r>
          </a:p>
          <a:p>
            <a:pPr algn="ctr" rtl="0">
              <a:buClr>
                <a:srgbClr val="000000"/>
              </a:buClr>
              <a:buSzPts val="1300"/>
            </a:pPr>
            <a:r>
              <a:rPr lang="en-US" sz="975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Labels</a:t>
            </a:r>
            <a:endParaRPr sz="975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77" name="Google Shape;477;g1e86e1ed209_0_10"/>
          <p:cNvCxnSpPr/>
          <p:nvPr/>
        </p:nvCxnSpPr>
        <p:spPr>
          <a:xfrm>
            <a:off x="1408770" y="3787123"/>
            <a:ext cx="3233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8" name="Google Shape;478;g1e86e1ed209_0_10"/>
          <p:cNvCxnSpPr/>
          <p:nvPr/>
        </p:nvCxnSpPr>
        <p:spPr>
          <a:xfrm>
            <a:off x="2313270" y="3787123"/>
            <a:ext cx="3233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9" name="Google Shape;479;g1e86e1ed209_0_10"/>
          <p:cNvSpPr txBox="1"/>
          <p:nvPr/>
        </p:nvSpPr>
        <p:spPr>
          <a:xfrm>
            <a:off x="88029" y="1534254"/>
            <a:ext cx="4103775" cy="143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r>
              <a:rPr lang="es-CO" sz="1400" b="1" dirty="0" err="1"/>
              <a:t>Observations</a:t>
            </a:r>
            <a:r>
              <a:rPr lang="es-CO" sz="1400" b="1" dirty="0"/>
              <a:t> → </a:t>
            </a:r>
            <a:r>
              <a:rPr lang="es-CO" sz="1400" b="1" dirty="0" err="1"/>
              <a:t>Predictions</a:t>
            </a:r>
            <a:endParaRPr lang="es-CO" sz="1400" dirty="0"/>
          </a:p>
          <a:p>
            <a:r>
              <a:rPr lang="es-CO" sz="1400" dirty="0" err="1"/>
              <a:t>Patient</a:t>
            </a:r>
            <a:r>
              <a:rPr lang="es-CO" sz="1400" dirty="0"/>
              <a:t> </a:t>
            </a:r>
            <a:r>
              <a:rPr lang="es-CO" sz="1400" dirty="0" err="1"/>
              <a:t>image</a:t>
            </a:r>
            <a:r>
              <a:rPr lang="es-CO" sz="1400" dirty="0"/>
              <a:t> → has </a:t>
            </a:r>
            <a:r>
              <a:rPr lang="es-CO" sz="1400" dirty="0" err="1"/>
              <a:t>pathology</a:t>
            </a:r>
            <a:endParaRPr lang="es-CO" sz="1400" dirty="0"/>
          </a:p>
          <a:p>
            <a:r>
              <a:rPr lang="es-CO" sz="1400" dirty="0"/>
              <a:t>Text </a:t>
            </a:r>
            <a:r>
              <a:rPr lang="es-CO" sz="1400" dirty="0" err="1"/>
              <a:t>fragment</a:t>
            </a:r>
            <a:r>
              <a:rPr lang="es-CO" sz="1400" dirty="0"/>
              <a:t> → </a:t>
            </a:r>
            <a:r>
              <a:rPr lang="es-CO" sz="1400" dirty="0" err="1"/>
              <a:t>sentiment</a:t>
            </a:r>
            <a:endParaRPr lang="es-CO" sz="1400" dirty="0"/>
          </a:p>
          <a:p>
            <a:r>
              <a:rPr lang="es-CO" sz="1400" dirty="0" err="1"/>
              <a:t>Financial</a:t>
            </a:r>
            <a:r>
              <a:rPr lang="es-CO" sz="1400" dirty="0"/>
              <a:t> time series → </a:t>
            </a:r>
            <a:r>
              <a:rPr lang="es-CO" sz="1400" dirty="0" err="1"/>
              <a:t>value</a:t>
            </a:r>
            <a:r>
              <a:rPr lang="es-CO" sz="1400" dirty="0"/>
              <a:t> </a:t>
            </a:r>
            <a:r>
              <a:rPr lang="es-CO" sz="1400" dirty="0" err="1"/>
              <a:t>trend</a:t>
            </a:r>
            <a:endParaRPr lang="es-CO" sz="1400" dirty="0"/>
          </a:p>
          <a:p>
            <a:r>
              <a:rPr lang="es-CO" sz="1400" dirty="0"/>
              <a:t>House </a:t>
            </a:r>
            <a:r>
              <a:rPr lang="es-CO" sz="1400" dirty="0" err="1"/>
              <a:t>description</a:t>
            </a:r>
            <a:r>
              <a:rPr lang="es-CO" sz="1400" dirty="0"/>
              <a:t> → </a:t>
            </a:r>
            <a:r>
              <a:rPr lang="es-CO" sz="1400" dirty="0" err="1"/>
              <a:t>market</a:t>
            </a:r>
            <a:r>
              <a:rPr lang="es-CO" sz="1400" dirty="0"/>
              <a:t> </a:t>
            </a:r>
            <a:r>
              <a:rPr lang="es-CO" sz="1400" dirty="0" err="1"/>
              <a:t>value</a:t>
            </a:r>
            <a:endParaRPr lang="es-CO" sz="1400" dirty="0"/>
          </a:p>
          <a:p>
            <a:r>
              <a:rPr lang="es-CO" sz="1400" dirty="0"/>
              <a:t>Client </a:t>
            </a:r>
            <a:r>
              <a:rPr lang="es-CO" sz="1400" dirty="0" err="1"/>
              <a:t>profile</a:t>
            </a:r>
            <a:r>
              <a:rPr lang="es-CO" sz="1400" dirty="0"/>
              <a:t> → </a:t>
            </a:r>
            <a:r>
              <a:rPr lang="es-CO" sz="1400" dirty="0" err="1"/>
              <a:t>product</a:t>
            </a:r>
            <a:r>
              <a:rPr lang="es-CO" sz="1400" dirty="0"/>
              <a:t> </a:t>
            </a:r>
            <a:r>
              <a:rPr lang="es-CO" sz="1400" dirty="0" err="1"/>
              <a:t>to</a:t>
            </a:r>
            <a:r>
              <a:rPr lang="es-CO" sz="1400" dirty="0"/>
              <a:t> </a:t>
            </a:r>
            <a:r>
              <a:rPr lang="es-CO" sz="1400" dirty="0" err="1"/>
              <a:t>buy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865100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86;g1e86e1ed209_0_25">
            <a:extLst>
              <a:ext uri="{FF2B5EF4-FFF2-40B4-BE49-F238E27FC236}">
                <a16:creationId xmlns:a16="http://schemas.microsoft.com/office/drawing/2014/main" id="{AFFF20A9-F36E-911E-1E03-A81D4727C782}"/>
              </a:ext>
            </a:extLst>
          </p:cNvPr>
          <p:cNvSpPr txBox="1"/>
          <p:nvPr/>
        </p:nvSpPr>
        <p:spPr>
          <a:xfrm>
            <a:off x="1459313" y="1816969"/>
            <a:ext cx="2250000" cy="85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s-CO" sz="1600" dirty="0" err="1"/>
              <a:t>Example</a:t>
            </a:r>
            <a:r>
              <a:rPr lang="es-CO" sz="1600" dirty="0"/>
              <a:t> data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87;g1e86e1ed209_0_25">
            <a:extLst>
              <a:ext uri="{FF2B5EF4-FFF2-40B4-BE49-F238E27FC236}">
                <a16:creationId xmlns:a16="http://schemas.microsoft.com/office/drawing/2014/main" id="{5A359351-4160-38F5-7916-D7B50ADF59A1}"/>
              </a:ext>
            </a:extLst>
          </p:cNvPr>
          <p:cNvSpPr/>
          <p:nvPr/>
        </p:nvSpPr>
        <p:spPr>
          <a:xfrm>
            <a:off x="1881075" y="2887819"/>
            <a:ext cx="1406475" cy="8615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s-CO" sz="1600" b="1" dirty="0" err="1"/>
              <a:t>Model</a:t>
            </a:r>
            <a:r>
              <a:rPr lang="es-CO" sz="1600" b="1" dirty="0"/>
              <a:t> </a:t>
            </a:r>
            <a:r>
              <a:rPr lang="es-CO" sz="1600" b="1" dirty="0" err="1"/>
              <a:t>Creation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488;g1e86e1ed209_0_25">
            <a:extLst>
              <a:ext uri="{FF2B5EF4-FFF2-40B4-BE49-F238E27FC236}">
                <a16:creationId xmlns:a16="http://schemas.microsoft.com/office/drawing/2014/main" id="{82B98CDC-EED0-F7E5-8F4A-CEBF46D50933}"/>
              </a:ext>
            </a:extLst>
          </p:cNvPr>
          <p:cNvSpPr/>
          <p:nvPr/>
        </p:nvSpPr>
        <p:spPr>
          <a:xfrm>
            <a:off x="4240875" y="2887819"/>
            <a:ext cx="1647225" cy="861525"/>
          </a:xfrm>
          <a:prstGeom prst="rect">
            <a:avLst/>
          </a:prstGeom>
          <a:solidFill>
            <a:srgbClr val="9BBB5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5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489;g1e86e1ed209_0_25">
            <a:extLst>
              <a:ext uri="{FF2B5EF4-FFF2-40B4-BE49-F238E27FC236}">
                <a16:creationId xmlns:a16="http://schemas.microsoft.com/office/drawing/2014/main" id="{83DBE49F-9DA7-341B-0EC7-8EDC690A7A4F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584313" y="2671027"/>
            <a:ext cx="0" cy="2167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490;g1e86e1ed209_0_25">
            <a:extLst>
              <a:ext uri="{FF2B5EF4-FFF2-40B4-BE49-F238E27FC236}">
                <a16:creationId xmlns:a16="http://schemas.microsoft.com/office/drawing/2014/main" id="{8585096D-A9E3-1657-B2FA-3482FF48B21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287550" y="3318581"/>
            <a:ext cx="9533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491;g1e86e1ed209_0_25">
            <a:extLst>
              <a:ext uri="{FF2B5EF4-FFF2-40B4-BE49-F238E27FC236}">
                <a16:creationId xmlns:a16="http://schemas.microsoft.com/office/drawing/2014/main" id="{178E75D8-9A15-69FE-CA48-EB5FDE474962}"/>
              </a:ext>
            </a:extLst>
          </p:cNvPr>
          <p:cNvSpPr txBox="1"/>
          <p:nvPr/>
        </p:nvSpPr>
        <p:spPr>
          <a:xfrm>
            <a:off x="3939488" y="2060269"/>
            <a:ext cx="2250000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X </a:t>
            </a:r>
            <a:endParaRPr sz="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492;g1e86e1ed209_0_25">
            <a:extLst>
              <a:ext uri="{FF2B5EF4-FFF2-40B4-BE49-F238E27FC236}">
                <a16:creationId xmlns:a16="http://schemas.microsoft.com/office/drawing/2014/main" id="{8DE47EA6-583F-31D3-81F3-D8A40B432638}"/>
              </a:ext>
            </a:extLst>
          </p:cNvPr>
          <p:cNvCxnSpPr>
            <a:stCxn id="10" idx="2"/>
            <a:endCxn id="7" idx="0"/>
          </p:cNvCxnSpPr>
          <p:nvPr/>
        </p:nvCxnSpPr>
        <p:spPr>
          <a:xfrm>
            <a:off x="5064488" y="2544995"/>
            <a:ext cx="0" cy="3428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Google Shape;493;g1e86e1ed209_0_25">
            <a:extLst>
              <a:ext uri="{FF2B5EF4-FFF2-40B4-BE49-F238E27FC236}">
                <a16:creationId xmlns:a16="http://schemas.microsoft.com/office/drawing/2014/main" id="{C65CDB23-98DB-D5F1-17ED-1159C723DC47}"/>
              </a:ext>
            </a:extLst>
          </p:cNvPr>
          <p:cNvSpPr txBox="1"/>
          <p:nvPr/>
        </p:nvSpPr>
        <p:spPr>
          <a:xfrm>
            <a:off x="3939488" y="4112269"/>
            <a:ext cx="2250000" cy="507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s-CO" sz="1600" dirty="0" err="1"/>
              <a:t>Predictions</a:t>
            </a:r>
            <a:r>
              <a:rPr lang="es-CO" sz="1600" dirty="0"/>
              <a:t> y</a:t>
            </a:r>
            <a:endParaRPr sz="1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494;g1e86e1ed209_0_25">
            <a:extLst>
              <a:ext uri="{FF2B5EF4-FFF2-40B4-BE49-F238E27FC236}">
                <a16:creationId xmlns:a16="http://schemas.microsoft.com/office/drawing/2014/main" id="{5C8E36A5-C35F-A5C8-9127-274723637560}"/>
              </a:ext>
            </a:extLst>
          </p:cNvPr>
          <p:cNvCxnSpPr>
            <a:stCxn id="7" idx="2"/>
            <a:endCxn id="12" idx="0"/>
          </p:cNvCxnSpPr>
          <p:nvPr/>
        </p:nvCxnSpPr>
        <p:spPr>
          <a:xfrm>
            <a:off x="5064488" y="3749344"/>
            <a:ext cx="0" cy="3629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4" name="Google Shape;495;g1e86e1ed209_0_25">
            <a:extLst>
              <a:ext uri="{FF2B5EF4-FFF2-40B4-BE49-F238E27FC236}">
                <a16:creationId xmlns:a16="http://schemas.microsoft.com/office/drawing/2014/main" id="{7C7957CF-4A37-1B18-68CC-515F35B27F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88092" y="2911097"/>
            <a:ext cx="1796594" cy="8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469;g1e86e1ed209_0_10">
            <a:extLst>
              <a:ext uri="{FF2B5EF4-FFF2-40B4-BE49-F238E27FC236}">
                <a16:creationId xmlns:a16="http://schemas.microsoft.com/office/drawing/2014/main" id="{794FE273-FE24-A2F1-A91D-3A9C20CE27B3}"/>
              </a:ext>
            </a:extLst>
          </p:cNvPr>
          <p:cNvSpPr txBox="1">
            <a:spLocks/>
          </p:cNvSpPr>
          <p:nvPr/>
        </p:nvSpPr>
        <p:spPr>
          <a:xfrm>
            <a:off x="304800" y="905771"/>
            <a:ext cx="8332425" cy="25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b" anchorCtr="0">
            <a:no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b="1" dirty="0"/>
              <a:t>From Observations to Predictions through Models</a:t>
            </a:r>
            <a:br>
              <a:rPr lang="en-US" sz="2800" b="1" dirty="0"/>
            </a:br>
            <a:r>
              <a:rPr lang="en-US" sz="2800" b="1" dirty="0"/>
              <a:t>Introduction to Machine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9804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2;g1e86e1ed209_0_49">
            <a:extLst>
              <a:ext uri="{FF2B5EF4-FFF2-40B4-BE49-F238E27FC236}">
                <a16:creationId xmlns:a16="http://schemas.microsoft.com/office/drawing/2014/main" id="{D9D6A9AC-98BB-DED0-3B45-F8196CA34238}"/>
              </a:ext>
            </a:extLst>
          </p:cNvPr>
          <p:cNvSpPr txBox="1"/>
          <p:nvPr/>
        </p:nvSpPr>
        <p:spPr>
          <a:xfrm>
            <a:off x="2256638" y="1890338"/>
            <a:ext cx="2250000" cy="85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s-CO" sz="1600" dirty="0" err="1"/>
              <a:t>Example</a:t>
            </a:r>
            <a:r>
              <a:rPr lang="es-CO" sz="1600" dirty="0"/>
              <a:t> data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03;g1e86e1ed209_0_49">
            <a:extLst>
              <a:ext uri="{FF2B5EF4-FFF2-40B4-BE49-F238E27FC236}">
                <a16:creationId xmlns:a16="http://schemas.microsoft.com/office/drawing/2014/main" id="{201DB373-D1F4-5730-21FC-09384339A848}"/>
              </a:ext>
            </a:extLst>
          </p:cNvPr>
          <p:cNvSpPr/>
          <p:nvPr/>
        </p:nvSpPr>
        <p:spPr>
          <a:xfrm>
            <a:off x="2678400" y="2961188"/>
            <a:ext cx="1406475" cy="8615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s-CO" sz="1600" dirty="0" err="1"/>
              <a:t>Calibrated</a:t>
            </a:r>
            <a:r>
              <a:rPr lang="es-CO" sz="1600" dirty="0"/>
              <a:t> </a:t>
            </a:r>
            <a:r>
              <a:rPr lang="es-CO" sz="1600" dirty="0" err="1"/>
              <a:t>Model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04;g1e86e1ed209_0_49">
            <a:extLst>
              <a:ext uri="{FF2B5EF4-FFF2-40B4-BE49-F238E27FC236}">
                <a16:creationId xmlns:a16="http://schemas.microsoft.com/office/drawing/2014/main" id="{4896F271-4FA6-D466-5F97-B81D34D718E6}"/>
              </a:ext>
            </a:extLst>
          </p:cNvPr>
          <p:cNvSpPr/>
          <p:nvPr/>
        </p:nvSpPr>
        <p:spPr>
          <a:xfrm>
            <a:off x="5038201" y="2961188"/>
            <a:ext cx="1647225" cy="861525"/>
          </a:xfrm>
          <a:prstGeom prst="rect">
            <a:avLst/>
          </a:prstGeom>
          <a:solidFill>
            <a:srgbClr val="9BBB5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" name="Google Shape;505;g1e86e1ed209_0_49">
            <a:extLst>
              <a:ext uri="{FF2B5EF4-FFF2-40B4-BE49-F238E27FC236}">
                <a16:creationId xmlns:a16="http://schemas.microsoft.com/office/drawing/2014/main" id="{B5301BF7-F315-4FA0-2C80-6C161DE00A57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381638" y="2744396"/>
            <a:ext cx="0" cy="2167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" name="Google Shape;506;g1e86e1ed209_0_49">
            <a:extLst>
              <a:ext uri="{FF2B5EF4-FFF2-40B4-BE49-F238E27FC236}">
                <a16:creationId xmlns:a16="http://schemas.microsoft.com/office/drawing/2014/main" id="{63BA2CF2-0D3C-8524-20CF-958041C96A8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084875" y="3391950"/>
            <a:ext cx="9533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" name="Google Shape;507;g1e86e1ed209_0_49">
            <a:extLst>
              <a:ext uri="{FF2B5EF4-FFF2-40B4-BE49-F238E27FC236}">
                <a16:creationId xmlns:a16="http://schemas.microsoft.com/office/drawing/2014/main" id="{D19C51D0-7742-8694-8A43-3F903F7D9C5B}"/>
              </a:ext>
            </a:extLst>
          </p:cNvPr>
          <p:cNvSpPr txBox="1"/>
          <p:nvPr/>
        </p:nvSpPr>
        <p:spPr>
          <a:xfrm>
            <a:off x="4736813" y="2133638"/>
            <a:ext cx="2250000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news</a:t>
            </a:r>
            <a:endParaRPr sz="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508;g1e86e1ed209_0_49">
            <a:extLst>
              <a:ext uri="{FF2B5EF4-FFF2-40B4-BE49-F238E27FC236}">
                <a16:creationId xmlns:a16="http://schemas.microsoft.com/office/drawing/2014/main" id="{A3D4DFBF-F228-B904-22CB-A41F6F6F6696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5861813" y="2618364"/>
            <a:ext cx="1" cy="3428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509;g1e86e1ed209_0_49">
            <a:extLst>
              <a:ext uri="{FF2B5EF4-FFF2-40B4-BE49-F238E27FC236}">
                <a16:creationId xmlns:a16="http://schemas.microsoft.com/office/drawing/2014/main" id="{D5CDF790-6EB9-DACD-D2DB-6F8AA7FC67BD}"/>
              </a:ext>
            </a:extLst>
          </p:cNvPr>
          <p:cNvSpPr txBox="1"/>
          <p:nvPr/>
        </p:nvSpPr>
        <p:spPr>
          <a:xfrm>
            <a:off x="4736813" y="4185638"/>
            <a:ext cx="2250000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sz="1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510;g1e86e1ed209_0_49">
            <a:extLst>
              <a:ext uri="{FF2B5EF4-FFF2-40B4-BE49-F238E27FC236}">
                <a16:creationId xmlns:a16="http://schemas.microsoft.com/office/drawing/2014/main" id="{ADA66E85-BE35-1B70-894E-8610A6F1B0C0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5861813" y="3822713"/>
            <a:ext cx="1" cy="3629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Google Shape;511;g1e86e1ed209_0_49">
            <a:extLst>
              <a:ext uri="{FF2B5EF4-FFF2-40B4-BE49-F238E27FC236}">
                <a16:creationId xmlns:a16="http://schemas.microsoft.com/office/drawing/2014/main" id="{7C94EBE0-7BC9-4916-EA99-FA20090EC871}"/>
              </a:ext>
            </a:extLst>
          </p:cNvPr>
          <p:cNvSpPr/>
          <p:nvPr/>
        </p:nvSpPr>
        <p:spPr>
          <a:xfrm>
            <a:off x="604820" y="2961188"/>
            <a:ext cx="1406475" cy="86152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s-CO" sz="1600" dirty="0" err="1"/>
              <a:t>Template</a:t>
            </a:r>
            <a:r>
              <a:rPr lang="es-CO" sz="1600" dirty="0"/>
              <a:t> </a:t>
            </a:r>
            <a:r>
              <a:rPr lang="es-CO" sz="1600" dirty="0" err="1"/>
              <a:t>Model</a:t>
            </a:r>
            <a:endParaRPr sz="15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512;g1e86e1ed209_0_49">
            <a:extLst>
              <a:ext uri="{FF2B5EF4-FFF2-40B4-BE49-F238E27FC236}">
                <a16:creationId xmlns:a16="http://schemas.microsoft.com/office/drawing/2014/main" id="{D12FA5BE-FB8B-134A-9112-45882809AE8F}"/>
              </a:ext>
            </a:extLst>
          </p:cNvPr>
          <p:cNvCxnSpPr>
            <a:stCxn id="12" idx="3"/>
            <a:endCxn id="4" idx="1"/>
          </p:cNvCxnSpPr>
          <p:nvPr/>
        </p:nvCxnSpPr>
        <p:spPr>
          <a:xfrm>
            <a:off x="2011295" y="3391950"/>
            <a:ext cx="6671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4" name="Google Shape;513;g1e86e1ed209_0_49">
            <a:extLst>
              <a:ext uri="{FF2B5EF4-FFF2-40B4-BE49-F238E27FC236}">
                <a16:creationId xmlns:a16="http://schemas.microsoft.com/office/drawing/2014/main" id="{0FC5A327-5631-9CA1-A0FC-4338B25EC5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2576" y="3008766"/>
            <a:ext cx="1796594" cy="81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514;g1e86e1ed209_0_49">
            <a:extLst>
              <a:ext uri="{FF2B5EF4-FFF2-40B4-BE49-F238E27FC236}">
                <a16:creationId xmlns:a16="http://schemas.microsoft.com/office/drawing/2014/main" id="{DAEFC515-5EAC-D89F-C0E2-1EB75C904CAA}"/>
              </a:ext>
            </a:extLst>
          </p:cNvPr>
          <p:cNvCxnSpPr/>
          <p:nvPr/>
        </p:nvCxnSpPr>
        <p:spPr>
          <a:xfrm>
            <a:off x="6778782" y="2752997"/>
            <a:ext cx="1724175" cy="1061100"/>
          </a:xfrm>
          <a:prstGeom prst="straightConnector1">
            <a:avLst/>
          </a:prstGeom>
          <a:noFill/>
          <a:ln w="1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515;g1e86e1ed209_0_49">
            <a:extLst>
              <a:ext uri="{FF2B5EF4-FFF2-40B4-BE49-F238E27FC236}">
                <a16:creationId xmlns:a16="http://schemas.microsoft.com/office/drawing/2014/main" id="{D967A379-ED25-0F2C-9ABE-E5A924FEB829}"/>
              </a:ext>
            </a:extLst>
          </p:cNvPr>
          <p:cNvCxnSpPr/>
          <p:nvPr/>
        </p:nvCxnSpPr>
        <p:spPr>
          <a:xfrm flipH="1">
            <a:off x="6887851" y="2935079"/>
            <a:ext cx="1527975" cy="1078200"/>
          </a:xfrm>
          <a:prstGeom prst="straightConnector1">
            <a:avLst/>
          </a:prstGeom>
          <a:noFill/>
          <a:ln w="1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469;g1e86e1ed209_0_10">
            <a:extLst>
              <a:ext uri="{FF2B5EF4-FFF2-40B4-BE49-F238E27FC236}">
                <a16:creationId xmlns:a16="http://schemas.microsoft.com/office/drawing/2014/main" id="{1667C464-982D-CF2B-52E9-B8668B00D95B}"/>
              </a:ext>
            </a:extLst>
          </p:cNvPr>
          <p:cNvSpPr txBox="1">
            <a:spLocks/>
          </p:cNvSpPr>
          <p:nvPr/>
        </p:nvSpPr>
        <p:spPr>
          <a:xfrm>
            <a:off x="340425" y="1074151"/>
            <a:ext cx="8332425" cy="25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b" anchorCtr="0">
            <a:no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b="1" dirty="0"/>
              <a:t>From Observations to Predictions through Models</a:t>
            </a:r>
            <a:br>
              <a:rPr lang="en-US" sz="2800" b="1" dirty="0"/>
            </a:br>
            <a:r>
              <a:rPr lang="en-US" sz="2800" b="1" dirty="0"/>
              <a:t>Introduction to Machine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1252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69;g1e86e1ed209_0_10">
            <a:extLst>
              <a:ext uri="{FF2B5EF4-FFF2-40B4-BE49-F238E27FC236}">
                <a16:creationId xmlns:a16="http://schemas.microsoft.com/office/drawing/2014/main" id="{7D0E18FA-6F83-8DF3-803C-5697EF89282E}"/>
              </a:ext>
            </a:extLst>
          </p:cNvPr>
          <p:cNvSpPr txBox="1">
            <a:spLocks/>
          </p:cNvSpPr>
          <p:nvPr/>
        </p:nvSpPr>
        <p:spPr>
          <a:xfrm>
            <a:off x="340425" y="1074151"/>
            <a:ext cx="8332425" cy="25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b" anchorCtr="0">
            <a:no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b="1" dirty="0"/>
              <a:t>From Observations to Predictions through Models</a:t>
            </a:r>
            <a:br>
              <a:rPr lang="en-US" sz="2800" b="1" dirty="0"/>
            </a:br>
            <a:r>
              <a:rPr lang="en-US" sz="2800" b="1" dirty="0"/>
              <a:t>Introduction to Machine Learning</a:t>
            </a:r>
            <a:endParaRPr lang="en-US" sz="2800" dirty="0"/>
          </a:p>
        </p:txBody>
      </p:sp>
      <p:sp>
        <p:nvSpPr>
          <p:cNvPr id="4" name="Google Shape;502;g1e86e1ed209_0_49">
            <a:extLst>
              <a:ext uri="{FF2B5EF4-FFF2-40B4-BE49-F238E27FC236}">
                <a16:creationId xmlns:a16="http://schemas.microsoft.com/office/drawing/2014/main" id="{B648BBE8-8F04-5EC0-EB14-637B69A86A9C}"/>
              </a:ext>
            </a:extLst>
          </p:cNvPr>
          <p:cNvSpPr txBox="1"/>
          <p:nvPr/>
        </p:nvSpPr>
        <p:spPr>
          <a:xfrm>
            <a:off x="2256638" y="1890338"/>
            <a:ext cx="2250000" cy="85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s-CO" sz="1600" dirty="0" err="1"/>
              <a:t>Example</a:t>
            </a:r>
            <a:r>
              <a:rPr lang="es-CO" sz="1600" dirty="0"/>
              <a:t> data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03;g1e86e1ed209_0_49">
            <a:extLst>
              <a:ext uri="{FF2B5EF4-FFF2-40B4-BE49-F238E27FC236}">
                <a16:creationId xmlns:a16="http://schemas.microsoft.com/office/drawing/2014/main" id="{FC1E2FAD-2A7E-503B-DBFD-2E42B69CEBFD}"/>
              </a:ext>
            </a:extLst>
          </p:cNvPr>
          <p:cNvSpPr/>
          <p:nvPr/>
        </p:nvSpPr>
        <p:spPr>
          <a:xfrm>
            <a:off x="2678400" y="2961188"/>
            <a:ext cx="1406475" cy="8615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s-CO" sz="1600" dirty="0" err="1"/>
              <a:t>Calibrated</a:t>
            </a:r>
            <a:r>
              <a:rPr lang="es-CO" sz="1600" dirty="0"/>
              <a:t> </a:t>
            </a:r>
            <a:r>
              <a:rPr lang="es-CO" sz="1600" dirty="0" err="1"/>
              <a:t>Model</a:t>
            </a:r>
            <a:endParaRPr sz="1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04;g1e86e1ed209_0_49">
            <a:extLst>
              <a:ext uri="{FF2B5EF4-FFF2-40B4-BE49-F238E27FC236}">
                <a16:creationId xmlns:a16="http://schemas.microsoft.com/office/drawing/2014/main" id="{5A9F857C-FBAB-ED09-B0D5-6016E9ADB390}"/>
              </a:ext>
            </a:extLst>
          </p:cNvPr>
          <p:cNvSpPr/>
          <p:nvPr/>
        </p:nvSpPr>
        <p:spPr>
          <a:xfrm>
            <a:off x="5038201" y="2961188"/>
            <a:ext cx="1647225" cy="861525"/>
          </a:xfrm>
          <a:prstGeom prst="rect">
            <a:avLst/>
          </a:prstGeom>
          <a:solidFill>
            <a:srgbClr val="9BBB5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235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505;g1e86e1ed209_0_49">
            <a:extLst>
              <a:ext uri="{FF2B5EF4-FFF2-40B4-BE49-F238E27FC236}">
                <a16:creationId xmlns:a16="http://schemas.microsoft.com/office/drawing/2014/main" id="{7DC391B0-E710-BD2C-3C7F-4AA2DC957FC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381638" y="2744396"/>
            <a:ext cx="0" cy="2167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506;g1e86e1ed209_0_49">
            <a:extLst>
              <a:ext uri="{FF2B5EF4-FFF2-40B4-BE49-F238E27FC236}">
                <a16:creationId xmlns:a16="http://schemas.microsoft.com/office/drawing/2014/main" id="{A52A51EA-05B9-307C-555F-EDDFF05BEA0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084875" y="3391950"/>
            <a:ext cx="9533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507;g1e86e1ed209_0_49">
            <a:extLst>
              <a:ext uri="{FF2B5EF4-FFF2-40B4-BE49-F238E27FC236}">
                <a16:creationId xmlns:a16="http://schemas.microsoft.com/office/drawing/2014/main" id="{62261DDC-4016-CCD2-455E-4F47FEA08178}"/>
              </a:ext>
            </a:extLst>
          </p:cNvPr>
          <p:cNvSpPr txBox="1"/>
          <p:nvPr/>
        </p:nvSpPr>
        <p:spPr>
          <a:xfrm>
            <a:off x="4736813" y="2133638"/>
            <a:ext cx="2250000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508;g1e86e1ed209_0_49">
            <a:extLst>
              <a:ext uri="{FF2B5EF4-FFF2-40B4-BE49-F238E27FC236}">
                <a16:creationId xmlns:a16="http://schemas.microsoft.com/office/drawing/2014/main" id="{E9C05DFF-3923-6703-4B84-B2B3AF08B35E}"/>
              </a:ext>
            </a:extLst>
          </p:cNvPr>
          <p:cNvCxnSpPr>
            <a:stCxn id="9" idx="2"/>
            <a:endCxn id="6" idx="0"/>
          </p:cNvCxnSpPr>
          <p:nvPr/>
        </p:nvCxnSpPr>
        <p:spPr>
          <a:xfrm>
            <a:off x="5861813" y="2618364"/>
            <a:ext cx="1" cy="3428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" name="Google Shape;509;g1e86e1ed209_0_49">
            <a:extLst>
              <a:ext uri="{FF2B5EF4-FFF2-40B4-BE49-F238E27FC236}">
                <a16:creationId xmlns:a16="http://schemas.microsoft.com/office/drawing/2014/main" id="{3E809ED8-40C7-E9F7-0811-0B846C4DA746}"/>
              </a:ext>
            </a:extLst>
          </p:cNvPr>
          <p:cNvSpPr txBox="1"/>
          <p:nvPr/>
        </p:nvSpPr>
        <p:spPr>
          <a:xfrm>
            <a:off x="4736813" y="4185638"/>
            <a:ext cx="2250000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 rtl="0">
              <a:lnSpc>
                <a:spcPct val="150000"/>
              </a:lnSpc>
              <a:buClr>
                <a:srgbClr val="000000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0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sz="1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510;g1e86e1ed209_0_49">
            <a:extLst>
              <a:ext uri="{FF2B5EF4-FFF2-40B4-BE49-F238E27FC236}">
                <a16:creationId xmlns:a16="http://schemas.microsoft.com/office/drawing/2014/main" id="{FD9419C4-7FCD-C202-88A1-0ED4AC87B28F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flipH="1">
            <a:off x="5861813" y="3822713"/>
            <a:ext cx="1" cy="3629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511;g1e86e1ed209_0_49">
            <a:extLst>
              <a:ext uri="{FF2B5EF4-FFF2-40B4-BE49-F238E27FC236}">
                <a16:creationId xmlns:a16="http://schemas.microsoft.com/office/drawing/2014/main" id="{782E4FA8-522F-7127-37C3-C199B5B48F0E}"/>
              </a:ext>
            </a:extLst>
          </p:cNvPr>
          <p:cNvSpPr/>
          <p:nvPr/>
        </p:nvSpPr>
        <p:spPr>
          <a:xfrm>
            <a:off x="604820" y="2961188"/>
            <a:ext cx="1406475" cy="86152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 rtl="0">
              <a:buClr>
                <a:srgbClr val="000000"/>
              </a:buClr>
              <a:buSzPts val="2000"/>
            </a:pPr>
            <a:r>
              <a:rPr lang="es-CO" sz="1600" dirty="0" err="1"/>
              <a:t>Template</a:t>
            </a:r>
            <a:r>
              <a:rPr lang="es-CO" sz="1600" dirty="0"/>
              <a:t> </a:t>
            </a:r>
            <a:r>
              <a:rPr lang="es-CO" sz="1600" dirty="0" err="1"/>
              <a:t>Model</a:t>
            </a:r>
            <a:endParaRPr sz="15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512;g1e86e1ed209_0_49">
            <a:extLst>
              <a:ext uri="{FF2B5EF4-FFF2-40B4-BE49-F238E27FC236}">
                <a16:creationId xmlns:a16="http://schemas.microsoft.com/office/drawing/2014/main" id="{8E470062-D979-7F06-1959-6079D1B6CA93}"/>
              </a:ext>
            </a:extLst>
          </p:cNvPr>
          <p:cNvCxnSpPr>
            <a:stCxn id="13" idx="3"/>
            <a:endCxn id="5" idx="1"/>
          </p:cNvCxnSpPr>
          <p:nvPr/>
        </p:nvCxnSpPr>
        <p:spPr>
          <a:xfrm>
            <a:off x="2011295" y="3391950"/>
            <a:ext cx="6671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5" name="Google Shape;513;g1e86e1ed209_0_49">
            <a:extLst>
              <a:ext uri="{FF2B5EF4-FFF2-40B4-BE49-F238E27FC236}">
                <a16:creationId xmlns:a16="http://schemas.microsoft.com/office/drawing/2014/main" id="{A0E97AD9-29EE-2583-D266-4736FEED95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2576" y="3008766"/>
            <a:ext cx="1796594" cy="81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514;g1e86e1ed209_0_49">
            <a:extLst>
              <a:ext uri="{FF2B5EF4-FFF2-40B4-BE49-F238E27FC236}">
                <a16:creationId xmlns:a16="http://schemas.microsoft.com/office/drawing/2014/main" id="{E4841DC1-8D00-0112-A658-F74F28CE06AF}"/>
              </a:ext>
            </a:extLst>
          </p:cNvPr>
          <p:cNvCxnSpPr/>
          <p:nvPr/>
        </p:nvCxnSpPr>
        <p:spPr>
          <a:xfrm>
            <a:off x="6778782" y="2752997"/>
            <a:ext cx="1724175" cy="1061100"/>
          </a:xfrm>
          <a:prstGeom prst="straightConnector1">
            <a:avLst/>
          </a:prstGeom>
          <a:noFill/>
          <a:ln w="1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515;g1e86e1ed209_0_49">
            <a:extLst>
              <a:ext uri="{FF2B5EF4-FFF2-40B4-BE49-F238E27FC236}">
                <a16:creationId xmlns:a16="http://schemas.microsoft.com/office/drawing/2014/main" id="{A1083772-5945-1AD5-485F-70AF1583AAA6}"/>
              </a:ext>
            </a:extLst>
          </p:cNvPr>
          <p:cNvCxnSpPr/>
          <p:nvPr/>
        </p:nvCxnSpPr>
        <p:spPr>
          <a:xfrm flipH="1">
            <a:off x="6887851" y="2935079"/>
            <a:ext cx="1527975" cy="1078200"/>
          </a:xfrm>
          <a:prstGeom prst="straightConnector1">
            <a:avLst/>
          </a:prstGeom>
          <a:noFill/>
          <a:ln w="1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524;g1e86e1ed209_0_78">
            <a:extLst>
              <a:ext uri="{FF2B5EF4-FFF2-40B4-BE49-F238E27FC236}">
                <a16:creationId xmlns:a16="http://schemas.microsoft.com/office/drawing/2014/main" id="{FF8B74F1-8164-1D3C-2D2A-F75129AFA0F8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6096000" y="1951454"/>
            <a:ext cx="691969" cy="38671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" name="Google Shape;527;g1e86e1ed209_0_78">
            <a:extLst>
              <a:ext uri="{FF2B5EF4-FFF2-40B4-BE49-F238E27FC236}">
                <a16:creationId xmlns:a16="http://schemas.microsoft.com/office/drawing/2014/main" id="{2772130E-282B-F06E-5411-3D1329477912}"/>
              </a:ext>
            </a:extLst>
          </p:cNvPr>
          <p:cNvSpPr txBox="1"/>
          <p:nvPr/>
        </p:nvSpPr>
        <p:spPr>
          <a:xfrm>
            <a:off x="316217" y="2204306"/>
            <a:ext cx="2505150" cy="36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buClr>
                <a:srgbClr val="000000"/>
              </a:buClr>
              <a:buSzPts val="1600"/>
            </a:pPr>
            <a:r>
              <a:rPr lang="es-CO" sz="1200" b="1" dirty="0" err="1"/>
              <a:t>Available</a:t>
            </a:r>
            <a:r>
              <a:rPr lang="es-CO" sz="1200" b="1" dirty="0"/>
              <a:t> data → (X, y) </a:t>
            </a:r>
            <a:r>
              <a:rPr lang="es-CO" sz="1200" b="1" dirty="0" err="1"/>
              <a:t>pairs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28;g1e86e1ed209_0_78">
            <a:extLst>
              <a:ext uri="{FF2B5EF4-FFF2-40B4-BE49-F238E27FC236}">
                <a16:creationId xmlns:a16="http://schemas.microsoft.com/office/drawing/2014/main" id="{E347097F-A165-CEF8-05CB-DE87EEFA8F8E}"/>
              </a:ext>
            </a:extLst>
          </p:cNvPr>
          <p:cNvSpPr txBox="1"/>
          <p:nvPr/>
        </p:nvSpPr>
        <p:spPr>
          <a:xfrm>
            <a:off x="2104144" y="1418094"/>
            <a:ext cx="20952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buClr>
                <a:srgbClr val="000000"/>
              </a:buClr>
              <a:buSzPts val="1300"/>
            </a:pPr>
            <a:r>
              <a:rPr lang="es-CO" sz="1000" dirty="0"/>
              <a:t>TRAINING DATA</a:t>
            </a:r>
            <a:endParaRPr sz="97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29;g1e86e1ed209_0_78">
            <a:extLst>
              <a:ext uri="{FF2B5EF4-FFF2-40B4-BE49-F238E27FC236}">
                <a16:creationId xmlns:a16="http://schemas.microsoft.com/office/drawing/2014/main" id="{FF58F7E0-3B83-B9B3-D062-8706AD3EAC16}"/>
              </a:ext>
            </a:extLst>
          </p:cNvPr>
          <p:cNvSpPr txBox="1"/>
          <p:nvPr/>
        </p:nvSpPr>
        <p:spPr>
          <a:xfrm>
            <a:off x="5813156" y="1255556"/>
            <a:ext cx="1949625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buClr>
                <a:srgbClr val="000000"/>
              </a:buClr>
              <a:buSzPts val="1300"/>
            </a:pPr>
            <a:r>
              <a:rPr lang="es-CO" sz="1000" dirty="0"/>
              <a:t>VALIDATION DATA</a:t>
            </a:r>
            <a:endParaRPr sz="97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544;g1e86e1ed209_0_78">
            <a:extLst>
              <a:ext uri="{FF2B5EF4-FFF2-40B4-BE49-F238E27FC236}">
                <a16:creationId xmlns:a16="http://schemas.microsoft.com/office/drawing/2014/main" id="{7BB63DEB-8564-6B87-BA24-FA53B0999FAD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6062643" y="1951454"/>
            <a:ext cx="725326" cy="227220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546;g1e86e1ed209_0_78">
            <a:extLst>
              <a:ext uri="{FF2B5EF4-FFF2-40B4-BE49-F238E27FC236}">
                <a16:creationId xmlns:a16="http://schemas.microsoft.com/office/drawing/2014/main" id="{6D1F48B8-620C-99AB-AF46-F075860FE552}"/>
              </a:ext>
            </a:extLst>
          </p:cNvPr>
          <p:cNvCxnSpPr/>
          <p:nvPr/>
        </p:nvCxnSpPr>
        <p:spPr>
          <a:xfrm>
            <a:off x="4601525" y="1416053"/>
            <a:ext cx="0" cy="72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5" name="Google Shape;525;g1e86e1ed209_0_78">
            <a:extLst>
              <a:ext uri="{FF2B5EF4-FFF2-40B4-BE49-F238E27FC236}">
                <a16:creationId xmlns:a16="http://schemas.microsoft.com/office/drawing/2014/main" id="{EAF85EE4-665B-7797-AFF8-4E79BC36AF18}"/>
              </a:ext>
            </a:extLst>
          </p:cNvPr>
          <p:cNvSpPr txBox="1"/>
          <p:nvPr/>
        </p:nvSpPr>
        <p:spPr>
          <a:xfrm>
            <a:off x="4601531" y="1593254"/>
            <a:ext cx="4372875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US" sz="900" b="1" dirty="0"/>
              <a:t>X, y</a:t>
            </a:r>
            <a:r>
              <a:rPr lang="en-US" sz="900" dirty="0"/>
              <a:t> not seen during training → measure generalization capacity</a:t>
            </a:r>
            <a:endParaRPr sz="675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523;g1e86e1ed209_0_78">
            <a:extLst>
              <a:ext uri="{FF2B5EF4-FFF2-40B4-BE49-F238E27FC236}">
                <a16:creationId xmlns:a16="http://schemas.microsoft.com/office/drawing/2014/main" id="{2D8800F7-E2B9-293C-BFA4-3E16728C54FF}"/>
              </a:ext>
            </a:extLst>
          </p:cNvPr>
          <p:cNvSpPr txBox="1"/>
          <p:nvPr/>
        </p:nvSpPr>
        <p:spPr>
          <a:xfrm>
            <a:off x="1399045" y="1601003"/>
            <a:ext cx="28638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 rtl="0">
              <a:buClr>
                <a:srgbClr val="000000"/>
              </a:buClr>
              <a:buSzPts val="1300"/>
            </a:pPr>
            <a:r>
              <a:rPr lang="es-CO" sz="1000" dirty="0" err="1"/>
              <a:t>Separated</a:t>
            </a:r>
            <a:r>
              <a:rPr lang="es-CO" sz="1000" dirty="0"/>
              <a:t> data </a:t>
            </a:r>
            <a:r>
              <a:rPr lang="es-CO" sz="1000" dirty="0" err="1"/>
              <a:t>for</a:t>
            </a:r>
            <a:r>
              <a:rPr lang="es-CO" sz="1000" dirty="0"/>
              <a:t> </a:t>
            </a:r>
            <a:r>
              <a:rPr lang="es-CO" sz="1000" dirty="0" err="1"/>
              <a:t>model</a:t>
            </a:r>
            <a:r>
              <a:rPr lang="es-CO" sz="1000" dirty="0"/>
              <a:t> </a:t>
            </a:r>
            <a:r>
              <a:rPr lang="es-CO" sz="1000" dirty="0" err="1"/>
              <a:t>calibration</a:t>
            </a:r>
            <a:endParaRPr sz="975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1515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692128A-E128-CAFE-29C6-6DB7977E1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736250"/>
              </p:ext>
            </p:extLst>
          </p:nvPr>
        </p:nvGraphicFramePr>
        <p:xfrm>
          <a:off x="213360" y="1657350"/>
          <a:ext cx="8426448" cy="2560320"/>
        </p:xfrm>
        <a:graphic>
          <a:graphicData uri="http://schemas.openxmlformats.org/drawingml/2006/table">
            <a:tbl>
              <a:tblPr/>
              <a:tblGrid>
                <a:gridCol w="2106612">
                  <a:extLst>
                    <a:ext uri="{9D8B030D-6E8A-4147-A177-3AD203B41FA5}">
                      <a16:colId xmlns:a16="http://schemas.microsoft.com/office/drawing/2014/main" val="491741131"/>
                    </a:ext>
                  </a:extLst>
                </a:gridCol>
                <a:gridCol w="2106612">
                  <a:extLst>
                    <a:ext uri="{9D8B030D-6E8A-4147-A177-3AD203B41FA5}">
                      <a16:colId xmlns:a16="http://schemas.microsoft.com/office/drawing/2014/main" val="2054734560"/>
                    </a:ext>
                  </a:extLst>
                </a:gridCol>
                <a:gridCol w="2106612">
                  <a:extLst>
                    <a:ext uri="{9D8B030D-6E8A-4147-A177-3AD203B41FA5}">
                      <a16:colId xmlns:a16="http://schemas.microsoft.com/office/drawing/2014/main" val="910204629"/>
                    </a:ext>
                  </a:extLst>
                </a:gridCol>
                <a:gridCol w="2106612">
                  <a:extLst>
                    <a:ext uri="{9D8B030D-6E8A-4147-A177-3AD203B41FA5}">
                      <a16:colId xmlns:a16="http://schemas.microsoft.com/office/drawing/2014/main" val="271278309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Type of Error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Training Performance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Validation Performance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Main Cause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3978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Underfitting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❌ 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❌ 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too simple or insufficiently trained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91605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Overfitting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✅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❌ 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too complex or over-trained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8893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Good Fit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✅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✅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 err="1"/>
                        <a:t>Well-calibrated</a:t>
                      </a:r>
                      <a:r>
                        <a:rPr lang="es-CO" sz="1800" dirty="0"/>
                        <a:t> and </a:t>
                      </a:r>
                      <a:r>
                        <a:rPr lang="es-CO" sz="1800" dirty="0" err="1"/>
                        <a:t>balanced</a:t>
                      </a:r>
                      <a:r>
                        <a:rPr lang="es-CO" sz="1800" dirty="0"/>
                        <a:t> </a:t>
                      </a:r>
                      <a:r>
                        <a:rPr lang="es-CO" sz="1800" dirty="0" err="1"/>
                        <a:t>model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509793"/>
                  </a:ext>
                </a:extLst>
              </a:tr>
            </a:tbl>
          </a:graphicData>
        </a:graphic>
      </p:graphicFrame>
      <p:sp>
        <p:nvSpPr>
          <p:cNvPr id="4" name="Google Shape;469;g1e86e1ed209_0_10">
            <a:extLst>
              <a:ext uri="{FF2B5EF4-FFF2-40B4-BE49-F238E27FC236}">
                <a16:creationId xmlns:a16="http://schemas.microsoft.com/office/drawing/2014/main" id="{4EAE3762-4F19-ECC6-85E5-4B62EE68A25C}"/>
              </a:ext>
            </a:extLst>
          </p:cNvPr>
          <p:cNvSpPr txBox="1">
            <a:spLocks/>
          </p:cNvSpPr>
          <p:nvPr/>
        </p:nvSpPr>
        <p:spPr>
          <a:xfrm>
            <a:off x="248920" y="1025750"/>
            <a:ext cx="8332425" cy="25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b" anchorCtr="0">
            <a:noAutofit/>
          </a:bodyPr>
          <a:lstStyle>
            <a:lvl1pPr>
              <a:defRPr sz="3000" b="0" i="0">
                <a:solidFill>
                  <a:srgbClr val="17365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b="1" dirty="0"/>
              <a:t>From Observations to Predictions through Models</a:t>
            </a:r>
            <a:br>
              <a:rPr lang="en-US" sz="2800" b="1" dirty="0"/>
            </a:br>
            <a:r>
              <a:rPr lang="en-US" sz="2800" b="1" dirty="0"/>
              <a:t>Introduction to Machine Learning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9647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7;g1e86e1ed209_0_155">
            <a:extLst>
              <a:ext uri="{FF2B5EF4-FFF2-40B4-BE49-F238E27FC236}">
                <a16:creationId xmlns:a16="http://schemas.microsoft.com/office/drawing/2014/main" id="{D66B49DF-AF35-32FB-A97F-DBEA79FBB514}"/>
              </a:ext>
            </a:extLst>
          </p:cNvPr>
          <p:cNvSpPr/>
          <p:nvPr/>
        </p:nvSpPr>
        <p:spPr>
          <a:xfrm>
            <a:off x="4451783" y="2771010"/>
            <a:ext cx="1049" cy="8136"/>
          </a:xfrm>
          <a:custGeom>
            <a:avLst/>
            <a:gdLst/>
            <a:ahLst/>
            <a:cxnLst/>
            <a:rect l="l" t="t" r="r" b="b"/>
            <a:pathLst>
              <a:path w="37" h="287" extrusionOk="0">
                <a:moveTo>
                  <a:pt x="36" y="0"/>
                </a:moveTo>
                <a:cubicBezTo>
                  <a:pt x="24" y="84"/>
                  <a:pt x="24" y="155"/>
                  <a:pt x="1" y="274"/>
                </a:cubicBezTo>
                <a:cubicBezTo>
                  <a:pt x="12" y="274"/>
                  <a:pt x="12" y="274"/>
                  <a:pt x="12" y="286"/>
                </a:cubicBezTo>
                <a:cubicBezTo>
                  <a:pt x="24" y="191"/>
                  <a:pt x="36" y="96"/>
                  <a:pt x="36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88;g1e86e1ed209_0_155">
            <a:extLst>
              <a:ext uri="{FF2B5EF4-FFF2-40B4-BE49-F238E27FC236}">
                <a16:creationId xmlns:a16="http://schemas.microsoft.com/office/drawing/2014/main" id="{A38B38C2-09EA-9859-EF18-2C12D02531BD}"/>
              </a:ext>
            </a:extLst>
          </p:cNvPr>
          <p:cNvSpPr/>
          <p:nvPr/>
        </p:nvSpPr>
        <p:spPr>
          <a:xfrm>
            <a:off x="4452125" y="2778779"/>
            <a:ext cx="28" cy="2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oogle Shape;589;g1e86e1ed209_0_155">
            <a:extLst>
              <a:ext uri="{FF2B5EF4-FFF2-40B4-BE49-F238E27FC236}">
                <a16:creationId xmlns:a16="http://schemas.microsoft.com/office/drawing/2014/main" id="{3B53EC13-30C0-50B3-8A15-7CA5000783C2}"/>
              </a:ext>
            </a:extLst>
          </p:cNvPr>
          <p:cNvGrpSpPr/>
          <p:nvPr/>
        </p:nvGrpSpPr>
        <p:grpSpPr>
          <a:xfrm>
            <a:off x="4888608" y="3621503"/>
            <a:ext cx="1142121" cy="1051866"/>
            <a:chOff x="4555771" y="3554221"/>
            <a:chExt cx="1142121" cy="1051866"/>
          </a:xfrm>
        </p:grpSpPr>
        <p:sp>
          <p:nvSpPr>
            <p:cNvPr id="6" name="Google Shape;590;g1e86e1ed209_0_155">
              <a:extLst>
                <a:ext uri="{FF2B5EF4-FFF2-40B4-BE49-F238E27FC236}">
                  <a16:creationId xmlns:a16="http://schemas.microsoft.com/office/drawing/2014/main" id="{2050CB2F-49D8-D355-4290-C71609984EE8}"/>
                </a:ext>
              </a:extLst>
            </p:cNvPr>
            <p:cNvSpPr/>
            <p:nvPr/>
          </p:nvSpPr>
          <p:spPr>
            <a:xfrm>
              <a:off x="4555771" y="3554221"/>
              <a:ext cx="1142121" cy="1051866"/>
            </a:xfrm>
            <a:custGeom>
              <a:avLst/>
              <a:gdLst/>
              <a:ahLst/>
              <a:cxnLst/>
              <a:rect l="l" t="t" r="r" b="b"/>
              <a:pathLst>
                <a:path w="37672" h="34695" extrusionOk="0">
                  <a:moveTo>
                    <a:pt x="10621" y="0"/>
                  </a:moveTo>
                  <a:cubicBezTo>
                    <a:pt x="10621" y="0"/>
                    <a:pt x="10621" y="12"/>
                    <a:pt x="10621" y="12"/>
                  </a:cubicBezTo>
                  <a:cubicBezTo>
                    <a:pt x="10704" y="60"/>
                    <a:pt x="10740" y="83"/>
                    <a:pt x="10823" y="131"/>
                  </a:cubicBezTo>
                  <a:cubicBezTo>
                    <a:pt x="10716" y="5167"/>
                    <a:pt x="11193" y="10156"/>
                    <a:pt x="11871" y="15145"/>
                  </a:cubicBezTo>
                  <a:cubicBezTo>
                    <a:pt x="8275" y="18121"/>
                    <a:pt x="4227" y="20574"/>
                    <a:pt x="1" y="22538"/>
                  </a:cubicBezTo>
                  <a:cubicBezTo>
                    <a:pt x="8573" y="28896"/>
                    <a:pt x="17646" y="32718"/>
                    <a:pt x="28123" y="34695"/>
                  </a:cubicBezTo>
                  <a:cubicBezTo>
                    <a:pt x="31826" y="30051"/>
                    <a:pt x="34934" y="25265"/>
                    <a:pt x="37672" y="19991"/>
                  </a:cubicBezTo>
                  <a:cubicBezTo>
                    <a:pt x="34755" y="15228"/>
                    <a:pt x="32159" y="10370"/>
                    <a:pt x="30207" y="5132"/>
                  </a:cubicBezTo>
                  <a:cubicBezTo>
                    <a:pt x="22956" y="4941"/>
                    <a:pt x="17015" y="3417"/>
                    <a:pt x="10621" y="0"/>
                  </a:cubicBezTo>
                  <a:close/>
                </a:path>
              </a:pathLst>
            </a:custGeom>
            <a:solidFill>
              <a:srgbClr val="FCBD24"/>
            </a:solidFill>
            <a:ln w="9525" cap="flat" cmpd="sng">
              <a:solidFill>
                <a:srgbClr val="FCBD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591;g1e86e1ed209_0_155">
              <a:extLst>
                <a:ext uri="{FF2B5EF4-FFF2-40B4-BE49-F238E27FC236}">
                  <a16:creationId xmlns:a16="http://schemas.microsoft.com/office/drawing/2014/main" id="{B12C489B-76A6-8D73-E8D1-C936CA491139}"/>
                </a:ext>
              </a:extLst>
            </p:cNvPr>
            <p:cNvSpPr txBox="1"/>
            <p:nvPr/>
          </p:nvSpPr>
          <p:spPr>
            <a:xfrm>
              <a:off x="4880525" y="3884725"/>
              <a:ext cx="6789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rial"/>
                <a:buNone/>
              </a:pPr>
              <a:r>
                <a:rPr lang="en-US" sz="3500" b="0" i="0" u="none" strike="noStrike" cap="non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35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" name="Google Shape;592;g1e86e1ed209_0_155">
            <a:extLst>
              <a:ext uri="{FF2B5EF4-FFF2-40B4-BE49-F238E27FC236}">
                <a16:creationId xmlns:a16="http://schemas.microsoft.com/office/drawing/2014/main" id="{1ADCCFEB-9CD7-A0F7-AE42-BBE816C331DF}"/>
              </a:ext>
            </a:extLst>
          </p:cNvPr>
          <p:cNvGrpSpPr/>
          <p:nvPr/>
        </p:nvGrpSpPr>
        <p:grpSpPr>
          <a:xfrm>
            <a:off x="4362333" y="3225862"/>
            <a:ext cx="886211" cy="1078970"/>
            <a:chOff x="4029495" y="3158580"/>
            <a:chExt cx="886211" cy="1078970"/>
          </a:xfrm>
        </p:grpSpPr>
        <p:sp>
          <p:nvSpPr>
            <p:cNvPr id="9" name="Google Shape;593;g1e86e1ed209_0_155">
              <a:extLst>
                <a:ext uri="{FF2B5EF4-FFF2-40B4-BE49-F238E27FC236}">
                  <a16:creationId xmlns:a16="http://schemas.microsoft.com/office/drawing/2014/main" id="{F8B2AFFF-AAB9-9EA5-80D0-D2D1541ED336}"/>
                </a:ext>
              </a:extLst>
            </p:cNvPr>
            <p:cNvSpPr/>
            <p:nvPr/>
          </p:nvSpPr>
          <p:spPr>
            <a:xfrm>
              <a:off x="4029495" y="3158580"/>
              <a:ext cx="886211" cy="1078970"/>
            </a:xfrm>
            <a:custGeom>
              <a:avLst/>
              <a:gdLst/>
              <a:ahLst/>
              <a:cxnLst/>
              <a:rect l="l" t="t" r="r" b="b"/>
              <a:pathLst>
                <a:path w="29231" h="35589" extrusionOk="0">
                  <a:moveTo>
                    <a:pt x="14550" y="1"/>
                  </a:moveTo>
                  <a:cubicBezTo>
                    <a:pt x="13097" y="4251"/>
                    <a:pt x="12026" y="8645"/>
                    <a:pt x="11192" y="13050"/>
                  </a:cubicBezTo>
                  <a:cubicBezTo>
                    <a:pt x="8585" y="13600"/>
                    <a:pt x="5917" y="13880"/>
                    <a:pt x="3250" y="13880"/>
                  </a:cubicBezTo>
                  <a:cubicBezTo>
                    <a:pt x="2165" y="13880"/>
                    <a:pt x="1081" y="13833"/>
                    <a:pt x="0" y="13741"/>
                  </a:cubicBezTo>
                  <a:lnTo>
                    <a:pt x="0" y="13741"/>
                  </a:lnTo>
                  <a:cubicBezTo>
                    <a:pt x="4370" y="22325"/>
                    <a:pt x="9954" y="29397"/>
                    <a:pt x="17360" y="35588"/>
                  </a:cubicBezTo>
                  <a:cubicBezTo>
                    <a:pt x="21586" y="33624"/>
                    <a:pt x="25634" y="31171"/>
                    <a:pt x="29230" y="28195"/>
                  </a:cubicBezTo>
                  <a:cubicBezTo>
                    <a:pt x="28552" y="23206"/>
                    <a:pt x="28075" y="18217"/>
                    <a:pt x="28194" y="13181"/>
                  </a:cubicBezTo>
                  <a:cubicBezTo>
                    <a:pt x="22586" y="9573"/>
                    <a:pt x="18395" y="5466"/>
                    <a:pt x="14550" y="1"/>
                  </a:cubicBezTo>
                  <a:close/>
                </a:path>
              </a:pathLst>
            </a:custGeom>
            <a:solidFill>
              <a:srgbClr val="5EB2FC"/>
            </a:solidFill>
            <a:ln w="9525" cap="flat" cmpd="sng">
              <a:solidFill>
                <a:srgbClr val="5EB2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594;g1e86e1ed209_0_155">
              <a:extLst>
                <a:ext uri="{FF2B5EF4-FFF2-40B4-BE49-F238E27FC236}">
                  <a16:creationId xmlns:a16="http://schemas.microsoft.com/office/drawing/2014/main" id="{5BC0858A-33B3-F1F4-BB2A-A250BC3A4781}"/>
                </a:ext>
              </a:extLst>
            </p:cNvPr>
            <p:cNvSpPr txBox="1"/>
            <p:nvPr/>
          </p:nvSpPr>
          <p:spPr>
            <a:xfrm>
              <a:off x="4201625" y="3505725"/>
              <a:ext cx="6789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05</a:t>
              </a:r>
              <a:endParaRPr sz="30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" name="Google Shape;595;g1e86e1ed209_0_155">
            <a:extLst>
              <a:ext uri="{FF2B5EF4-FFF2-40B4-BE49-F238E27FC236}">
                <a16:creationId xmlns:a16="http://schemas.microsoft.com/office/drawing/2014/main" id="{4A22174A-16CC-E0A8-0036-BE1CBDE57EB1}"/>
              </a:ext>
            </a:extLst>
          </p:cNvPr>
          <p:cNvGrpSpPr/>
          <p:nvPr/>
        </p:nvGrpSpPr>
        <p:grpSpPr>
          <a:xfrm>
            <a:off x="4144538" y="2538599"/>
            <a:ext cx="678900" cy="1108074"/>
            <a:chOff x="3811700" y="2471317"/>
            <a:chExt cx="678900" cy="1108074"/>
          </a:xfrm>
        </p:grpSpPr>
        <p:sp>
          <p:nvSpPr>
            <p:cNvPr id="12" name="Google Shape;596;g1e86e1ed209_0_155">
              <a:extLst>
                <a:ext uri="{FF2B5EF4-FFF2-40B4-BE49-F238E27FC236}">
                  <a16:creationId xmlns:a16="http://schemas.microsoft.com/office/drawing/2014/main" id="{095A020B-F492-E478-BB87-8271484A531B}"/>
                </a:ext>
              </a:extLst>
            </p:cNvPr>
            <p:cNvSpPr/>
            <p:nvPr/>
          </p:nvSpPr>
          <p:spPr>
            <a:xfrm>
              <a:off x="3831675" y="2471317"/>
              <a:ext cx="638941" cy="1108074"/>
            </a:xfrm>
            <a:custGeom>
              <a:avLst/>
              <a:gdLst/>
              <a:ahLst/>
              <a:cxnLst/>
              <a:rect l="l" t="t" r="r" b="b"/>
              <a:pathLst>
                <a:path w="21075" h="36549" extrusionOk="0">
                  <a:moveTo>
                    <a:pt x="14252" y="0"/>
                  </a:moveTo>
                  <a:cubicBezTo>
                    <a:pt x="11883" y="2917"/>
                    <a:pt x="9776" y="5989"/>
                    <a:pt x="7716" y="9132"/>
                  </a:cubicBezTo>
                  <a:cubicBezTo>
                    <a:pt x="5287" y="7811"/>
                    <a:pt x="2787" y="5739"/>
                    <a:pt x="1048" y="3572"/>
                  </a:cubicBezTo>
                  <a:lnTo>
                    <a:pt x="1048" y="3572"/>
                  </a:lnTo>
                  <a:cubicBezTo>
                    <a:pt x="1" y="15145"/>
                    <a:pt x="1846" y="25742"/>
                    <a:pt x="6525" y="36410"/>
                  </a:cubicBezTo>
                  <a:cubicBezTo>
                    <a:pt x="7606" y="36502"/>
                    <a:pt x="8690" y="36549"/>
                    <a:pt x="9775" y="36549"/>
                  </a:cubicBezTo>
                  <a:cubicBezTo>
                    <a:pt x="12442" y="36549"/>
                    <a:pt x="15110" y="36269"/>
                    <a:pt x="17717" y="35719"/>
                  </a:cubicBezTo>
                  <a:cubicBezTo>
                    <a:pt x="18527" y="31397"/>
                    <a:pt x="19575" y="27099"/>
                    <a:pt x="20991" y="22920"/>
                  </a:cubicBezTo>
                  <a:cubicBezTo>
                    <a:pt x="21027" y="22836"/>
                    <a:pt x="21051" y="22753"/>
                    <a:pt x="21075" y="22670"/>
                  </a:cubicBezTo>
                  <a:cubicBezTo>
                    <a:pt x="16848" y="15478"/>
                    <a:pt x="14705" y="8335"/>
                    <a:pt x="14252" y="0"/>
                  </a:cubicBezTo>
                  <a:close/>
                </a:path>
              </a:pathLst>
            </a:custGeom>
            <a:solidFill>
              <a:srgbClr val="69E781"/>
            </a:solidFill>
            <a:ln w="9525" cap="flat" cmpd="sng">
              <a:solidFill>
                <a:srgbClr val="69E7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597;g1e86e1ed209_0_155">
              <a:extLst>
                <a:ext uri="{FF2B5EF4-FFF2-40B4-BE49-F238E27FC236}">
                  <a16:creationId xmlns:a16="http://schemas.microsoft.com/office/drawing/2014/main" id="{D3E1FC18-A978-772A-FB1A-83E1C5BE33C5}"/>
                </a:ext>
              </a:extLst>
            </p:cNvPr>
            <p:cNvSpPr txBox="1"/>
            <p:nvPr/>
          </p:nvSpPr>
          <p:spPr>
            <a:xfrm>
              <a:off x="3811700" y="2823588"/>
              <a:ext cx="6789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06</a:t>
              </a:r>
              <a:endParaRPr sz="25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" name="Google Shape;598;g1e86e1ed209_0_155">
            <a:extLst>
              <a:ext uri="{FF2B5EF4-FFF2-40B4-BE49-F238E27FC236}">
                <a16:creationId xmlns:a16="http://schemas.microsoft.com/office/drawing/2014/main" id="{4F0E4AF7-775D-F847-7122-233CC8358028}"/>
              </a:ext>
            </a:extLst>
          </p:cNvPr>
          <p:cNvGrpSpPr/>
          <p:nvPr/>
        </p:nvGrpSpPr>
        <p:grpSpPr>
          <a:xfrm>
            <a:off x="4104338" y="1510207"/>
            <a:ext cx="852886" cy="1305290"/>
            <a:chOff x="3771500" y="1442925"/>
            <a:chExt cx="852886" cy="1305290"/>
          </a:xfrm>
        </p:grpSpPr>
        <p:sp>
          <p:nvSpPr>
            <p:cNvPr id="15" name="Google Shape;599;g1e86e1ed209_0_155">
              <a:extLst>
                <a:ext uri="{FF2B5EF4-FFF2-40B4-BE49-F238E27FC236}">
                  <a16:creationId xmlns:a16="http://schemas.microsoft.com/office/drawing/2014/main" id="{72043BB4-8910-A5CC-139F-05D34BC9D00F}"/>
                </a:ext>
              </a:extLst>
            </p:cNvPr>
            <p:cNvSpPr/>
            <p:nvPr/>
          </p:nvSpPr>
          <p:spPr>
            <a:xfrm>
              <a:off x="3863447" y="1442925"/>
              <a:ext cx="760939" cy="1305290"/>
            </a:xfrm>
            <a:custGeom>
              <a:avLst/>
              <a:gdLst/>
              <a:ahLst/>
              <a:cxnLst/>
              <a:rect l="l" t="t" r="r" b="b"/>
              <a:pathLst>
                <a:path w="25099" h="43054" extrusionOk="0">
                  <a:moveTo>
                    <a:pt x="21801" y="1"/>
                  </a:moveTo>
                  <a:cubicBezTo>
                    <a:pt x="9645" y="9871"/>
                    <a:pt x="2370" y="21991"/>
                    <a:pt x="0" y="37481"/>
                  </a:cubicBezTo>
                  <a:cubicBezTo>
                    <a:pt x="1727" y="39648"/>
                    <a:pt x="4227" y="41732"/>
                    <a:pt x="6668" y="43053"/>
                  </a:cubicBezTo>
                  <a:cubicBezTo>
                    <a:pt x="8728" y="39910"/>
                    <a:pt x="10835" y="36838"/>
                    <a:pt x="13204" y="33921"/>
                  </a:cubicBezTo>
                  <a:cubicBezTo>
                    <a:pt x="13490" y="22134"/>
                    <a:pt x="17550" y="12562"/>
                    <a:pt x="25099" y="3572"/>
                  </a:cubicBezTo>
                  <a:cubicBezTo>
                    <a:pt x="23777" y="2144"/>
                    <a:pt x="23122" y="1429"/>
                    <a:pt x="21801" y="1"/>
                  </a:cubicBezTo>
                  <a:close/>
                </a:path>
              </a:pathLst>
            </a:custGeom>
            <a:solidFill>
              <a:srgbClr val="4949E7"/>
            </a:solidFill>
            <a:ln w="9525" cap="flat" cmpd="sng">
              <a:solidFill>
                <a:srgbClr val="4949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600;g1e86e1ed209_0_155">
              <a:extLst>
                <a:ext uri="{FF2B5EF4-FFF2-40B4-BE49-F238E27FC236}">
                  <a16:creationId xmlns:a16="http://schemas.microsoft.com/office/drawing/2014/main" id="{7A0EBDF3-2F0B-3CE5-A426-B684D04ED71E}"/>
                </a:ext>
              </a:extLst>
            </p:cNvPr>
            <p:cNvSpPr txBox="1"/>
            <p:nvPr/>
          </p:nvSpPr>
          <p:spPr>
            <a:xfrm>
              <a:off x="3771500" y="2010225"/>
              <a:ext cx="6789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07</a:t>
              </a:r>
              <a:endParaRPr sz="20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7" name="Google Shape;601;g1e86e1ed209_0_155">
            <a:extLst>
              <a:ext uri="{FF2B5EF4-FFF2-40B4-BE49-F238E27FC236}">
                <a16:creationId xmlns:a16="http://schemas.microsoft.com/office/drawing/2014/main" id="{133B2ACE-07A6-943B-EC9D-7B11627556A0}"/>
              </a:ext>
            </a:extLst>
          </p:cNvPr>
          <p:cNvSpPr/>
          <p:nvPr/>
        </p:nvSpPr>
        <p:spPr>
          <a:xfrm>
            <a:off x="228601" y="1619930"/>
            <a:ext cx="3168900" cy="271200"/>
          </a:xfrm>
          <a:prstGeom prst="roundRect">
            <a:avLst>
              <a:gd name="adj" fmla="val 50000"/>
            </a:avLst>
          </a:prstGeom>
          <a:solidFill>
            <a:srgbClr val="4949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dirty="0" err="1"/>
              <a:t>Model</a:t>
            </a:r>
            <a:r>
              <a:rPr lang="es-CO" sz="1600" b="1" dirty="0"/>
              <a:t> </a:t>
            </a:r>
            <a:r>
              <a:rPr lang="es-CO" sz="1600" b="1" dirty="0" err="1"/>
              <a:t>Deployment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02;g1e86e1ed209_0_155">
            <a:extLst>
              <a:ext uri="{FF2B5EF4-FFF2-40B4-BE49-F238E27FC236}">
                <a16:creationId xmlns:a16="http://schemas.microsoft.com/office/drawing/2014/main" id="{E08D4309-2052-1D68-771B-2E7CA042AB1A}"/>
              </a:ext>
            </a:extLst>
          </p:cNvPr>
          <p:cNvSpPr/>
          <p:nvPr/>
        </p:nvSpPr>
        <p:spPr>
          <a:xfrm>
            <a:off x="228600" y="2049805"/>
            <a:ext cx="3168900" cy="271200"/>
          </a:xfrm>
          <a:prstGeom prst="roundRect">
            <a:avLst>
              <a:gd name="adj" fmla="val 50000"/>
            </a:avLst>
          </a:pr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600" b="1" dirty="0" err="1"/>
              <a:t>Model</a:t>
            </a:r>
            <a:r>
              <a:rPr lang="es-CO" sz="1600" b="1" dirty="0"/>
              <a:t> </a:t>
            </a:r>
            <a:r>
              <a:rPr lang="es-CO" sz="1600" b="1" dirty="0" err="1"/>
              <a:t>Refinement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03;g1e86e1ed209_0_155">
            <a:extLst>
              <a:ext uri="{FF2B5EF4-FFF2-40B4-BE49-F238E27FC236}">
                <a16:creationId xmlns:a16="http://schemas.microsoft.com/office/drawing/2014/main" id="{1E509E9B-BBD9-7CBB-8D20-78DCE62BC8F5}"/>
              </a:ext>
            </a:extLst>
          </p:cNvPr>
          <p:cNvSpPr/>
          <p:nvPr/>
        </p:nvSpPr>
        <p:spPr>
          <a:xfrm>
            <a:off x="228600" y="2479680"/>
            <a:ext cx="3168900" cy="271200"/>
          </a:xfrm>
          <a:prstGeom prst="roundRect">
            <a:avLst>
              <a:gd name="adj" fmla="val 50000"/>
            </a:avLst>
          </a:pr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600" b="1" dirty="0" err="1"/>
              <a:t>Model</a:t>
            </a:r>
            <a:r>
              <a:rPr lang="es-CO" sz="1600" b="1" dirty="0"/>
              <a:t> </a:t>
            </a:r>
            <a:r>
              <a:rPr lang="es-CO" sz="1600" b="1" dirty="0" err="1"/>
              <a:t>Evaluation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04;g1e86e1ed209_0_155">
            <a:extLst>
              <a:ext uri="{FF2B5EF4-FFF2-40B4-BE49-F238E27FC236}">
                <a16:creationId xmlns:a16="http://schemas.microsoft.com/office/drawing/2014/main" id="{CF84A214-0BC3-465D-99AF-DFD8738FBD07}"/>
              </a:ext>
            </a:extLst>
          </p:cNvPr>
          <p:cNvSpPr/>
          <p:nvPr/>
        </p:nvSpPr>
        <p:spPr>
          <a:xfrm>
            <a:off x="228600" y="2909555"/>
            <a:ext cx="3168900" cy="271200"/>
          </a:xfrm>
          <a:prstGeom prst="roundRect">
            <a:avLst>
              <a:gd name="adj" fmla="val 50000"/>
            </a:avLst>
          </a:prstGeom>
          <a:solidFill>
            <a:srgbClr val="FCBD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600" b="1" dirty="0" err="1"/>
              <a:t>Model</a:t>
            </a:r>
            <a:r>
              <a:rPr lang="es-CO" sz="1600" b="1" dirty="0"/>
              <a:t> Training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605;g1e86e1ed209_0_155">
            <a:extLst>
              <a:ext uri="{FF2B5EF4-FFF2-40B4-BE49-F238E27FC236}">
                <a16:creationId xmlns:a16="http://schemas.microsoft.com/office/drawing/2014/main" id="{31B51472-3488-EB23-BA9F-F21BA35562A2}"/>
              </a:ext>
            </a:extLst>
          </p:cNvPr>
          <p:cNvGrpSpPr/>
          <p:nvPr/>
        </p:nvGrpSpPr>
        <p:grpSpPr>
          <a:xfrm>
            <a:off x="4420966" y="603947"/>
            <a:ext cx="1199679" cy="1352022"/>
            <a:chOff x="5066658" y="536650"/>
            <a:chExt cx="1461954" cy="1647602"/>
          </a:xfrm>
        </p:grpSpPr>
        <p:sp>
          <p:nvSpPr>
            <p:cNvPr id="22" name="Google Shape;606;g1e86e1ed209_0_155">
              <a:extLst>
                <a:ext uri="{FF2B5EF4-FFF2-40B4-BE49-F238E27FC236}">
                  <a16:creationId xmlns:a16="http://schemas.microsoft.com/office/drawing/2014/main" id="{14D155B1-0517-9C9F-47A0-5863996C29CA}"/>
                </a:ext>
              </a:extLst>
            </p:cNvPr>
            <p:cNvSpPr/>
            <p:nvPr/>
          </p:nvSpPr>
          <p:spPr>
            <a:xfrm>
              <a:off x="5302962" y="634546"/>
              <a:ext cx="1195605" cy="1389348"/>
            </a:xfrm>
            <a:custGeom>
              <a:avLst/>
              <a:gdLst/>
              <a:ahLst/>
              <a:cxnLst/>
              <a:rect l="l" t="t" r="r" b="b"/>
              <a:pathLst>
                <a:path w="42173" h="49007" extrusionOk="0">
                  <a:moveTo>
                    <a:pt x="27587" y="0"/>
                  </a:moveTo>
                  <a:lnTo>
                    <a:pt x="27587" y="0"/>
                  </a:lnTo>
                  <a:cubicBezTo>
                    <a:pt x="23646" y="1774"/>
                    <a:pt x="19276" y="4477"/>
                    <a:pt x="15073" y="8573"/>
                  </a:cubicBezTo>
                  <a:cubicBezTo>
                    <a:pt x="14359" y="9251"/>
                    <a:pt x="13669" y="9978"/>
                    <a:pt x="12978" y="10752"/>
                  </a:cubicBezTo>
                  <a:cubicBezTo>
                    <a:pt x="10847" y="13109"/>
                    <a:pt x="9073" y="15490"/>
                    <a:pt x="7584" y="17824"/>
                  </a:cubicBezTo>
                  <a:cubicBezTo>
                    <a:pt x="5739" y="20717"/>
                    <a:pt x="4346" y="23539"/>
                    <a:pt x="3286" y="26158"/>
                  </a:cubicBezTo>
                  <a:cubicBezTo>
                    <a:pt x="24" y="34219"/>
                    <a:pt x="0" y="40291"/>
                    <a:pt x="0" y="40291"/>
                  </a:cubicBezTo>
                  <a:lnTo>
                    <a:pt x="11811" y="49006"/>
                  </a:lnTo>
                  <a:cubicBezTo>
                    <a:pt x="11811" y="49006"/>
                    <a:pt x="18252" y="46982"/>
                    <a:pt x="25468" y="40755"/>
                  </a:cubicBezTo>
                  <a:cubicBezTo>
                    <a:pt x="27646" y="38886"/>
                    <a:pt x="29885" y="36624"/>
                    <a:pt x="32040" y="33921"/>
                  </a:cubicBezTo>
                  <a:cubicBezTo>
                    <a:pt x="33492" y="32123"/>
                    <a:pt x="34897" y="30111"/>
                    <a:pt x="36219" y="27897"/>
                  </a:cubicBezTo>
                  <a:cubicBezTo>
                    <a:pt x="37076" y="26444"/>
                    <a:pt x="37826" y="25003"/>
                    <a:pt x="38481" y="23587"/>
                  </a:cubicBezTo>
                  <a:cubicBezTo>
                    <a:pt x="40612" y="18979"/>
                    <a:pt x="41696" y="14597"/>
                    <a:pt x="42172" y="10764"/>
                  </a:cubicBezTo>
                  <a:lnTo>
                    <a:pt x="42172" y="10764"/>
                  </a:lnTo>
                  <a:cubicBezTo>
                    <a:pt x="42130" y="10790"/>
                    <a:pt x="41506" y="11133"/>
                    <a:pt x="40310" y="11133"/>
                  </a:cubicBezTo>
                  <a:cubicBezTo>
                    <a:pt x="38810" y="11133"/>
                    <a:pt x="36409" y="10594"/>
                    <a:pt x="33123" y="8216"/>
                  </a:cubicBezTo>
                  <a:cubicBezTo>
                    <a:pt x="33052" y="8168"/>
                    <a:pt x="32980" y="8120"/>
                    <a:pt x="32909" y="8061"/>
                  </a:cubicBezTo>
                  <a:cubicBezTo>
                    <a:pt x="29551" y="5584"/>
                    <a:pt x="28278" y="3417"/>
                    <a:pt x="27801" y="1941"/>
                  </a:cubicBezTo>
                  <a:cubicBezTo>
                    <a:pt x="27432" y="762"/>
                    <a:pt x="27575" y="48"/>
                    <a:pt x="2758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07;g1e86e1ed209_0_155">
              <a:extLst>
                <a:ext uri="{FF2B5EF4-FFF2-40B4-BE49-F238E27FC236}">
                  <a16:creationId xmlns:a16="http://schemas.microsoft.com/office/drawing/2014/main" id="{984883BB-0D81-4920-FB33-032B4A99A653}"/>
                </a:ext>
              </a:extLst>
            </p:cNvPr>
            <p:cNvSpPr/>
            <p:nvPr/>
          </p:nvSpPr>
          <p:spPr>
            <a:xfrm>
              <a:off x="5456538" y="2010410"/>
              <a:ext cx="134719" cy="173842"/>
            </a:xfrm>
            <a:custGeom>
              <a:avLst/>
              <a:gdLst/>
              <a:ahLst/>
              <a:cxnLst/>
              <a:rect l="l" t="t" r="r" b="b"/>
              <a:pathLst>
                <a:path w="4752" h="6132" extrusionOk="0">
                  <a:moveTo>
                    <a:pt x="3084" y="0"/>
                  </a:moveTo>
                  <a:lnTo>
                    <a:pt x="1" y="4751"/>
                  </a:lnTo>
                  <a:lnTo>
                    <a:pt x="1870" y="6132"/>
                  </a:lnTo>
                  <a:lnTo>
                    <a:pt x="4751" y="1226"/>
                  </a:lnTo>
                  <a:lnTo>
                    <a:pt x="3084" y="0"/>
                  </a:lnTo>
                  <a:close/>
                </a:path>
              </a:pathLst>
            </a:custGeom>
            <a:solidFill>
              <a:srgbClr val="EB7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608;g1e86e1ed209_0_155">
              <a:extLst>
                <a:ext uri="{FF2B5EF4-FFF2-40B4-BE49-F238E27FC236}">
                  <a16:creationId xmlns:a16="http://schemas.microsoft.com/office/drawing/2014/main" id="{3138A989-BF38-F8B4-ABEE-6EF20F792F21}"/>
                </a:ext>
              </a:extLst>
            </p:cNvPr>
            <p:cNvSpPr/>
            <p:nvPr/>
          </p:nvSpPr>
          <p:spPr>
            <a:xfrm>
              <a:off x="5348522" y="1936471"/>
              <a:ext cx="148554" cy="173530"/>
            </a:xfrm>
            <a:custGeom>
              <a:avLst/>
              <a:gdLst/>
              <a:ahLst/>
              <a:cxnLst/>
              <a:rect l="l" t="t" r="r" b="b"/>
              <a:pathLst>
                <a:path w="5240" h="6121" extrusionOk="0">
                  <a:moveTo>
                    <a:pt x="3358" y="1"/>
                  </a:moveTo>
                  <a:lnTo>
                    <a:pt x="1" y="4549"/>
                  </a:lnTo>
                  <a:lnTo>
                    <a:pt x="2120" y="6120"/>
                  </a:lnTo>
                  <a:lnTo>
                    <a:pt x="5239" y="1382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rgbClr val="EB7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609;g1e86e1ed209_0_155">
              <a:extLst>
                <a:ext uri="{FF2B5EF4-FFF2-40B4-BE49-F238E27FC236}">
                  <a16:creationId xmlns:a16="http://schemas.microsoft.com/office/drawing/2014/main" id="{096DF13E-32CA-884A-70E5-DEBD928C5337}"/>
                </a:ext>
              </a:extLst>
            </p:cNvPr>
            <p:cNvSpPr/>
            <p:nvPr/>
          </p:nvSpPr>
          <p:spPr>
            <a:xfrm>
              <a:off x="5240845" y="1862560"/>
              <a:ext cx="149886" cy="158675"/>
            </a:xfrm>
            <a:custGeom>
              <a:avLst/>
              <a:gdLst/>
              <a:ahLst/>
              <a:cxnLst/>
              <a:rect l="l" t="t" r="r" b="b"/>
              <a:pathLst>
                <a:path w="5287" h="5597" extrusionOk="0">
                  <a:moveTo>
                    <a:pt x="3632" y="0"/>
                  </a:moveTo>
                  <a:lnTo>
                    <a:pt x="0" y="4358"/>
                  </a:lnTo>
                  <a:lnTo>
                    <a:pt x="1679" y="5596"/>
                  </a:lnTo>
                  <a:lnTo>
                    <a:pt x="5287" y="1226"/>
                  </a:lnTo>
                  <a:lnTo>
                    <a:pt x="3632" y="0"/>
                  </a:lnTo>
                  <a:close/>
                </a:path>
              </a:pathLst>
            </a:custGeom>
            <a:solidFill>
              <a:srgbClr val="EB7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610;g1e86e1ed209_0_155">
              <a:extLst>
                <a:ext uri="{FF2B5EF4-FFF2-40B4-BE49-F238E27FC236}">
                  <a16:creationId xmlns:a16="http://schemas.microsoft.com/office/drawing/2014/main" id="{83F46061-E9AD-577D-BE58-22AB43C6BEDB}"/>
                </a:ext>
              </a:extLst>
            </p:cNvPr>
            <p:cNvSpPr/>
            <p:nvPr/>
          </p:nvSpPr>
          <p:spPr>
            <a:xfrm>
              <a:off x="5408597" y="1975623"/>
              <a:ext cx="135400" cy="169476"/>
            </a:xfrm>
            <a:custGeom>
              <a:avLst/>
              <a:gdLst/>
              <a:ahLst/>
              <a:cxnLst/>
              <a:rect l="l" t="t" r="r" b="b"/>
              <a:pathLst>
                <a:path w="4776" h="5978" extrusionOk="0">
                  <a:moveTo>
                    <a:pt x="3120" y="1"/>
                  </a:moveTo>
                  <a:lnTo>
                    <a:pt x="1" y="4739"/>
                  </a:lnTo>
                  <a:lnTo>
                    <a:pt x="1692" y="5978"/>
                  </a:lnTo>
                  <a:lnTo>
                    <a:pt x="4775" y="1227"/>
                  </a:lnTo>
                  <a:lnTo>
                    <a:pt x="3120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611;g1e86e1ed209_0_155">
              <a:extLst>
                <a:ext uri="{FF2B5EF4-FFF2-40B4-BE49-F238E27FC236}">
                  <a16:creationId xmlns:a16="http://schemas.microsoft.com/office/drawing/2014/main" id="{D2E7C4B4-C331-6D51-F8A4-18A694BCE4AD}"/>
                </a:ext>
              </a:extLst>
            </p:cNvPr>
            <p:cNvSpPr/>
            <p:nvPr/>
          </p:nvSpPr>
          <p:spPr>
            <a:xfrm>
              <a:off x="5288446" y="1897318"/>
              <a:ext cx="155301" cy="168115"/>
            </a:xfrm>
            <a:custGeom>
              <a:avLst/>
              <a:gdLst/>
              <a:ahLst/>
              <a:cxnLst/>
              <a:rect l="l" t="t" r="r" b="b"/>
              <a:pathLst>
                <a:path w="5478" h="5930" extrusionOk="0">
                  <a:moveTo>
                    <a:pt x="3608" y="0"/>
                  </a:moveTo>
                  <a:lnTo>
                    <a:pt x="0" y="4370"/>
                  </a:lnTo>
                  <a:lnTo>
                    <a:pt x="2120" y="5930"/>
                  </a:lnTo>
                  <a:lnTo>
                    <a:pt x="5477" y="138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612;g1e86e1ed209_0_155">
              <a:extLst>
                <a:ext uri="{FF2B5EF4-FFF2-40B4-BE49-F238E27FC236}">
                  <a16:creationId xmlns:a16="http://schemas.microsoft.com/office/drawing/2014/main" id="{22252663-E200-C200-00A9-211EE7A6F894}"/>
                </a:ext>
              </a:extLst>
            </p:cNvPr>
            <p:cNvSpPr/>
            <p:nvPr/>
          </p:nvSpPr>
          <p:spPr>
            <a:xfrm>
              <a:off x="5187517" y="1827434"/>
              <a:ext cx="156294" cy="158675"/>
            </a:xfrm>
            <a:custGeom>
              <a:avLst/>
              <a:gdLst/>
              <a:ahLst/>
              <a:cxnLst/>
              <a:rect l="l" t="t" r="r" b="b"/>
              <a:pathLst>
                <a:path w="5513" h="5597" extrusionOk="0">
                  <a:moveTo>
                    <a:pt x="3834" y="1"/>
                  </a:moveTo>
                  <a:lnTo>
                    <a:pt x="0" y="4204"/>
                  </a:lnTo>
                  <a:lnTo>
                    <a:pt x="1881" y="5597"/>
                  </a:lnTo>
                  <a:lnTo>
                    <a:pt x="5513" y="1239"/>
                  </a:lnTo>
                  <a:lnTo>
                    <a:pt x="3834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613;g1e86e1ed209_0_155">
              <a:extLst>
                <a:ext uri="{FF2B5EF4-FFF2-40B4-BE49-F238E27FC236}">
                  <a16:creationId xmlns:a16="http://schemas.microsoft.com/office/drawing/2014/main" id="{FD7A69B6-0534-B611-A5F4-D298239986B4}"/>
                </a:ext>
              </a:extLst>
            </p:cNvPr>
            <p:cNvSpPr/>
            <p:nvPr/>
          </p:nvSpPr>
          <p:spPr>
            <a:xfrm>
              <a:off x="5775513" y="877143"/>
              <a:ext cx="566433" cy="499952"/>
            </a:xfrm>
            <a:custGeom>
              <a:avLst/>
              <a:gdLst/>
              <a:ahLst/>
              <a:cxnLst/>
              <a:rect l="l" t="t" r="r" b="b"/>
              <a:pathLst>
                <a:path w="19980" h="17635" extrusionOk="0">
                  <a:moveTo>
                    <a:pt x="10004" y="2067"/>
                  </a:moveTo>
                  <a:cubicBezTo>
                    <a:pt x="11395" y="2067"/>
                    <a:pt x="12798" y="2496"/>
                    <a:pt x="14003" y="3385"/>
                  </a:cubicBezTo>
                  <a:cubicBezTo>
                    <a:pt x="14134" y="3480"/>
                    <a:pt x="14253" y="3576"/>
                    <a:pt x="14372" y="3671"/>
                  </a:cubicBezTo>
                  <a:cubicBezTo>
                    <a:pt x="15193" y="4385"/>
                    <a:pt x="15824" y="5255"/>
                    <a:pt x="16217" y="6207"/>
                  </a:cubicBezTo>
                  <a:cubicBezTo>
                    <a:pt x="17110" y="8326"/>
                    <a:pt x="16884" y="10839"/>
                    <a:pt x="15420" y="12827"/>
                  </a:cubicBezTo>
                  <a:cubicBezTo>
                    <a:pt x="14102" y="14619"/>
                    <a:pt x="12064" y="15568"/>
                    <a:pt x="9998" y="15568"/>
                  </a:cubicBezTo>
                  <a:cubicBezTo>
                    <a:pt x="9059" y="15568"/>
                    <a:pt x="8114" y="15372"/>
                    <a:pt x="7228" y="14970"/>
                  </a:cubicBezTo>
                  <a:cubicBezTo>
                    <a:pt x="6799" y="14779"/>
                    <a:pt x="6383" y="14541"/>
                    <a:pt x="5990" y="14244"/>
                  </a:cubicBezTo>
                  <a:cubicBezTo>
                    <a:pt x="4406" y="13077"/>
                    <a:pt x="3478" y="11351"/>
                    <a:pt x="3287" y="9541"/>
                  </a:cubicBezTo>
                  <a:cubicBezTo>
                    <a:pt x="3108" y="7922"/>
                    <a:pt x="3513" y="6231"/>
                    <a:pt x="4561" y="4814"/>
                  </a:cubicBezTo>
                  <a:cubicBezTo>
                    <a:pt x="5886" y="3019"/>
                    <a:pt x="7932" y="2067"/>
                    <a:pt x="10004" y="2067"/>
                  </a:cubicBezTo>
                  <a:close/>
                  <a:moveTo>
                    <a:pt x="10000" y="0"/>
                  </a:moveTo>
                  <a:cubicBezTo>
                    <a:pt x="7295" y="0"/>
                    <a:pt x="4624" y="1238"/>
                    <a:pt x="2894" y="3588"/>
                  </a:cubicBezTo>
                  <a:cubicBezTo>
                    <a:pt x="1" y="7505"/>
                    <a:pt x="834" y="13017"/>
                    <a:pt x="4752" y="15911"/>
                  </a:cubicBezTo>
                  <a:cubicBezTo>
                    <a:pt x="6331" y="17074"/>
                    <a:pt x="8168" y="17635"/>
                    <a:pt x="9986" y="17635"/>
                  </a:cubicBezTo>
                  <a:cubicBezTo>
                    <a:pt x="12691" y="17635"/>
                    <a:pt x="15357" y="16395"/>
                    <a:pt x="17086" y="14053"/>
                  </a:cubicBezTo>
                  <a:cubicBezTo>
                    <a:pt x="19980" y="10136"/>
                    <a:pt x="19146" y="4612"/>
                    <a:pt x="15229" y="1718"/>
                  </a:cubicBezTo>
                  <a:cubicBezTo>
                    <a:pt x="13654" y="560"/>
                    <a:pt x="11819" y="0"/>
                    <a:pt x="10000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" name="Google Shape;614;g1e86e1ed209_0_155">
              <a:extLst>
                <a:ext uri="{FF2B5EF4-FFF2-40B4-BE49-F238E27FC236}">
                  <a16:creationId xmlns:a16="http://schemas.microsoft.com/office/drawing/2014/main" id="{D646E965-B35E-75EB-546B-5F51C6449B13}"/>
                </a:ext>
              </a:extLst>
            </p:cNvPr>
            <p:cNvGrpSpPr/>
            <p:nvPr/>
          </p:nvGrpSpPr>
          <p:grpSpPr>
            <a:xfrm>
              <a:off x="5732307" y="1303227"/>
              <a:ext cx="784814" cy="788527"/>
              <a:chOff x="5732307" y="1303227"/>
              <a:chExt cx="784814" cy="788527"/>
            </a:xfrm>
          </p:grpSpPr>
          <p:sp>
            <p:nvSpPr>
              <p:cNvPr id="39" name="Google Shape;615;g1e86e1ed209_0_155">
                <a:extLst>
                  <a:ext uri="{FF2B5EF4-FFF2-40B4-BE49-F238E27FC236}">
                    <a16:creationId xmlns:a16="http://schemas.microsoft.com/office/drawing/2014/main" id="{AB926D7C-F23E-8551-BAE8-79B27741373C}"/>
                  </a:ext>
                </a:extLst>
              </p:cNvPr>
              <p:cNvSpPr/>
              <p:nvPr/>
            </p:nvSpPr>
            <p:spPr>
              <a:xfrm>
                <a:off x="5775201" y="1303227"/>
                <a:ext cx="741920" cy="788527"/>
              </a:xfrm>
              <a:custGeom>
                <a:avLst/>
                <a:gdLst/>
                <a:ahLst/>
                <a:cxnLst/>
                <a:rect l="l" t="t" r="r" b="b"/>
                <a:pathLst>
                  <a:path w="26170" h="27814" extrusionOk="0">
                    <a:moveTo>
                      <a:pt x="21824" y="1"/>
                    </a:moveTo>
                    <a:cubicBezTo>
                      <a:pt x="21169" y="1417"/>
                      <a:pt x="20419" y="2858"/>
                      <a:pt x="19562" y="4311"/>
                    </a:cubicBezTo>
                    <a:cubicBezTo>
                      <a:pt x="18240" y="6525"/>
                      <a:pt x="16835" y="8537"/>
                      <a:pt x="15383" y="10335"/>
                    </a:cubicBezTo>
                    <a:lnTo>
                      <a:pt x="15478" y="10407"/>
                    </a:lnTo>
                    <a:cubicBezTo>
                      <a:pt x="15478" y="10407"/>
                      <a:pt x="15169" y="24123"/>
                      <a:pt x="0" y="27516"/>
                    </a:cubicBezTo>
                    <a:cubicBezTo>
                      <a:pt x="313" y="27688"/>
                      <a:pt x="1017" y="27814"/>
                      <a:pt x="2006" y="27814"/>
                    </a:cubicBezTo>
                    <a:cubicBezTo>
                      <a:pt x="5797" y="27814"/>
                      <a:pt x="13780" y="25969"/>
                      <a:pt x="20003" y="17848"/>
                    </a:cubicBezTo>
                    <a:cubicBezTo>
                      <a:pt x="26170" y="9787"/>
                      <a:pt x="23324" y="2668"/>
                      <a:pt x="21824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616;g1e86e1ed209_0_155">
                <a:extLst>
                  <a:ext uri="{FF2B5EF4-FFF2-40B4-BE49-F238E27FC236}">
                    <a16:creationId xmlns:a16="http://schemas.microsoft.com/office/drawing/2014/main" id="{5111E07A-8DCB-7598-EA18-A172C9E29F2E}"/>
                  </a:ext>
                </a:extLst>
              </p:cNvPr>
              <p:cNvSpPr/>
              <p:nvPr/>
            </p:nvSpPr>
            <p:spPr>
              <a:xfrm>
                <a:off x="5732307" y="1596233"/>
                <a:ext cx="481723" cy="487081"/>
              </a:xfrm>
              <a:custGeom>
                <a:avLst/>
                <a:gdLst/>
                <a:ahLst/>
                <a:cxnLst/>
                <a:rect l="l" t="t" r="r" b="b"/>
                <a:pathLst>
                  <a:path w="16992" h="17181" extrusionOk="0">
                    <a:moveTo>
                      <a:pt x="16896" y="0"/>
                    </a:moveTo>
                    <a:cubicBezTo>
                      <a:pt x="14741" y="2703"/>
                      <a:pt x="12502" y="4965"/>
                      <a:pt x="10324" y="6834"/>
                    </a:cubicBezTo>
                    <a:cubicBezTo>
                      <a:pt x="11514" y="14776"/>
                      <a:pt x="1" y="16359"/>
                      <a:pt x="1513" y="17181"/>
                    </a:cubicBezTo>
                    <a:cubicBezTo>
                      <a:pt x="16682" y="13788"/>
                      <a:pt x="16991" y="72"/>
                      <a:pt x="16991" y="72"/>
                    </a:cubicBezTo>
                    <a:lnTo>
                      <a:pt x="16896" y="0"/>
                    </a:ln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" name="Google Shape;617;g1e86e1ed209_0_155">
              <a:extLst>
                <a:ext uri="{FF2B5EF4-FFF2-40B4-BE49-F238E27FC236}">
                  <a16:creationId xmlns:a16="http://schemas.microsoft.com/office/drawing/2014/main" id="{AC9DE675-80C5-1EEB-315F-5E5D74B8D585}"/>
                </a:ext>
              </a:extLst>
            </p:cNvPr>
            <p:cNvSpPr/>
            <p:nvPr/>
          </p:nvSpPr>
          <p:spPr>
            <a:xfrm>
              <a:off x="5276284" y="1776799"/>
              <a:ext cx="360527" cy="282564"/>
            </a:xfrm>
            <a:custGeom>
              <a:avLst/>
              <a:gdLst/>
              <a:ahLst/>
              <a:cxnLst/>
              <a:rect l="l" t="t" r="r" b="b"/>
              <a:pathLst>
                <a:path w="12717" h="9967" extrusionOk="0">
                  <a:moveTo>
                    <a:pt x="941" y="1"/>
                  </a:moveTo>
                  <a:lnTo>
                    <a:pt x="1" y="1275"/>
                  </a:lnTo>
                  <a:lnTo>
                    <a:pt x="703" y="1787"/>
                  </a:lnTo>
                  <a:lnTo>
                    <a:pt x="2382" y="3025"/>
                  </a:lnTo>
                  <a:lnTo>
                    <a:pt x="4037" y="4251"/>
                  </a:lnTo>
                  <a:lnTo>
                    <a:pt x="5906" y="5633"/>
                  </a:lnTo>
                  <a:lnTo>
                    <a:pt x="7787" y="7014"/>
                  </a:lnTo>
                  <a:lnTo>
                    <a:pt x="9442" y="8240"/>
                  </a:lnTo>
                  <a:lnTo>
                    <a:pt x="11109" y="9466"/>
                  </a:lnTo>
                  <a:lnTo>
                    <a:pt x="11776" y="9966"/>
                  </a:lnTo>
                  <a:lnTo>
                    <a:pt x="12716" y="8693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618;g1e86e1ed209_0_155">
              <a:extLst>
                <a:ext uri="{FF2B5EF4-FFF2-40B4-BE49-F238E27FC236}">
                  <a16:creationId xmlns:a16="http://schemas.microsoft.com/office/drawing/2014/main" id="{29BE80EC-CABB-0040-F8E2-B53302B720A4}"/>
                </a:ext>
              </a:extLst>
            </p:cNvPr>
            <p:cNvSpPr/>
            <p:nvPr/>
          </p:nvSpPr>
          <p:spPr>
            <a:xfrm>
              <a:off x="5522369" y="1375324"/>
              <a:ext cx="378416" cy="424088"/>
            </a:xfrm>
            <a:custGeom>
              <a:avLst/>
              <a:gdLst/>
              <a:ahLst/>
              <a:cxnLst/>
              <a:rect l="l" t="t" r="r" b="b"/>
              <a:pathLst>
                <a:path w="13348" h="14959" extrusionOk="0">
                  <a:moveTo>
                    <a:pt x="10176" y="1"/>
                  </a:moveTo>
                  <a:cubicBezTo>
                    <a:pt x="9316" y="1"/>
                    <a:pt x="8466" y="396"/>
                    <a:pt x="7918" y="1137"/>
                  </a:cubicBezTo>
                  <a:cubicBezTo>
                    <a:pt x="7001" y="2387"/>
                    <a:pt x="0" y="13983"/>
                    <a:pt x="1250" y="14900"/>
                  </a:cubicBezTo>
                  <a:cubicBezTo>
                    <a:pt x="1304" y="14940"/>
                    <a:pt x="1372" y="14959"/>
                    <a:pt x="1454" y="14959"/>
                  </a:cubicBezTo>
                  <a:cubicBezTo>
                    <a:pt x="3254" y="14959"/>
                    <a:pt x="11553" y="5655"/>
                    <a:pt x="12430" y="4470"/>
                  </a:cubicBezTo>
                  <a:cubicBezTo>
                    <a:pt x="13347" y="3220"/>
                    <a:pt x="13085" y="1470"/>
                    <a:pt x="11835" y="553"/>
                  </a:cubicBezTo>
                  <a:cubicBezTo>
                    <a:pt x="11337" y="180"/>
                    <a:pt x="10754" y="1"/>
                    <a:pt x="10176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619;g1e86e1ed209_0_155">
              <a:extLst>
                <a:ext uri="{FF2B5EF4-FFF2-40B4-BE49-F238E27FC236}">
                  <a16:creationId xmlns:a16="http://schemas.microsoft.com/office/drawing/2014/main" id="{1C79AA0D-233F-BA89-E4D6-C168FB546E1B}"/>
                </a:ext>
              </a:extLst>
            </p:cNvPr>
            <p:cNvGrpSpPr/>
            <p:nvPr/>
          </p:nvGrpSpPr>
          <p:grpSpPr>
            <a:xfrm>
              <a:off x="6080681" y="536650"/>
              <a:ext cx="447931" cy="413570"/>
              <a:chOff x="6080681" y="536650"/>
              <a:chExt cx="447931" cy="413570"/>
            </a:xfrm>
          </p:grpSpPr>
          <p:sp>
            <p:nvSpPr>
              <p:cNvPr id="37" name="Google Shape;620;g1e86e1ed209_0_155">
                <a:extLst>
                  <a:ext uri="{FF2B5EF4-FFF2-40B4-BE49-F238E27FC236}">
                    <a16:creationId xmlns:a16="http://schemas.microsoft.com/office/drawing/2014/main" id="{96920372-BB37-4F0D-11B8-A915E1FA6212}"/>
                  </a:ext>
                </a:extLst>
              </p:cNvPr>
              <p:cNvSpPr/>
              <p:nvPr/>
            </p:nvSpPr>
            <p:spPr>
              <a:xfrm>
                <a:off x="6091143" y="536650"/>
                <a:ext cx="437469" cy="413570"/>
              </a:xfrm>
              <a:custGeom>
                <a:avLst/>
                <a:gdLst/>
                <a:ahLst/>
                <a:cxnLst/>
                <a:rect l="l" t="t" r="r" b="b"/>
                <a:pathLst>
                  <a:path w="15431" h="14588" extrusionOk="0">
                    <a:moveTo>
                      <a:pt x="13609" y="0"/>
                    </a:moveTo>
                    <a:cubicBezTo>
                      <a:pt x="13609" y="0"/>
                      <a:pt x="11488" y="6683"/>
                      <a:pt x="5183" y="6683"/>
                    </a:cubicBezTo>
                    <a:cubicBezTo>
                      <a:pt x="3697" y="6683"/>
                      <a:pt x="1978" y="6312"/>
                      <a:pt x="0" y="5394"/>
                    </a:cubicBezTo>
                    <a:lnTo>
                      <a:pt x="0" y="5394"/>
                    </a:lnTo>
                    <a:cubicBezTo>
                      <a:pt x="477" y="6870"/>
                      <a:pt x="1750" y="9037"/>
                      <a:pt x="5108" y="11514"/>
                    </a:cubicBezTo>
                    <a:cubicBezTo>
                      <a:pt x="8500" y="14025"/>
                      <a:pt x="10971" y="14588"/>
                      <a:pt x="12504" y="14588"/>
                    </a:cubicBezTo>
                    <a:cubicBezTo>
                      <a:pt x="13704" y="14588"/>
                      <a:pt x="14329" y="14243"/>
                      <a:pt x="14371" y="14217"/>
                    </a:cubicBezTo>
                    <a:cubicBezTo>
                      <a:pt x="15431" y="5811"/>
                      <a:pt x="13609" y="0"/>
                      <a:pt x="13609" y="0"/>
                    </a:cubicBez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621;g1e86e1ed209_0_155">
                <a:extLst>
                  <a:ext uri="{FF2B5EF4-FFF2-40B4-BE49-F238E27FC236}">
                    <a16:creationId xmlns:a16="http://schemas.microsoft.com/office/drawing/2014/main" id="{EB794A54-FF43-B324-E146-D35B1B8815A0}"/>
                  </a:ext>
                </a:extLst>
              </p:cNvPr>
              <p:cNvSpPr/>
              <p:nvPr/>
            </p:nvSpPr>
            <p:spPr>
              <a:xfrm>
                <a:off x="6080681" y="536650"/>
                <a:ext cx="396305" cy="189463"/>
              </a:xfrm>
              <a:custGeom>
                <a:avLst/>
                <a:gdLst/>
                <a:ahLst/>
                <a:cxnLst/>
                <a:rect l="l" t="t" r="r" b="b"/>
                <a:pathLst>
                  <a:path w="13979" h="6683" extrusionOk="0">
                    <a:moveTo>
                      <a:pt x="13971" y="0"/>
                    </a:moveTo>
                    <a:cubicBezTo>
                      <a:pt x="13733" y="0"/>
                      <a:pt x="7727" y="35"/>
                      <a:pt x="155" y="3453"/>
                    </a:cubicBezTo>
                    <a:cubicBezTo>
                      <a:pt x="143" y="3501"/>
                      <a:pt x="0" y="4215"/>
                      <a:pt x="369" y="5394"/>
                    </a:cubicBezTo>
                    <a:cubicBezTo>
                      <a:pt x="2347" y="6312"/>
                      <a:pt x="4066" y="6683"/>
                      <a:pt x="5552" y="6683"/>
                    </a:cubicBezTo>
                    <a:cubicBezTo>
                      <a:pt x="11857" y="6683"/>
                      <a:pt x="13978" y="0"/>
                      <a:pt x="13978" y="0"/>
                    </a:cubicBezTo>
                    <a:cubicBezTo>
                      <a:pt x="13978" y="0"/>
                      <a:pt x="13976" y="0"/>
                      <a:pt x="13971" y="0"/>
                    </a:cubicBez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" name="Google Shape;622;g1e86e1ed209_0_155">
              <a:extLst>
                <a:ext uri="{FF2B5EF4-FFF2-40B4-BE49-F238E27FC236}">
                  <a16:creationId xmlns:a16="http://schemas.microsoft.com/office/drawing/2014/main" id="{F945B37C-1F6A-70DF-0360-8CA994FEFEFB}"/>
                </a:ext>
              </a:extLst>
            </p:cNvPr>
            <p:cNvGrpSpPr/>
            <p:nvPr/>
          </p:nvGrpSpPr>
          <p:grpSpPr>
            <a:xfrm>
              <a:off x="5066658" y="871105"/>
              <a:ext cx="663645" cy="833582"/>
              <a:chOff x="5066658" y="871105"/>
              <a:chExt cx="663645" cy="833582"/>
            </a:xfrm>
          </p:grpSpPr>
          <p:sp>
            <p:nvSpPr>
              <p:cNvPr id="35" name="Google Shape;623;g1e86e1ed209_0_155">
                <a:extLst>
                  <a:ext uri="{FF2B5EF4-FFF2-40B4-BE49-F238E27FC236}">
                    <a16:creationId xmlns:a16="http://schemas.microsoft.com/office/drawing/2014/main" id="{90E0E312-FD2D-41A6-3DA6-483846504119}"/>
                  </a:ext>
                </a:extLst>
              </p:cNvPr>
              <p:cNvSpPr/>
              <p:nvPr/>
            </p:nvSpPr>
            <p:spPr>
              <a:xfrm>
                <a:off x="5149017" y="1139842"/>
                <a:ext cx="368975" cy="564845"/>
              </a:xfrm>
              <a:custGeom>
                <a:avLst/>
                <a:gdLst/>
                <a:ahLst/>
                <a:cxnLst/>
                <a:rect l="l" t="t" r="r" b="b"/>
                <a:pathLst>
                  <a:path w="13015" h="19924" extrusionOk="0">
                    <a:moveTo>
                      <a:pt x="13014" y="1"/>
                    </a:moveTo>
                    <a:lnTo>
                      <a:pt x="13014" y="1"/>
                    </a:lnTo>
                    <a:cubicBezTo>
                      <a:pt x="13014" y="1"/>
                      <a:pt x="1" y="4335"/>
                      <a:pt x="1239" y="19837"/>
                    </a:cubicBezTo>
                    <a:cubicBezTo>
                      <a:pt x="1300" y="19896"/>
                      <a:pt x="1353" y="19924"/>
                      <a:pt x="1400" y="19924"/>
                    </a:cubicBezTo>
                    <a:cubicBezTo>
                      <a:pt x="2313" y="19924"/>
                      <a:pt x="948" y="9332"/>
                      <a:pt x="8716" y="8335"/>
                    </a:cubicBezTo>
                    <a:cubicBezTo>
                      <a:pt x="9776" y="5716"/>
                      <a:pt x="11169" y="2894"/>
                      <a:pt x="13014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624;g1e86e1ed209_0_155">
                <a:extLst>
                  <a:ext uri="{FF2B5EF4-FFF2-40B4-BE49-F238E27FC236}">
                    <a16:creationId xmlns:a16="http://schemas.microsoft.com/office/drawing/2014/main" id="{DB4EEFAC-4EBA-952C-6189-27ACE5BB94DC}"/>
                  </a:ext>
                </a:extLst>
              </p:cNvPr>
              <p:cNvSpPr/>
              <p:nvPr/>
            </p:nvSpPr>
            <p:spPr>
              <a:xfrm>
                <a:off x="5066658" y="871105"/>
                <a:ext cx="663645" cy="831109"/>
              </a:xfrm>
              <a:custGeom>
                <a:avLst/>
                <a:gdLst/>
                <a:ahLst/>
                <a:cxnLst/>
                <a:rect l="l" t="t" r="r" b="b"/>
                <a:pathLst>
                  <a:path w="23409" h="29316" extrusionOk="0">
                    <a:moveTo>
                      <a:pt x="20731" y="1"/>
                    </a:moveTo>
                    <a:cubicBezTo>
                      <a:pt x="17052" y="1"/>
                      <a:pt x="11787" y="1284"/>
                      <a:pt x="7478" y="7349"/>
                    </a:cubicBezTo>
                    <a:cubicBezTo>
                      <a:pt x="1" y="17862"/>
                      <a:pt x="2894" y="28113"/>
                      <a:pt x="4144" y="29316"/>
                    </a:cubicBezTo>
                    <a:cubicBezTo>
                      <a:pt x="2906" y="13814"/>
                      <a:pt x="15919" y="9480"/>
                      <a:pt x="15919" y="9480"/>
                    </a:cubicBezTo>
                    <a:cubicBezTo>
                      <a:pt x="17408" y="7146"/>
                      <a:pt x="19182" y="4765"/>
                      <a:pt x="21313" y="2408"/>
                    </a:cubicBezTo>
                    <a:cubicBezTo>
                      <a:pt x="22004" y="1634"/>
                      <a:pt x="22694" y="907"/>
                      <a:pt x="23408" y="229"/>
                    </a:cubicBezTo>
                    <a:cubicBezTo>
                      <a:pt x="22680" y="103"/>
                      <a:pt x="21769" y="1"/>
                      <a:pt x="20731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 w="9525" cap="flat" cmpd="sng">
                <a:solidFill>
                  <a:srgbClr val="EC3A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625;g1e86e1ed209_0_155">
            <a:extLst>
              <a:ext uri="{FF2B5EF4-FFF2-40B4-BE49-F238E27FC236}">
                <a16:creationId xmlns:a16="http://schemas.microsoft.com/office/drawing/2014/main" id="{D5B20515-262B-56F5-5E55-DE41FDB95A1E}"/>
              </a:ext>
            </a:extLst>
          </p:cNvPr>
          <p:cNvGrpSpPr/>
          <p:nvPr/>
        </p:nvGrpSpPr>
        <p:grpSpPr>
          <a:xfrm rot="-1387166">
            <a:off x="5571005" y="3551881"/>
            <a:ext cx="1283222" cy="1360014"/>
            <a:chOff x="4541970" y="3507915"/>
            <a:chExt cx="1184429" cy="1104252"/>
          </a:xfrm>
        </p:grpSpPr>
        <p:sp>
          <p:nvSpPr>
            <p:cNvPr id="42" name="Google Shape;626;g1e86e1ed209_0_155">
              <a:extLst>
                <a:ext uri="{FF2B5EF4-FFF2-40B4-BE49-F238E27FC236}">
                  <a16:creationId xmlns:a16="http://schemas.microsoft.com/office/drawing/2014/main" id="{573AC7D7-1412-A7FA-4B81-4542D169FF01}"/>
                </a:ext>
              </a:extLst>
            </p:cNvPr>
            <p:cNvSpPr/>
            <p:nvPr/>
          </p:nvSpPr>
          <p:spPr>
            <a:xfrm rot="-138592">
              <a:off x="4562848" y="3530512"/>
              <a:ext cx="1142673" cy="1059058"/>
            </a:xfrm>
            <a:custGeom>
              <a:avLst/>
              <a:gdLst/>
              <a:ahLst/>
              <a:cxnLst/>
              <a:rect l="l" t="t" r="r" b="b"/>
              <a:pathLst>
                <a:path w="37672" h="34695" extrusionOk="0">
                  <a:moveTo>
                    <a:pt x="10621" y="0"/>
                  </a:moveTo>
                  <a:cubicBezTo>
                    <a:pt x="10621" y="0"/>
                    <a:pt x="10621" y="12"/>
                    <a:pt x="10621" y="12"/>
                  </a:cubicBezTo>
                  <a:cubicBezTo>
                    <a:pt x="10704" y="60"/>
                    <a:pt x="10740" y="83"/>
                    <a:pt x="10823" y="131"/>
                  </a:cubicBezTo>
                  <a:cubicBezTo>
                    <a:pt x="10716" y="5167"/>
                    <a:pt x="11193" y="10156"/>
                    <a:pt x="11871" y="15145"/>
                  </a:cubicBezTo>
                  <a:cubicBezTo>
                    <a:pt x="8275" y="18121"/>
                    <a:pt x="4227" y="20574"/>
                    <a:pt x="1" y="22538"/>
                  </a:cubicBezTo>
                  <a:cubicBezTo>
                    <a:pt x="8573" y="28896"/>
                    <a:pt x="17646" y="32718"/>
                    <a:pt x="28123" y="34695"/>
                  </a:cubicBezTo>
                  <a:cubicBezTo>
                    <a:pt x="31826" y="30051"/>
                    <a:pt x="34934" y="25265"/>
                    <a:pt x="37672" y="19991"/>
                  </a:cubicBezTo>
                  <a:cubicBezTo>
                    <a:pt x="34755" y="15228"/>
                    <a:pt x="32159" y="10370"/>
                    <a:pt x="30207" y="5132"/>
                  </a:cubicBezTo>
                  <a:cubicBezTo>
                    <a:pt x="22956" y="4941"/>
                    <a:pt x="17015" y="3417"/>
                    <a:pt x="10621" y="0"/>
                  </a:cubicBezTo>
                  <a:close/>
                </a:path>
              </a:pathLst>
            </a:custGeom>
            <a:solidFill>
              <a:srgbClr val="D96709"/>
            </a:solidFill>
            <a:ln w="9525" cap="flat" cmpd="sng">
              <a:solidFill>
                <a:srgbClr val="D9670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627;g1e86e1ed209_0_155">
              <a:extLst>
                <a:ext uri="{FF2B5EF4-FFF2-40B4-BE49-F238E27FC236}">
                  <a16:creationId xmlns:a16="http://schemas.microsoft.com/office/drawing/2014/main" id="{0543EF3C-4DBA-755C-A9D4-DD0FCF3DF3AF}"/>
                </a:ext>
              </a:extLst>
            </p:cNvPr>
            <p:cNvSpPr txBox="1"/>
            <p:nvPr/>
          </p:nvSpPr>
          <p:spPr>
            <a:xfrm rot="1218034">
              <a:off x="4905696" y="3868272"/>
              <a:ext cx="661488" cy="4973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lang="en-US" sz="4000" b="0" i="0" u="none" strike="noStrike" cap="non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40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4" name="Google Shape;628;g1e86e1ed209_0_155">
            <a:extLst>
              <a:ext uri="{FF2B5EF4-FFF2-40B4-BE49-F238E27FC236}">
                <a16:creationId xmlns:a16="http://schemas.microsoft.com/office/drawing/2014/main" id="{27A99CBC-6344-4829-0D18-56C9F4864854}"/>
              </a:ext>
            </a:extLst>
          </p:cNvPr>
          <p:cNvSpPr/>
          <p:nvPr/>
        </p:nvSpPr>
        <p:spPr>
          <a:xfrm rot="-3364236">
            <a:off x="6282023" y="3155244"/>
            <a:ext cx="1238138" cy="1734692"/>
          </a:xfrm>
          <a:custGeom>
            <a:avLst/>
            <a:gdLst/>
            <a:ahLst/>
            <a:cxnLst/>
            <a:rect l="l" t="t" r="r" b="b"/>
            <a:pathLst>
              <a:path w="37672" h="34695" extrusionOk="0">
                <a:moveTo>
                  <a:pt x="10621" y="0"/>
                </a:moveTo>
                <a:cubicBezTo>
                  <a:pt x="10621" y="0"/>
                  <a:pt x="10621" y="12"/>
                  <a:pt x="10621" y="12"/>
                </a:cubicBezTo>
                <a:cubicBezTo>
                  <a:pt x="10704" y="60"/>
                  <a:pt x="10740" y="83"/>
                  <a:pt x="10823" y="131"/>
                </a:cubicBezTo>
                <a:cubicBezTo>
                  <a:pt x="10716" y="5167"/>
                  <a:pt x="11193" y="10156"/>
                  <a:pt x="11871" y="15145"/>
                </a:cubicBezTo>
                <a:cubicBezTo>
                  <a:pt x="8275" y="18121"/>
                  <a:pt x="4227" y="20574"/>
                  <a:pt x="1" y="22538"/>
                </a:cubicBezTo>
                <a:cubicBezTo>
                  <a:pt x="8573" y="28896"/>
                  <a:pt x="17646" y="32718"/>
                  <a:pt x="28123" y="34695"/>
                </a:cubicBezTo>
                <a:cubicBezTo>
                  <a:pt x="31826" y="30051"/>
                  <a:pt x="34934" y="25265"/>
                  <a:pt x="37672" y="19991"/>
                </a:cubicBezTo>
                <a:cubicBezTo>
                  <a:pt x="34755" y="15228"/>
                  <a:pt x="32159" y="10370"/>
                  <a:pt x="30207" y="5132"/>
                </a:cubicBezTo>
                <a:cubicBezTo>
                  <a:pt x="22956" y="4941"/>
                  <a:pt x="17015" y="3417"/>
                  <a:pt x="10621" y="0"/>
                </a:cubicBezTo>
                <a:close/>
              </a:path>
            </a:pathLst>
          </a:custGeom>
          <a:solidFill>
            <a:srgbClr val="00AEAA"/>
          </a:solidFill>
          <a:ln w="9525" cap="flat" cmpd="sng">
            <a:solidFill>
              <a:srgbClr val="00AE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629;g1e86e1ed209_0_155">
            <a:extLst>
              <a:ext uri="{FF2B5EF4-FFF2-40B4-BE49-F238E27FC236}">
                <a16:creationId xmlns:a16="http://schemas.microsoft.com/office/drawing/2014/main" id="{9214D298-E635-A438-84DF-191B83892BB9}"/>
              </a:ext>
            </a:extLst>
          </p:cNvPr>
          <p:cNvSpPr txBox="1"/>
          <p:nvPr/>
        </p:nvSpPr>
        <p:spPr>
          <a:xfrm>
            <a:off x="6553200" y="3646682"/>
            <a:ext cx="998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4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630;g1e86e1ed209_0_155">
            <a:extLst>
              <a:ext uri="{FF2B5EF4-FFF2-40B4-BE49-F238E27FC236}">
                <a16:creationId xmlns:a16="http://schemas.microsoft.com/office/drawing/2014/main" id="{8A701495-3800-B3E0-C35D-259DE244D075}"/>
              </a:ext>
            </a:extLst>
          </p:cNvPr>
          <p:cNvSpPr/>
          <p:nvPr/>
        </p:nvSpPr>
        <p:spPr>
          <a:xfrm rot="-4779628">
            <a:off x="6842027" y="2417774"/>
            <a:ext cx="1280354" cy="2385062"/>
          </a:xfrm>
          <a:custGeom>
            <a:avLst/>
            <a:gdLst/>
            <a:ahLst/>
            <a:cxnLst/>
            <a:rect l="l" t="t" r="r" b="b"/>
            <a:pathLst>
              <a:path w="37672" h="34695" extrusionOk="0">
                <a:moveTo>
                  <a:pt x="10621" y="0"/>
                </a:moveTo>
                <a:cubicBezTo>
                  <a:pt x="10621" y="0"/>
                  <a:pt x="10621" y="12"/>
                  <a:pt x="10621" y="12"/>
                </a:cubicBezTo>
                <a:cubicBezTo>
                  <a:pt x="10704" y="60"/>
                  <a:pt x="10740" y="83"/>
                  <a:pt x="10823" y="131"/>
                </a:cubicBezTo>
                <a:cubicBezTo>
                  <a:pt x="10716" y="5167"/>
                  <a:pt x="11193" y="10156"/>
                  <a:pt x="11871" y="15145"/>
                </a:cubicBezTo>
                <a:cubicBezTo>
                  <a:pt x="8275" y="18121"/>
                  <a:pt x="4227" y="20574"/>
                  <a:pt x="1" y="22538"/>
                </a:cubicBezTo>
                <a:cubicBezTo>
                  <a:pt x="8573" y="28896"/>
                  <a:pt x="17646" y="32718"/>
                  <a:pt x="28123" y="34695"/>
                </a:cubicBezTo>
                <a:cubicBezTo>
                  <a:pt x="31826" y="30051"/>
                  <a:pt x="34934" y="25265"/>
                  <a:pt x="37672" y="19991"/>
                </a:cubicBezTo>
                <a:cubicBezTo>
                  <a:pt x="34755" y="15228"/>
                  <a:pt x="32159" y="10370"/>
                  <a:pt x="30207" y="5132"/>
                </a:cubicBezTo>
                <a:cubicBezTo>
                  <a:pt x="22956" y="4941"/>
                  <a:pt x="17015" y="3417"/>
                  <a:pt x="10621" y="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631;g1e86e1ed209_0_155">
            <a:extLst>
              <a:ext uri="{FF2B5EF4-FFF2-40B4-BE49-F238E27FC236}">
                <a16:creationId xmlns:a16="http://schemas.microsoft.com/office/drawing/2014/main" id="{00BD6725-38D0-DA1E-7C8B-DA32693BF266}"/>
              </a:ext>
            </a:extLst>
          </p:cNvPr>
          <p:cNvSpPr txBox="1"/>
          <p:nvPr/>
        </p:nvSpPr>
        <p:spPr>
          <a:xfrm>
            <a:off x="7057825" y="3019507"/>
            <a:ext cx="1053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5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632;g1e86e1ed209_0_155">
            <a:extLst>
              <a:ext uri="{FF2B5EF4-FFF2-40B4-BE49-F238E27FC236}">
                <a16:creationId xmlns:a16="http://schemas.microsoft.com/office/drawing/2014/main" id="{1ED11DE9-994D-C689-2569-F93900CF71D7}"/>
              </a:ext>
            </a:extLst>
          </p:cNvPr>
          <p:cNvSpPr/>
          <p:nvPr/>
        </p:nvSpPr>
        <p:spPr>
          <a:xfrm>
            <a:off x="228601" y="3339430"/>
            <a:ext cx="3168900" cy="271200"/>
          </a:xfrm>
          <a:prstGeom prst="roundRect">
            <a:avLst>
              <a:gd name="adj" fmla="val 50000"/>
            </a:avLst>
          </a:prstGeom>
          <a:solidFill>
            <a:srgbClr val="D967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dirty="0"/>
              <a:t>Data </a:t>
            </a:r>
            <a:r>
              <a:rPr lang="es-CO" sz="1600" b="1" dirty="0" err="1"/>
              <a:t>Preprocessing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633;g1e86e1ed209_0_155">
            <a:extLst>
              <a:ext uri="{FF2B5EF4-FFF2-40B4-BE49-F238E27FC236}">
                <a16:creationId xmlns:a16="http://schemas.microsoft.com/office/drawing/2014/main" id="{48D05D53-2F36-5C4D-2B6F-AA6777D7F8DB}"/>
              </a:ext>
            </a:extLst>
          </p:cNvPr>
          <p:cNvSpPr/>
          <p:nvPr/>
        </p:nvSpPr>
        <p:spPr>
          <a:xfrm>
            <a:off x="228600" y="3769305"/>
            <a:ext cx="3126000" cy="271200"/>
          </a:xfrm>
          <a:prstGeom prst="roundRect">
            <a:avLst>
              <a:gd name="adj" fmla="val 50000"/>
            </a:avLst>
          </a:prstGeom>
          <a:solidFill>
            <a:srgbClr val="00AE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600" b="1" dirty="0"/>
              <a:t>Data </a:t>
            </a:r>
            <a:r>
              <a:rPr lang="es-CO" sz="1600" b="1" dirty="0" err="1"/>
              <a:t>Exploration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634;g1e86e1ed209_0_155">
            <a:extLst>
              <a:ext uri="{FF2B5EF4-FFF2-40B4-BE49-F238E27FC236}">
                <a16:creationId xmlns:a16="http://schemas.microsoft.com/office/drawing/2014/main" id="{B6F01C9F-F9EF-23AD-C2CA-548E6FE6CD95}"/>
              </a:ext>
            </a:extLst>
          </p:cNvPr>
          <p:cNvSpPr/>
          <p:nvPr/>
        </p:nvSpPr>
        <p:spPr>
          <a:xfrm>
            <a:off x="228600" y="4199180"/>
            <a:ext cx="3126000" cy="2712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600" b="1" dirty="0"/>
              <a:t>Data </a:t>
            </a:r>
            <a:r>
              <a:rPr lang="es-CO" sz="1600" b="1" dirty="0" err="1"/>
              <a:t>Collection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985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9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3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9651" y="936190"/>
            <a:ext cx="62731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indent="-376555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389255" algn="l"/>
              </a:tabLst>
            </a:pPr>
            <a:r>
              <a:rPr sz="2000" spc="-10" dirty="0">
                <a:latin typeface="Calibri"/>
                <a:cs typeface="Calibri"/>
              </a:rPr>
              <a:t>Learning: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(features)/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buFont typeface="Arial MT"/>
              <a:buChar char="–"/>
              <a:tabLst>
                <a:tab pos="389255" algn="l"/>
              </a:tabLst>
            </a:pPr>
            <a:r>
              <a:rPr sz="2000" spc="-10" dirty="0">
                <a:latin typeface="Calibri"/>
                <a:cs typeface="Calibri"/>
              </a:rPr>
              <a:t>Inference: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89255" algn="l"/>
              </a:tabLst>
            </a:pPr>
            <a:r>
              <a:rPr sz="2000" b="1" spc="-50" dirty="0">
                <a:latin typeface="Arial"/>
                <a:cs typeface="Arial"/>
              </a:rPr>
              <a:t>−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Classification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651" y="3069790"/>
            <a:ext cx="47593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6455" marR="5080" indent="-834390">
              <a:lnSpc>
                <a:spcPct val="100000"/>
              </a:lnSpc>
              <a:spcBef>
                <a:spcPts val="100"/>
              </a:spcBef>
              <a:tabLst>
                <a:tab pos="38925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Regression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target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numeric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dirty="0">
                <a:latin typeface="Calibri"/>
                <a:cs typeface="Calibri"/>
              </a:rPr>
              <a:t>Price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car,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5750" y="1612062"/>
            <a:ext cx="4143876" cy="1381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3499" y="3500849"/>
            <a:ext cx="3148375" cy="15741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2936" y="198477"/>
            <a:ext cx="3557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Unsupervised</a:t>
            </a:r>
            <a:r>
              <a:rPr spc="-3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249" y="797841"/>
            <a:ext cx="5798185" cy="164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SzPct val="69230"/>
              <a:buFont typeface="Arial MT"/>
              <a:buChar char="●"/>
              <a:tabLst>
                <a:tab pos="379095" algn="l"/>
              </a:tabLst>
            </a:pPr>
            <a:r>
              <a:rPr sz="2600" dirty="0">
                <a:latin typeface="Calibri"/>
                <a:cs typeface="Calibri"/>
              </a:rPr>
              <a:t>Unsupervised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learning</a:t>
            </a:r>
            <a:endParaRPr sz="2600">
              <a:latin typeface="Calibri"/>
              <a:cs typeface="Calibri"/>
            </a:endParaRPr>
          </a:p>
          <a:p>
            <a:pPr marL="836294" lvl="1" indent="-359410">
              <a:lnSpc>
                <a:spcPct val="100000"/>
              </a:lnSpc>
              <a:spcBef>
                <a:spcPts val="50"/>
              </a:spcBef>
              <a:buSzPct val="90000"/>
              <a:buFont typeface="Lucida Sans Unicode"/>
              <a:buChar char="–"/>
              <a:tabLst>
                <a:tab pos="836294" algn="l"/>
              </a:tabLst>
            </a:pPr>
            <a:r>
              <a:rPr sz="2000" spc="-10" dirty="0">
                <a:latin typeface="Calibri"/>
                <a:cs typeface="Calibri"/>
              </a:rPr>
              <a:t>Learning: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836294" lvl="1" indent="-359410">
              <a:lnSpc>
                <a:spcPct val="100000"/>
              </a:lnSpc>
              <a:buSzPct val="90000"/>
              <a:buFont typeface="Lucida Sans Unicode"/>
              <a:buChar char="–"/>
              <a:tabLst>
                <a:tab pos="836294" algn="l"/>
              </a:tabLst>
            </a:pPr>
            <a:r>
              <a:rPr sz="2000" spc="-10" dirty="0">
                <a:latin typeface="Calibri"/>
                <a:cs typeface="Calibri"/>
              </a:rPr>
              <a:t>Inference: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836294" lvl="1" indent="-359410">
              <a:lnSpc>
                <a:spcPct val="100000"/>
              </a:lnSpc>
              <a:spcBef>
                <a:spcPts val="5"/>
              </a:spcBef>
              <a:buSzPct val="90000"/>
              <a:buFont typeface="Arial Black"/>
              <a:buChar char="–"/>
              <a:tabLst>
                <a:tab pos="836294" algn="l"/>
              </a:tabLst>
            </a:pPr>
            <a:r>
              <a:rPr sz="2000" b="1" spc="-10" dirty="0">
                <a:latin typeface="Calibri"/>
                <a:cs typeface="Calibri"/>
              </a:rPr>
              <a:t>Clustering</a:t>
            </a:r>
            <a:endParaRPr sz="2000">
              <a:latin typeface="Calibri"/>
              <a:cs typeface="Calibri"/>
            </a:endParaRPr>
          </a:p>
          <a:p>
            <a:pPr marL="459105">
              <a:lnSpc>
                <a:spcPct val="100000"/>
              </a:lnSpc>
              <a:tabLst>
                <a:tab pos="836294" algn="l"/>
              </a:tabLst>
            </a:pPr>
            <a:r>
              <a:rPr sz="2000" b="1" spc="-50" dirty="0">
                <a:latin typeface="Arial"/>
                <a:cs typeface="Arial"/>
              </a:rPr>
              <a:t>−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dirty="0">
                <a:latin typeface="Calibri"/>
                <a:cs typeface="Calibri"/>
              </a:rPr>
              <a:t>Dimensionality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reduction: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Visualization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73287" y="1778599"/>
            <a:ext cx="2879090" cy="3183890"/>
            <a:chOff x="6173287" y="1778599"/>
            <a:chExt cx="2879090" cy="31838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8950" y="1778599"/>
              <a:ext cx="2540323" cy="1209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3287" y="3455862"/>
              <a:ext cx="2878652" cy="15064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16800" y="3007349"/>
              <a:ext cx="324485" cy="403225"/>
            </a:xfrm>
            <a:custGeom>
              <a:avLst/>
              <a:gdLst/>
              <a:ahLst/>
              <a:cxnLst/>
              <a:rect l="l" t="t" r="r" b="b"/>
              <a:pathLst>
                <a:path w="324484" h="403225">
                  <a:moveTo>
                    <a:pt x="161999" y="402899"/>
                  </a:moveTo>
                  <a:lnTo>
                    <a:pt x="0" y="240899"/>
                  </a:lnTo>
                  <a:lnTo>
                    <a:pt x="80999" y="240899"/>
                  </a:lnTo>
                  <a:lnTo>
                    <a:pt x="80999" y="0"/>
                  </a:lnTo>
                  <a:lnTo>
                    <a:pt x="242999" y="0"/>
                  </a:lnTo>
                  <a:lnTo>
                    <a:pt x="242999" y="240899"/>
                  </a:lnTo>
                  <a:lnTo>
                    <a:pt x="323999" y="240899"/>
                  </a:lnTo>
                  <a:lnTo>
                    <a:pt x="161999" y="402899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16800" y="3007349"/>
              <a:ext cx="324485" cy="403225"/>
            </a:xfrm>
            <a:custGeom>
              <a:avLst/>
              <a:gdLst/>
              <a:ahLst/>
              <a:cxnLst/>
              <a:rect l="l" t="t" r="r" b="b"/>
              <a:pathLst>
                <a:path w="324484" h="403225">
                  <a:moveTo>
                    <a:pt x="242999" y="0"/>
                  </a:moveTo>
                  <a:lnTo>
                    <a:pt x="242999" y="240899"/>
                  </a:lnTo>
                  <a:lnTo>
                    <a:pt x="323999" y="240899"/>
                  </a:lnTo>
                  <a:lnTo>
                    <a:pt x="161999" y="402899"/>
                  </a:lnTo>
                  <a:lnTo>
                    <a:pt x="0" y="240899"/>
                  </a:lnTo>
                  <a:lnTo>
                    <a:pt x="80999" y="240899"/>
                  </a:lnTo>
                  <a:lnTo>
                    <a:pt x="80999" y="0"/>
                  </a:lnTo>
                  <a:lnTo>
                    <a:pt x="242999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549" y="2588249"/>
            <a:ext cx="3431647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2024" y="463746"/>
            <a:ext cx="3926204" cy="1216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sz="2600" dirty="0">
                <a:solidFill>
                  <a:srgbClr val="000000"/>
                </a:solidFill>
              </a:rPr>
              <a:t>ML</a:t>
            </a:r>
            <a:r>
              <a:rPr sz="2600" spc="-40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models</a:t>
            </a:r>
            <a:r>
              <a:rPr sz="2600" spc="-35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are</a:t>
            </a:r>
            <a:r>
              <a:rPr sz="2600" spc="-40" dirty="0">
                <a:solidFill>
                  <a:srgbClr val="000000"/>
                </a:solidFill>
              </a:rPr>
              <a:t> </a:t>
            </a:r>
            <a:r>
              <a:rPr sz="2600" spc="-10" dirty="0">
                <a:solidFill>
                  <a:srgbClr val="000000"/>
                </a:solidFill>
              </a:rPr>
              <a:t>mathematical </a:t>
            </a:r>
            <a:r>
              <a:rPr sz="2600" dirty="0">
                <a:solidFill>
                  <a:srgbClr val="000000"/>
                </a:solidFill>
              </a:rPr>
              <a:t>functions</a:t>
            </a:r>
            <a:r>
              <a:rPr sz="2600" spc="-60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with</a:t>
            </a:r>
            <a:r>
              <a:rPr sz="2600" spc="-55" dirty="0">
                <a:solidFill>
                  <a:srgbClr val="000000"/>
                </a:solidFill>
              </a:rPr>
              <a:t> </a:t>
            </a:r>
            <a:r>
              <a:rPr sz="2600" spc="-10" dirty="0">
                <a:solidFill>
                  <a:srgbClr val="000000"/>
                </a:solidFill>
              </a:rPr>
              <a:t>parameters </a:t>
            </a:r>
            <a:r>
              <a:rPr sz="2600" dirty="0">
                <a:solidFill>
                  <a:srgbClr val="000000"/>
                </a:solidFill>
              </a:rPr>
              <a:t>and</a:t>
            </a:r>
            <a:r>
              <a:rPr sz="2600" spc="35" dirty="0">
                <a:solidFill>
                  <a:srgbClr val="000000"/>
                </a:solidFill>
              </a:rPr>
              <a:t> </a:t>
            </a:r>
            <a:r>
              <a:rPr sz="2600" spc="-35" dirty="0">
                <a:solidFill>
                  <a:srgbClr val="000000"/>
                </a:solidFill>
              </a:rPr>
              <a:t>hyper-</a:t>
            </a:r>
            <a:r>
              <a:rPr sz="2600" spc="-10" dirty="0">
                <a:solidFill>
                  <a:srgbClr val="000000"/>
                </a:solidFill>
              </a:rPr>
              <a:t>parameters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323325" y="417549"/>
            <a:ext cx="8268970" cy="4650105"/>
            <a:chOff x="323325" y="417549"/>
            <a:chExt cx="8268970" cy="4650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325" y="417549"/>
              <a:ext cx="4170274" cy="1965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722" y="2383275"/>
              <a:ext cx="8033177" cy="2683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36" y="0"/>
            <a:ext cx="8838126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50" y="178725"/>
            <a:ext cx="8859623" cy="49447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148" y="122277"/>
            <a:ext cx="29171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</a:t>
            </a:r>
            <a:r>
              <a:rPr dirty="0">
                <a:latin typeface="Arial MT"/>
                <a:cs typeface="Arial MT"/>
              </a:rPr>
              <a:t>…</a:t>
            </a:r>
            <a:r>
              <a:rPr spc="-210" dirty="0">
                <a:latin typeface="Arial MT"/>
                <a:cs typeface="Arial MT"/>
              </a:rPr>
              <a:t> </a:t>
            </a: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2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125" y="875301"/>
            <a:ext cx="7910830" cy="17729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600" dirty="0">
                <a:latin typeface="Calibri"/>
                <a:cs typeface="Calibri"/>
              </a:rPr>
              <a:t>Think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table</a:t>
            </a:r>
            <a:endParaRPr sz="2600">
              <a:latin typeface="Calibri"/>
              <a:cs typeface="Calibri"/>
            </a:endParaRPr>
          </a:p>
          <a:p>
            <a:pPr marL="469265" indent="-343535">
              <a:lnSpc>
                <a:spcPts val="3115"/>
              </a:lnSpc>
              <a:spcBef>
                <a:spcPts val="630"/>
              </a:spcBef>
              <a:buFont typeface="Arial MT"/>
              <a:buChar char="•"/>
              <a:tabLst>
                <a:tab pos="469265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(sample)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row</a:t>
            </a:r>
            <a:endParaRPr sz="2600">
              <a:latin typeface="Calibri"/>
              <a:cs typeface="Calibri"/>
            </a:endParaRPr>
          </a:p>
          <a:p>
            <a:pPr marL="469900" marR="5080" indent="-344170">
              <a:lnSpc>
                <a:spcPts val="3150"/>
              </a:lnSpc>
              <a:spcBef>
                <a:spcPts val="65"/>
              </a:spcBef>
              <a:buFont typeface="Arial MT"/>
              <a:buChar char="•"/>
              <a:tabLst>
                <a:tab pos="46990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property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(feature)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column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2425" y="2341449"/>
            <a:ext cx="3801474" cy="26705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105" dirty="0"/>
              <a:t> </a:t>
            </a:r>
            <a:r>
              <a:rPr dirty="0"/>
              <a:t>does</a:t>
            </a:r>
            <a:r>
              <a:rPr spc="-10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dirty="0"/>
              <a:t>come</a:t>
            </a:r>
            <a:r>
              <a:rPr spc="-100" dirty="0"/>
              <a:t> </a:t>
            </a:r>
            <a:r>
              <a:rPr spc="-10" dirty="0"/>
              <a:t>from?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8812"/>
            <a:ext cx="9143998" cy="45458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9599"/>
            <a:ext cx="9144000" cy="380430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0982" y="1183921"/>
            <a:ext cx="1094105" cy="161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ts val="3115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25" dirty="0">
                <a:latin typeface="Calibri"/>
                <a:cs typeface="Calibri"/>
              </a:rPr>
              <a:t>LR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ts val="3115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spc="-25" dirty="0">
                <a:latin typeface="Calibri"/>
                <a:cs typeface="Calibri"/>
              </a:rPr>
              <a:t>LC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20" dirty="0">
                <a:latin typeface="Calibri"/>
                <a:cs typeface="Calibri"/>
              </a:rPr>
              <a:t>Both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20" dirty="0">
                <a:latin typeface="Calibri"/>
                <a:cs typeface="Calibri"/>
              </a:rPr>
              <a:t>None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32" y="60422"/>
            <a:ext cx="5377637" cy="50528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11475" y="2030825"/>
            <a:ext cx="911225" cy="417830"/>
          </a:xfrm>
          <a:custGeom>
            <a:avLst/>
            <a:gdLst/>
            <a:ahLst/>
            <a:cxnLst/>
            <a:rect l="l" t="t" r="r" b="b"/>
            <a:pathLst>
              <a:path w="911225" h="417830">
                <a:moveTo>
                  <a:pt x="0" y="69601"/>
                </a:moveTo>
                <a:lnTo>
                  <a:pt x="5469" y="42509"/>
                </a:lnTo>
                <a:lnTo>
                  <a:pt x="20385" y="20385"/>
                </a:lnTo>
                <a:lnTo>
                  <a:pt x="42509" y="5469"/>
                </a:lnTo>
                <a:lnTo>
                  <a:pt x="69601" y="0"/>
                </a:lnTo>
                <a:lnTo>
                  <a:pt x="841498" y="0"/>
                </a:lnTo>
                <a:lnTo>
                  <a:pt x="880113" y="11693"/>
                </a:lnTo>
                <a:lnTo>
                  <a:pt x="905802" y="42966"/>
                </a:lnTo>
                <a:lnTo>
                  <a:pt x="911099" y="69601"/>
                </a:lnTo>
                <a:lnTo>
                  <a:pt x="911099" y="347998"/>
                </a:lnTo>
                <a:lnTo>
                  <a:pt x="905630" y="375090"/>
                </a:lnTo>
                <a:lnTo>
                  <a:pt x="890714" y="397214"/>
                </a:lnTo>
                <a:lnTo>
                  <a:pt x="868590" y="412130"/>
                </a:lnTo>
                <a:lnTo>
                  <a:pt x="841498" y="417599"/>
                </a:lnTo>
                <a:lnTo>
                  <a:pt x="69601" y="417599"/>
                </a:lnTo>
                <a:lnTo>
                  <a:pt x="42509" y="412130"/>
                </a:lnTo>
                <a:lnTo>
                  <a:pt x="20385" y="397214"/>
                </a:lnTo>
                <a:lnTo>
                  <a:pt x="5469" y="375090"/>
                </a:lnTo>
                <a:lnTo>
                  <a:pt x="0" y="347998"/>
                </a:lnTo>
                <a:lnTo>
                  <a:pt x="0" y="69601"/>
                </a:lnTo>
                <a:close/>
              </a:path>
            </a:pathLst>
          </a:custGeom>
          <a:ln w="28574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989" y="115760"/>
            <a:ext cx="60871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dirty="0"/>
              <a:t>started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ML</a:t>
            </a:r>
            <a:r>
              <a:rPr spc="-55" dirty="0"/>
              <a:t> </a:t>
            </a:r>
            <a:r>
              <a:rPr spc="-10" dirty="0"/>
              <a:t>problem?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396" y="997950"/>
            <a:ext cx="3148402" cy="33944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5240" y="886712"/>
            <a:ext cx="5754370" cy="4015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734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answer?</a:t>
            </a:r>
            <a:endParaRPr sz="2400">
              <a:latin typeface="Calibri"/>
              <a:cs typeface="Calibri"/>
            </a:endParaRPr>
          </a:p>
          <a:p>
            <a:pPr marL="347980" marR="5715" indent="-335915">
              <a:lnSpc>
                <a:spcPts val="2850"/>
              </a:lnSpc>
              <a:spcBef>
                <a:spcPts val="125"/>
              </a:spcBef>
              <a:buFont typeface="Arial MT"/>
              <a:buChar char="•"/>
              <a:tabLst>
                <a:tab pos="34798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phrase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my </a:t>
            </a:r>
            <a:r>
              <a:rPr sz="2400" dirty="0">
                <a:latin typeface="Calibri"/>
                <a:cs typeface="Calibri"/>
              </a:rPr>
              <a:t>question(s)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problem?</a:t>
            </a:r>
            <a:endParaRPr sz="2400">
              <a:latin typeface="Calibri"/>
              <a:cs typeface="Calibri"/>
            </a:endParaRPr>
          </a:p>
          <a:p>
            <a:pPr marL="347980" marR="234315" indent="-335915">
              <a:lnSpc>
                <a:spcPts val="2850"/>
              </a:lnSpc>
              <a:buFont typeface="Arial MT"/>
              <a:buChar char="•"/>
              <a:tabLst>
                <a:tab pos="347980" algn="l"/>
              </a:tabLst>
            </a:pPr>
            <a:r>
              <a:rPr sz="2400" dirty="0">
                <a:latin typeface="Calibri"/>
                <a:cs typeface="Calibri"/>
              </a:rPr>
              <a:t>Have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solve?</a:t>
            </a:r>
            <a:endParaRPr sz="2400">
              <a:latin typeface="Calibri"/>
              <a:cs typeface="Calibri"/>
            </a:endParaRPr>
          </a:p>
          <a:p>
            <a:pPr marL="347980" marR="1308100" indent="-335915">
              <a:lnSpc>
                <a:spcPts val="2850"/>
              </a:lnSpc>
              <a:buFont typeface="Arial MT"/>
              <a:buChar char="•"/>
              <a:tabLst>
                <a:tab pos="34798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measure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my </a:t>
            </a:r>
            <a:r>
              <a:rPr sz="2400" spc="-10" dirty="0">
                <a:latin typeface="Calibri"/>
                <a:cs typeface="Calibri"/>
              </a:rPr>
              <a:t>application?</a:t>
            </a:r>
            <a:endParaRPr sz="2400">
              <a:latin typeface="Calibri"/>
              <a:cs typeface="Calibri"/>
            </a:endParaRPr>
          </a:p>
          <a:p>
            <a:pPr marL="347980" marR="142875" indent="-335915">
              <a:lnSpc>
                <a:spcPts val="2850"/>
              </a:lnSpc>
              <a:buFont typeface="Arial MT"/>
              <a:buChar char="•"/>
              <a:tabLst>
                <a:tab pos="34798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solution interact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product?</a:t>
            </a:r>
            <a:endParaRPr sz="2400">
              <a:latin typeface="Calibri"/>
              <a:cs typeface="Calibri"/>
            </a:endParaRPr>
          </a:p>
          <a:p>
            <a:pPr marL="407034">
              <a:lnSpc>
                <a:spcPts val="2760"/>
              </a:lnSpc>
              <a:tabLst>
                <a:tab pos="804545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200" spc="-30" dirty="0">
                <a:latin typeface="Calibri"/>
                <a:cs typeface="Calibri"/>
              </a:rPr>
              <a:t>Yes: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Let’s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do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machine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learning!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76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157" y="1183911"/>
            <a:ext cx="7890509" cy="321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ts val="3115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Lingua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franca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science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applications</a:t>
            </a:r>
            <a:endParaRPr sz="2600">
              <a:latin typeface="Calibri"/>
              <a:cs typeface="Calibri"/>
            </a:endParaRPr>
          </a:p>
          <a:p>
            <a:pPr marL="356235" marR="5080" indent="-344170">
              <a:lnSpc>
                <a:spcPts val="3150"/>
              </a:lnSpc>
              <a:spcBef>
                <a:spcPts val="7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power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general-</a:t>
            </a:r>
            <a:r>
              <a:rPr sz="2600" dirty="0">
                <a:latin typeface="Calibri"/>
                <a:cs typeface="Calibri"/>
              </a:rPr>
              <a:t>purpose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programming languages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domain-specific </a:t>
            </a:r>
            <a:r>
              <a:rPr sz="2600" dirty="0">
                <a:latin typeface="Calibri"/>
                <a:cs typeface="Calibri"/>
              </a:rPr>
              <a:t>scripting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languages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Octave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356235" marR="494665" indent="-344170">
              <a:lnSpc>
                <a:spcPts val="315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Has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libraries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loading,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visualization,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statistics, natural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language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processing,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image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processing,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more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ts val="304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b="1" dirty="0">
                <a:latin typeface="Calibri"/>
                <a:cs typeface="Calibri"/>
              </a:rPr>
              <a:t>This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not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Python/programming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2380" y="165488"/>
            <a:ext cx="1729846" cy="5767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7882" y="3840429"/>
            <a:ext cx="1639180" cy="8789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GitHub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0150" y="1138863"/>
            <a:ext cx="7501255" cy="3357879"/>
            <a:chOff x="170150" y="1138863"/>
            <a:chExt cx="7501255" cy="33578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150" y="1253084"/>
              <a:ext cx="3794741" cy="22597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4893" y="1138863"/>
              <a:ext cx="2159612" cy="8925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1676" y="2529231"/>
              <a:ext cx="2409370" cy="19672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025" y="4854011"/>
            <a:ext cx="33267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https://github.com/manueldiaz96/git_class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03721" y="1138863"/>
            <a:ext cx="2734655" cy="8887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9035" y="127610"/>
            <a:ext cx="1730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0680" algn="l"/>
              </a:tabLst>
            </a:pPr>
            <a:r>
              <a:rPr dirty="0"/>
              <a:t>Get</a:t>
            </a:r>
            <a:r>
              <a:rPr spc="-50" dirty="0"/>
              <a:t> </a:t>
            </a:r>
            <a:r>
              <a:rPr spc="-10" dirty="0"/>
              <a:t>started</a:t>
            </a:r>
            <a:r>
              <a:rPr spc="-5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Kaggle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become</a:t>
            </a:r>
            <a:r>
              <a:rPr spc="-5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b="1" spc="-10" dirty="0">
                <a:latin typeface="Calibri"/>
                <a:cs typeface="Calibri"/>
              </a:rPr>
              <a:t>Contributor</a:t>
            </a:r>
          </a:p>
          <a:p>
            <a:pPr marL="817880" marR="12700" lvl="1" indent="-356235">
              <a:lnSpc>
                <a:spcPct val="100699"/>
              </a:lnSpc>
              <a:spcBef>
                <a:spcPts val="5"/>
              </a:spcBef>
              <a:buClr>
                <a:srgbClr val="000000"/>
              </a:buClr>
              <a:buFont typeface="Arial MT"/>
              <a:buChar char="–"/>
              <a:tabLst>
                <a:tab pos="817880" algn="l"/>
              </a:tabLst>
            </a:pP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https://www.kaggle.com/alexisbcook/getting-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started-with-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kaggle?utm_medium=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email&amp;utm_source=gamma&amp;utm_campaign=thirty-days-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of-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ml&amp;utm_content=day</a:t>
            </a:r>
            <a:endParaRPr sz="1800">
              <a:latin typeface="Calibri"/>
              <a:cs typeface="Calibri"/>
            </a:endParaRPr>
          </a:p>
          <a:p>
            <a:pPr marL="817880">
              <a:lnSpc>
                <a:spcPts val="2150"/>
              </a:lnSpc>
              <a:spcBef>
                <a:spcPts val="15"/>
              </a:spcBef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-</a:t>
            </a:r>
            <a:r>
              <a:rPr sz="1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1</a:t>
            </a:r>
            <a:endParaRPr sz="1800"/>
          </a:p>
          <a:p>
            <a:pPr marL="360680" indent="-343535">
              <a:lnSpc>
                <a:spcPts val="3110"/>
              </a:lnSpc>
              <a:buFont typeface="Arial MT"/>
              <a:buChar char="•"/>
              <a:tabLst>
                <a:tab pos="360680" algn="l"/>
              </a:tabLst>
            </a:pPr>
            <a:r>
              <a:rPr dirty="0"/>
              <a:t>Kaggle</a:t>
            </a:r>
            <a:r>
              <a:rPr spc="-70" dirty="0"/>
              <a:t> </a:t>
            </a:r>
            <a:r>
              <a:rPr spc="-10" dirty="0"/>
              <a:t>tutorials:</a:t>
            </a:r>
          </a:p>
          <a:p>
            <a:pPr marL="817880" lvl="1" indent="-355600">
              <a:lnSpc>
                <a:spcPct val="100000"/>
              </a:lnSpc>
              <a:spcBef>
                <a:spcPts val="60"/>
              </a:spcBef>
              <a:buFont typeface="Arial MT"/>
              <a:buChar char="–"/>
              <a:tabLst>
                <a:tab pos="817880" algn="l"/>
              </a:tabLst>
            </a:pPr>
            <a:r>
              <a:rPr sz="1800" dirty="0">
                <a:latin typeface="Calibri"/>
                <a:cs typeface="Calibri"/>
              </a:rPr>
              <a:t>How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Work?</a:t>
            </a:r>
            <a:endParaRPr sz="1800">
              <a:latin typeface="Calibri"/>
              <a:cs typeface="Calibri"/>
            </a:endParaRPr>
          </a:p>
          <a:p>
            <a:pPr marL="817880" marR="46355">
              <a:lnSpc>
                <a:spcPct val="100699"/>
              </a:lnSpc>
            </a:pP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https://www.kaggle.com/dansbecker/how-models-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work?utm_medium=email&amp;ut</a:t>
            </a:r>
            <a:r>
              <a:rPr sz="1800" spc="-10" dirty="0">
                <a:solidFill>
                  <a:srgbClr val="0000FF"/>
                </a:solidFill>
              </a:rPr>
              <a:t> 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m_source=gamma&amp;utm_campaign=thirty-days-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of-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ml&amp;utm_content=day-</a:t>
            </a:r>
            <a:r>
              <a:rPr sz="1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8</a:t>
            </a:r>
            <a:endParaRPr sz="1800"/>
          </a:p>
          <a:p>
            <a:pPr marL="817880" lvl="1" indent="-35560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817880" algn="l"/>
              </a:tabLst>
            </a:pPr>
            <a:r>
              <a:rPr sz="1800" dirty="0">
                <a:latin typeface="Calibri"/>
                <a:cs typeface="Calibri"/>
              </a:rPr>
              <a:t>Basic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Exploration</a:t>
            </a:r>
            <a:endParaRPr sz="1800">
              <a:latin typeface="Calibri"/>
              <a:cs typeface="Calibri"/>
            </a:endParaRPr>
          </a:p>
          <a:p>
            <a:pPr marL="817880" marR="5080">
              <a:lnSpc>
                <a:spcPct val="100699"/>
              </a:lnSpc>
            </a:pP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https://www.kaggle.com/dansbecker/basic-data-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exploration?utm_medium=email</a:t>
            </a:r>
            <a:r>
              <a:rPr sz="1800" spc="-10" dirty="0">
                <a:solidFill>
                  <a:srgbClr val="0000FF"/>
                </a:solidFill>
              </a:rPr>
              <a:t> 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&amp;utm_source=gamma&amp;utm_campaign=thirty-days-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of-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ml&amp;utm_content=day-</a:t>
            </a:r>
            <a:r>
              <a:rPr sz="1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8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85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426" y="1183911"/>
            <a:ext cx="8032115" cy="241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 indent="-503555">
              <a:lnSpc>
                <a:spcPts val="3115"/>
              </a:lnSpc>
              <a:spcBef>
                <a:spcPts val="100"/>
              </a:spcBef>
              <a:buFont typeface="Arial MT"/>
              <a:buAutoNum type="arabicPeriod"/>
              <a:tabLst>
                <a:tab pos="516255" algn="l"/>
              </a:tabLst>
            </a:pPr>
            <a:r>
              <a:rPr sz="2600" spc="-10" dirty="0">
                <a:latin typeface="Calibri"/>
                <a:cs typeface="Calibri"/>
              </a:rPr>
              <a:t>Introduction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python</a:t>
            </a:r>
            <a:endParaRPr sz="2600">
              <a:latin typeface="Calibri"/>
              <a:cs typeface="Calibri"/>
            </a:endParaRPr>
          </a:p>
          <a:p>
            <a:pPr marL="516255" marR="1120775" indent="-504190">
              <a:lnSpc>
                <a:spcPts val="3150"/>
              </a:lnSpc>
              <a:spcBef>
                <a:spcPts val="75"/>
              </a:spcBef>
              <a:buFont typeface="Arial MT"/>
              <a:buAutoNum type="arabicPeriod"/>
              <a:tabLst>
                <a:tab pos="516255" algn="l"/>
              </a:tabLst>
            </a:pPr>
            <a:r>
              <a:rPr sz="2600" spc="-25" dirty="0">
                <a:latin typeface="Calibri"/>
                <a:cs typeface="Calibri"/>
              </a:rPr>
              <a:t>Hands-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Scikit-</a:t>
            </a:r>
            <a:r>
              <a:rPr sz="2600" dirty="0">
                <a:latin typeface="Calibri"/>
                <a:cs typeface="Calibri"/>
              </a:rPr>
              <a:t>Learn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&amp; </a:t>
            </a:r>
            <a:r>
              <a:rPr sz="2600" spc="-10" dirty="0">
                <a:latin typeface="Calibri"/>
                <a:cs typeface="Calibri"/>
              </a:rPr>
              <a:t>TensorFlow</a:t>
            </a:r>
            <a:endParaRPr sz="2600">
              <a:latin typeface="Calibri"/>
              <a:cs typeface="Calibri"/>
            </a:endParaRPr>
          </a:p>
          <a:p>
            <a:pPr marL="516255" indent="-503555">
              <a:lnSpc>
                <a:spcPts val="3040"/>
              </a:lnSpc>
              <a:buFont typeface="Arial MT"/>
              <a:buAutoNum type="arabicPeriod"/>
              <a:tabLst>
                <a:tab pos="516255" algn="l"/>
              </a:tabLst>
            </a:pPr>
            <a:r>
              <a:rPr sz="2600" spc="-10" dirty="0">
                <a:latin typeface="Calibri"/>
                <a:cs typeface="Calibri"/>
              </a:rPr>
              <a:t>Coursera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course: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Launching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Learning</a:t>
            </a:r>
            <a:endParaRPr sz="2600">
              <a:latin typeface="Calibri"/>
              <a:cs typeface="Calibri"/>
            </a:endParaRPr>
          </a:p>
          <a:p>
            <a:pPr marL="516255" marR="5080" indent="-504190">
              <a:lnSpc>
                <a:spcPts val="3150"/>
              </a:lnSpc>
              <a:spcBef>
                <a:spcPts val="100"/>
              </a:spcBef>
              <a:buClr>
                <a:srgbClr val="000000"/>
              </a:buClr>
              <a:buFont typeface="Arial MT"/>
              <a:buAutoNum type="arabicPeriod"/>
              <a:tabLst>
                <a:tab pos="516255" algn="l"/>
              </a:tabLst>
            </a:pPr>
            <a:r>
              <a:rPr sz="26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https://towardsdatascience.com/saving-the-</a:t>
            </a:r>
            <a:r>
              <a:rPr sz="2600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scranton-</a:t>
            </a:r>
            <a:r>
              <a:rPr sz="26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br</a:t>
            </a:r>
            <a:r>
              <a:rPr sz="26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anch-with-lead-</a:t>
            </a:r>
            <a:r>
              <a:rPr sz="26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scoring-</a:t>
            </a:r>
            <a:r>
              <a:rPr sz="26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8599ed4a874f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1168</Words>
  <Application>Microsoft Office PowerPoint</Application>
  <PresentationFormat>Presentación en pantalla (16:9)</PresentationFormat>
  <Paragraphs>195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6" baseType="lpstr">
      <vt:lpstr>Aptos</vt:lpstr>
      <vt:lpstr>Arial</vt:lpstr>
      <vt:lpstr>Arial Black</vt:lpstr>
      <vt:lpstr>Arial MT</vt:lpstr>
      <vt:lpstr>Calibri</vt:lpstr>
      <vt:lpstr>Fira Sans Extra Condensed Medium</vt:lpstr>
      <vt:lpstr>Lucida Sans Unicode</vt:lpstr>
      <vt:lpstr>Times New Roman</vt:lpstr>
      <vt:lpstr>Trebuchet MS</vt:lpstr>
      <vt:lpstr>Office Theme</vt:lpstr>
      <vt:lpstr>APRENDIZAJE AUTOMÁTICO</vt:lpstr>
      <vt:lpstr>Class methodology</vt:lpstr>
      <vt:lpstr>Syllabus and time-line</vt:lpstr>
      <vt:lpstr>Evaluation</vt:lpstr>
      <vt:lpstr>Bibliography</vt:lpstr>
      <vt:lpstr>INTRODUCTION TO MACHINE LEARNING (ML)</vt:lpstr>
      <vt:lpstr>What is AI?</vt:lpstr>
      <vt:lpstr>Human-like Artificial Intelligence</vt:lpstr>
      <vt:lpstr>Causal inference</vt:lpstr>
      <vt:lpstr>Presentación de PowerPoint</vt:lpstr>
      <vt:lpstr>Presentación de PowerPoint</vt:lpstr>
      <vt:lpstr>Presentación de PowerPoint</vt:lpstr>
      <vt:lpstr>Presentación de PowerPoint</vt:lpstr>
      <vt:lpstr>Machine Learning (ML) - definition</vt:lpstr>
      <vt:lpstr>Why you should use ML? Efficiency and accuracy</vt:lpstr>
      <vt:lpstr>Presentación de PowerPoint</vt:lpstr>
      <vt:lpstr>From Observations to Predictions through Models Introduction to Machine Learning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Supervised Learning</vt:lpstr>
      <vt:lpstr>Unsupervised Learning</vt:lpstr>
      <vt:lpstr>ML models are mathematical functions with parameters and hyper-parameters</vt:lpstr>
      <vt:lpstr>Presentación de PowerPoint</vt:lpstr>
      <vt:lpstr>Presentación de PowerPoint</vt:lpstr>
      <vt:lpstr>So… what is data?</vt:lpstr>
      <vt:lpstr>Where does data come from?</vt:lpstr>
      <vt:lpstr>Presentación de PowerPoint</vt:lpstr>
      <vt:lpstr>Presentación de PowerPoint</vt:lpstr>
      <vt:lpstr>How to get started with a ML problem?</vt:lpstr>
      <vt:lpstr>Python</vt:lpstr>
      <vt:lpstr>Git and GitHub</vt:lpstr>
      <vt:lpstr>Homework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MLS1 - Intro to ML</dc:title>
  <cp:lastModifiedBy>Carlos Andres Ferro Sánchez</cp:lastModifiedBy>
  <cp:revision>3</cp:revision>
  <dcterms:created xsi:type="dcterms:W3CDTF">2025-10-03T01:17:48Z</dcterms:created>
  <dcterms:modified xsi:type="dcterms:W3CDTF">2025-10-03T23:18:17Z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2025-10-03T00:00:00Z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2025-10-03T00:00:00Z</vt:filetime>
  </property>
</Properties>
</file>